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bee6429-7b9d-2e18-6efc-ccb9e73a3304}">
          <p14:sldIdLst>
            <p14:sldId id="256"/>
          </p14:sldIdLst>
        </p14:section>
        <p14:section name="Problem and solution" id="{ac17da3a-ba12-f59a-91a3-8a94dd93fe97}">
          <p14:sldIdLst>
            <p14:sldId id="257"/>
            <p14:sldId id="258"/>
          </p14:sldIdLst>
        </p14:section>
        <p14:section name="How it works" id="{eb965ec5-65fb-f78f-9998-f75fc1f890b6}">
          <p14:sldIdLst>
            <p14:sldId id="259"/>
            <p14:sldId id="260"/>
            <p14:sldId id="261"/>
          </p14:sldIdLst>
        </p14:section>
        <p14:section name="Results" id="{a2f5f820-9ed4-ff0b-6928-d5be10e54e86}">
          <p14:sldIdLst>
            <p14:sldId id="262"/>
            <p14:sldId id="263"/>
          </p14:sldIdLst>
        </p14:section>
        <p14:section name="Product" id="{e7807c1f-feb5-8c70-eca7-63d53409bb6c}">
          <p14:sldIdLst>
            <p14:sldId id="264"/>
          </p14:sldIdLst>
        </p14:section>
        <p14:section name="Closing" id="{1f0773fb-6d92-b26a-099e-cf1b1907e496}">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Recall@5</c:v>
                </c:pt>
              </c:strCache>
            </c:strRef>
          </c:tx>
          <c:spPr>
            <a:solidFill>
              <a:srgbClr val="D6D6D2"/>
            </a:solidFill>
            <a:effectLst/>
          </c:spPr>
          <c:invertIfNegative val="0"/>
          <c:dLbls>
            <c:numFmt formatCode="0&quot;%&quot;" sourceLinked="0"/>
            <c:txPr>
              <a:bodyPr/>
              <a:lstStyle/>
              <a:p>
                <a:pPr>
                  <a:defRPr b="0" i="0" strike="noStrike" sz="1300" u="none">
                    <a:solidFill>
                      <a:srgbClr val="111111"/>
                    </a:solidFill>
                    <a:latin typeface="+mn-lt"/>
                  </a:defRPr>
                </a:pPr>
              </a:p>
            </c:txPr>
            <c:showLegendKey val="0"/>
            <c:showVal val="1"/>
            <c:showCatName val="0"/>
            <c:showSerName val="0"/>
            <c:showPercent val="0"/>
            <c:showBubbleSize val="0"/>
            <c:showLeaderLines val="0"/>
          </c:dLbls>
          <c:cat>
            <c:multiLvlStrRef>
              <c:f>Sheet1!$A$2:$A$4</c:f>
              <c:multiLvlStrCache>
                <c:ptCount val="3"/>
                <c:lvl>
                  <c:pt idx="0">
                    <c:v>Vector</c:v>
                  </c:pt>
                  <c:pt idx="1">
                    <c:v>Keyword</c:v>
                  </c:pt>
                  <c:pt idx="2">
                    <c:v>Hybrid</c:v>
                  </c:pt>
                </c:lvl>
              </c:multiLvlStrCache>
            </c:multiLvlStrRef>
          </c:cat>
          <c:val>
            <c:numRef>
              <c:f>Sheet1!$B$2:$B$4</c:f>
              <c:numCache>
                <c:formatCode>General</c:formatCode>
                <c:ptCount val="3"/>
                <c:pt idx="0">
                  <c:v>83</c:v>
                </c:pt>
                <c:pt idx="1">
                  <c:v>73</c:v>
                </c:pt>
                <c:pt idx="2">
                  <c:v>80</c:v>
                </c:pt>
              </c:numCache>
            </c:numRef>
          </c:val>
        </c:ser>
        <c:ser>
          <c:idx val="1"/>
          <c:order val="1"/>
          <c:tx>
            <c:strRef>
              <c:f>Sheet1!$C$1</c:f>
              <c:strCache>
                <c:ptCount val="1"/>
                <c:pt idx="0">
                  <c:v>Recall@10</c:v>
                </c:pt>
              </c:strCache>
            </c:strRef>
          </c:tx>
          <c:spPr>
            <a:solidFill>
              <a:srgbClr val="E8442C"/>
            </a:solidFill>
            <a:effectLst/>
          </c:spPr>
          <c:invertIfNegative val="0"/>
          <c:dLbls>
            <c:numFmt formatCode="0&quot;%&quot;" sourceLinked="0"/>
            <c:txPr>
              <a:bodyPr/>
              <a:lstStyle/>
              <a:p>
                <a:pPr>
                  <a:defRPr b="0" i="0" strike="noStrike" sz="1300" u="none">
                    <a:solidFill>
                      <a:srgbClr val="111111"/>
                    </a:solidFill>
                    <a:latin typeface="+mn-lt"/>
                  </a:defRPr>
                </a:pPr>
              </a:p>
            </c:txPr>
            <c:showLegendKey val="0"/>
            <c:showVal val="1"/>
            <c:showCatName val="0"/>
            <c:showSerName val="0"/>
            <c:showPercent val="0"/>
            <c:showBubbleSize val="0"/>
            <c:showLeaderLines val="0"/>
          </c:dLbls>
          <c:cat>
            <c:multiLvlStrRef>
              <c:f>Sheet1!$A$2:$A$4</c:f>
              <c:multiLvlStrCache>
                <c:ptCount val="3"/>
                <c:lvl>
                  <c:pt idx="0">
                    <c:v>Vector</c:v>
                  </c:pt>
                  <c:pt idx="1">
                    <c:v>Keyword</c:v>
                  </c:pt>
                  <c:pt idx="2">
                    <c:v>Hybrid</c:v>
                  </c:pt>
                </c:lvl>
              </c:multiLvlStrCache>
            </c:multiLvlStrRef>
          </c:cat>
          <c:val>
            <c:numRef>
              <c:f>Sheet1!$C$2:$C$4</c:f>
              <c:numCache>
                <c:formatCode>General</c:formatCode>
                <c:ptCount val="3"/>
                <c:pt idx="0">
                  <c:v>90</c:v>
                </c:pt>
                <c:pt idx="1">
                  <c:v>87</c:v>
                </c:pt>
                <c:pt idx="2">
                  <c:v>87</c:v>
                </c:pt>
              </c:numCache>
            </c:numRef>
          </c:val>
        </c:ser>
        <c:dLbls>
          <c:numFmt formatCode="0&quot;%&quot;" sourceLinked="0"/>
          <c:txPr>
            <a:bodyPr/>
            <a:lstStyle/>
            <a:p>
              <a:pPr>
                <a:defRPr b="0" i="0" strike="noStrike" sz="1300" u="none">
                  <a:solidFill>
                    <a:srgbClr val="11111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111111"/>
            </a:solidFill>
            <a:prstDash val="solid"/>
            <a:round/>
          </a:ln>
        </c:spPr>
        <c:txPr>
          <a:bodyPr/>
          <a:lstStyle/>
          <a:p>
            <a:pPr>
              <a:defRPr sz="1400" b="0" i="0" u="none" strike="noStrike">
                <a:solidFill>
                  <a:srgbClr val="111111"/>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1111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theFirewall. RAGE Engine is a retrieval-augmented generation app built on MongoDB Atlas. Our product, Case File, answers questions from your own investigation documents, shows the exact passage behind every claim, flags contradictions, and refuses to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 part of an investigation isn't finding text; it's knowing who's lying, what's actually proven, and what's still unknown. Those are exactly the cases the brief calls difficult: conflicting and unanswerable requests. We made them the core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answer from our app. It doesn't just say no: it shows the guard's claim, the CCTV line that contradicts it, and his phone record. Every answer gets one of four verdicts, and 'not in the case files' is a first-class outcome, not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generated our own collection so we could plant traps on purpose: contradictions, a lie that only two records together expose, innocent suspects, facts that exist nowhere, and exact codes that semantic search struggles with. A hidden answer key, never imported, lets us score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3 are where the AI helps; steps 4 and 5 are where we stop trusting it. Every quote must exist word-for-word in the stored source, and the verdict is decided by fixed rules in code, not by the model's own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MongoDB is the core: sources, chunks, embeddings and metadata live together. We use Vector Search with metadata pre-filters, Atlas Search for exact codes, fuse both with Reciprocal Rank Fusion, and keep an answer cache collection that invalidates itself when the collection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kept 20 test questions with the source IDs that should be found, and scored every change. Hybrid isn't the recall winner at 5; it ranks the first right document highest. Moving from 5 to 10 sources raised recall to about 90 percent, so the AI gets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AI chose its own verdict it got 1 of 7 honesty cases right: it would 'resolve' conflicts and infer motives. Moving the decision into code took it to 6 of 7, with 100 percent of quotes verified, and that was on the weakest backup model because of free-tier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here: add the hotel porter's statement and watch the answer change, ask a multi-source question, open a highlighted source, try the conflicting and unanswerable questions, then generate a case report. Follow docs/DEMO_SCRIPT.md.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every claim is one click from its source, contradictions are surfaced instead of hidden, and when the files don't know, the app says so. Next we'd add image and audio evidence, a timeline view, and domain profiles.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548640"/>
            <a:ext cx="8229600" cy="365760"/>
          </a:xfrm>
          <a:prstGeom prst="rect">
            <a:avLst/>
          </a:prstGeom>
          <a:noFill/>
          <a:ln/>
        </p:spPr>
        <p:txBody>
          <a:bodyPr wrap="square" rtlCol="0"/>
          <a:lstStyle>
            <a:lvl1pPr indent="0" marL="0">
              <a:buNone/>
              <a:defRPr lang="en-US" sz="1400" dirty="0">
                <a:solidFill>
                  <a:schemeClr val="tx1"/>
                </a:solidFill>
                <a:latin typeface="Courier New" pitchFamily="34" charset="0"/>
                <a:ea typeface="Courier New" pitchFamily="34" charset="-122"/>
                <a:cs typeface="Courier New" pitchFamily="34" charset="-120"/>
              </a:defRPr>
            </a:lvl1pPr>
          </a:lstStyle>
          <a:p>
            <a:pPr indent="0" marL="0">
              <a:buNone/>
            </a:pPr>
            <a:endParaRPr lang="en-US" sz="1400" dirty="0"/>
          </a:p>
        </p:txBody>
      </p:sp>
      <p:sp>
        <p:nvSpPr>
          <p:cNvPr id="3" name="Text 0"/>
          <p:cNvSpPr/>
          <p:nvPr>
            <p:ph idx="101" type="title" hasCustomPrompt="1"/>
          </p:nvPr>
        </p:nvSpPr>
        <p:spPr>
          <a:xfrm>
            <a:off x="640080" y="1463040"/>
            <a:ext cx="10972800" cy="2377440"/>
          </a:xfrm>
          <a:prstGeom prst="rect">
            <a:avLst/>
          </a:prstGeom>
          <a:noFill/>
          <a:ln/>
        </p:spPr>
        <p:txBody>
          <a:bodyPr wrap="square" rtlCol="0"/>
          <a:lstStyle>
            <a:lvl1pPr algn="l" indent="0" marL="0">
              <a:buNone/>
              <a:defRPr lang="en-US" sz="11000" b="1" dirty="0">
                <a:solidFill>
                  <a:schemeClr val="tx1"/>
                </a:solidFill>
              </a:defRPr>
            </a:lvl1pPr>
          </a:lstStyle>
          <a:p>
            <a:pPr algn="l" indent="0" marL="0">
              <a:buNone/>
            </a:pPr>
            <a:endParaRPr lang="en-US" sz="11000" dirty="0"/>
          </a:p>
        </p:txBody>
      </p:sp>
      <p:sp>
        <p:nvSpPr>
          <p:cNvPr id="4" name="Text 0"/>
          <p:cNvSpPr/>
          <p:nvPr>
            <p:ph idx="102" type="body" hasCustomPrompt="1"/>
          </p:nvPr>
        </p:nvSpPr>
        <p:spPr>
          <a:xfrm>
            <a:off x="640080" y="3977640"/>
            <a:ext cx="8686800" cy="822960"/>
          </a:xfrm>
          <a:prstGeom prst="rect">
            <a:avLst/>
          </a:prstGeom>
          <a:noFill/>
          <a:ln/>
        </p:spPr>
        <p:txBody>
          <a:bodyPr wrap="square" rtlCol="0"/>
          <a:lstStyle>
            <a:lvl1pPr algn="l" indent="0" marL="0">
              <a:buNone/>
              <a:defRPr lang="en-US" sz="2400" dirty="0">
                <a:solidFill>
                  <a:schemeClr val="tx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320040"/>
          </a:xfrm>
          <a:prstGeom prst="rect">
            <a:avLst/>
          </a:prstGeom>
          <a:noFill/>
          <a:ln/>
        </p:spPr>
        <p:txBody>
          <a:bodyPr wrap="square" rtlCol="0"/>
          <a:lstStyle>
            <a:lvl1pPr indent="0" marL="0">
              <a:buNone/>
              <a:defRPr lang="en-US" sz="1300"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300" dirty="0"/>
          </a:p>
        </p:txBody>
      </p:sp>
      <p:sp>
        <p:nvSpPr>
          <p:cNvPr id="3" name="Text 0"/>
          <p:cNvSpPr/>
          <p:nvPr>
            <p:ph idx="101" type="title" hasCustomPrompt="1"/>
          </p:nvPr>
        </p:nvSpPr>
        <p:spPr>
          <a:xfrm>
            <a:off x="640080" y="822960"/>
            <a:ext cx="10911535" cy="9144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000" dirty="0">
                <a:solidFill>
                  <a:schemeClr val="accent3"/>
                </a:solidFill>
                <a:latin typeface="Courier New" pitchFamily="34" charset="0"/>
                <a:ea typeface="Courier New" pitchFamily="34" charset="-122"/>
                <a:cs typeface="Courier New" pitchFamily="34" charset="-120"/>
              </a:rPr>
              <a:t>RAGE ENGINE / THEFIREWALL</a:t>
            </a:r>
            <a:endParaRPr lang="en-US" sz="10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548640"/>
            <a:ext cx="8229600" cy="365760"/>
          </a:xfrm>
          <a:prstGeom prst="rect">
            <a:avLst/>
          </a:prstGeom>
          <a:noFill/>
          <a:ln/>
        </p:spPr>
        <p:txBody>
          <a:bodyPr wrap="square" rtlCol="0"/>
          <a:lstStyle>
            <a:lvl1pPr indent="0" marL="0">
              <a:buNone/>
              <a:defRPr lang="en-US" sz="1400"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400" dirty="0"/>
          </a:p>
        </p:txBody>
      </p:sp>
      <p:sp>
        <p:nvSpPr>
          <p:cNvPr id="3" name="Text 0"/>
          <p:cNvSpPr/>
          <p:nvPr>
            <p:ph idx="101" type="title" hasCustomPrompt="1"/>
          </p:nvPr>
        </p:nvSpPr>
        <p:spPr>
          <a:xfrm>
            <a:off x="640080" y="1280160"/>
            <a:ext cx="10515600" cy="21945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548640"/>
            <a:ext cx="8229600" cy="365760"/>
          </a:xfrm>
          <a:prstGeom prst="rect">
            <a:avLst/>
          </a:prstGeom>
          <a:noFill/>
          <a:ln/>
        </p:spPr>
        <p:txBody>
          <a:bodyPr wrap="square" lIns="0" tIns="0" rIns="0" bIns="0" rtlCol="0"/>
          <a:lstStyle/>
          <a:p>
            <a:pPr indent="0" marL="0">
              <a:buNone/>
            </a:pPr>
            <a:r>
              <a:rPr lang="en-US" sz="1400" dirty="0">
                <a:solidFill>
                  <a:schemeClr val="tx1"/>
                </a:solidFill>
                <a:latin typeface="Courier New" pitchFamily="34" charset="0"/>
                <a:ea typeface="Courier New" pitchFamily="34" charset="-122"/>
                <a:cs typeface="Courier New" pitchFamily="34" charset="-120"/>
              </a:rPr>
              <a:t>UNCHARTED HACKATHON — TEAM theFirewall</a:t>
            </a:r>
            <a:endParaRPr lang="en-US" sz="1400" dirty="0"/>
          </a:p>
        </p:txBody>
      </p:sp>
      <p:sp>
        <p:nvSpPr>
          <p:cNvPr id="3" name="Text 0"/>
          <p:cNvSpPr/>
          <p:nvPr>
            <p:ph idx="101" type="title" hasCustomPrompt="1"/>
          </p:nvPr>
        </p:nvSpPr>
        <p:spPr>
          <a:xfrm>
            <a:off x="640080" y="1463040"/>
            <a:ext cx="10972800" cy="2377440"/>
          </a:xfrm>
          <a:prstGeom prst="rect">
            <a:avLst/>
          </a:prstGeom>
          <a:noFill/>
          <a:ln/>
        </p:spPr>
        <p:txBody>
          <a:bodyPr wrap="square" lIns="0" tIns="0" rIns="0" bIns="0" rtlCol="0" anchor="b"/>
          <a:lstStyle/>
          <a:p>
            <a:pPr algn="l" indent="0" marL="0">
              <a:buNone/>
            </a:pPr>
            <a:r>
              <a:rPr lang="en-US" sz="11000" b="1" dirty="0">
                <a:solidFill>
                  <a:schemeClr val="tx1"/>
                </a:solidFill>
              </a:rPr>
              <a:t>RAGE Engine</a:t>
            </a:r>
            <a:endParaRPr lang="en-US" sz="11000" dirty="0"/>
          </a:p>
        </p:txBody>
      </p:sp>
      <p:sp>
        <p:nvSpPr>
          <p:cNvPr id="4" name="Text 0"/>
          <p:cNvSpPr/>
          <p:nvPr>
            <p:ph idx="102" type="body" hasCustomPrompt="1"/>
          </p:nvPr>
        </p:nvSpPr>
        <p:spPr>
          <a:xfrm>
            <a:off x="640080" y="3977640"/>
            <a:ext cx="8686800" cy="822960"/>
          </a:xfrm>
          <a:prstGeom prst="rect">
            <a:avLst/>
          </a:prstGeom>
          <a:noFill/>
          <a:ln/>
        </p:spPr>
        <p:txBody>
          <a:bodyPr wrap="square" lIns="0" tIns="0" rIns="0" bIns="0" rtlCol="0" anchor="t"/>
          <a:lstStyle/>
          <a:p>
            <a:pPr algn="l" indent="0" marL="0">
              <a:buNone/>
            </a:pPr>
            <a:r>
              <a:rPr lang="en-US" sz="2400" dirty="0">
                <a:solidFill>
                  <a:schemeClr val="tx1"/>
                </a:solidFill>
              </a:rPr>
              <a:t>Case File: evidence-backed answers from your own case files.</a:t>
            </a:r>
            <a:endParaRPr lang="en-US" sz="2400" dirty="0"/>
          </a:p>
        </p:txBody>
      </p:sp>
      <p:sp>
        <p:nvSpPr>
          <p:cNvPr id="5" name="team rule 1"/>
          <p:cNvSpPr/>
          <p:nvPr/>
        </p:nvSpPr>
        <p:spPr>
          <a:xfrm>
            <a:off x="640080" y="5257800"/>
            <a:ext cx="2743200" cy="10973"/>
          </a:xfrm>
          <a:prstGeom prst="rect">
            <a:avLst/>
          </a:prstGeom>
          <a:solidFill>
            <a:srgbClr val="111111"/>
          </a:solidFill>
          <a:ln w="12700">
            <a:solidFill>
              <a:srgbClr val="111111"/>
            </a:solidFill>
            <a:prstDash val="solid"/>
          </a:ln>
        </p:spPr>
      </p:sp>
      <p:sp>
        <p:nvSpPr>
          <p:cNvPr id="6" name="Text 4"/>
          <p:cNvSpPr txBox="1"/>
          <p:nvPr/>
        </p:nvSpPr>
        <p:spPr>
          <a:xfrm>
            <a:off x="640080" y="5394960"/>
            <a:ext cx="2743200" cy="365760"/>
          </a:xfrm>
          <a:prstGeom prst="rect">
            <a:avLst/>
          </a:prstGeom>
          <a:noFill/>
          <a:ln/>
        </p:spPr>
        <p:txBody>
          <a:bodyPr wrap="square" lIns="0" tIns="0" rIns="0" bIns="0" rtlCol="0" anchor="t"/>
          <a:lstStyle/>
          <a:p>
            <a:pPr indent="0" marL="0">
              <a:buNone/>
            </a:pPr>
            <a:r>
              <a:rPr lang="en-US" sz="1800" b="1" dirty="0">
                <a:solidFill>
                  <a:schemeClr val="tx1"/>
                </a:solidFill>
              </a:rPr>
              <a:t>Shriram APT</a:t>
            </a:r>
            <a:endParaRPr lang="en-US" sz="1800" dirty="0"/>
          </a:p>
        </p:txBody>
      </p:sp>
      <p:sp>
        <p:nvSpPr>
          <p:cNvPr id="7" name="Text 5"/>
          <p:cNvSpPr txBox="1"/>
          <p:nvPr/>
        </p:nvSpPr>
        <p:spPr>
          <a:xfrm>
            <a:off x="640080" y="5760720"/>
            <a:ext cx="2743200" cy="32004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U24CS023</a:t>
            </a:r>
            <a:endParaRPr lang="en-US" sz="1300" dirty="0"/>
          </a:p>
        </p:txBody>
      </p:sp>
      <p:sp>
        <p:nvSpPr>
          <p:cNvPr id="8" name="team rule 2"/>
          <p:cNvSpPr/>
          <p:nvPr/>
        </p:nvSpPr>
        <p:spPr>
          <a:xfrm>
            <a:off x="3657600" y="5257800"/>
            <a:ext cx="2743200" cy="10973"/>
          </a:xfrm>
          <a:prstGeom prst="rect">
            <a:avLst/>
          </a:prstGeom>
          <a:solidFill>
            <a:srgbClr val="111111"/>
          </a:solidFill>
          <a:ln w="12700">
            <a:solidFill>
              <a:srgbClr val="111111"/>
            </a:solidFill>
            <a:prstDash val="solid"/>
          </a:ln>
        </p:spPr>
      </p:sp>
      <p:sp>
        <p:nvSpPr>
          <p:cNvPr id="9" name="Text 7"/>
          <p:cNvSpPr txBox="1"/>
          <p:nvPr/>
        </p:nvSpPr>
        <p:spPr>
          <a:xfrm>
            <a:off x="3657600" y="5394960"/>
            <a:ext cx="2743200" cy="365760"/>
          </a:xfrm>
          <a:prstGeom prst="rect">
            <a:avLst/>
          </a:prstGeom>
          <a:noFill/>
          <a:ln/>
        </p:spPr>
        <p:txBody>
          <a:bodyPr wrap="square" lIns="0" tIns="0" rIns="0" bIns="0" rtlCol="0" anchor="t"/>
          <a:lstStyle/>
          <a:p>
            <a:pPr indent="0" marL="0">
              <a:buNone/>
            </a:pPr>
            <a:r>
              <a:rPr lang="en-US" sz="1800" b="1" dirty="0">
                <a:solidFill>
                  <a:schemeClr val="tx1"/>
                </a:solidFill>
              </a:rPr>
              <a:t>Janav Rana</a:t>
            </a:r>
            <a:endParaRPr lang="en-US" sz="1800" dirty="0"/>
          </a:p>
        </p:txBody>
      </p:sp>
      <p:sp>
        <p:nvSpPr>
          <p:cNvPr id="10" name="Text 8"/>
          <p:cNvSpPr txBox="1"/>
          <p:nvPr/>
        </p:nvSpPr>
        <p:spPr>
          <a:xfrm>
            <a:off x="3657600" y="5760720"/>
            <a:ext cx="2743200" cy="32004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U24CS039</a:t>
            </a:r>
            <a:endParaRPr lang="en-US" sz="1300" dirty="0"/>
          </a:p>
        </p:txBody>
      </p:sp>
      <p:sp>
        <p:nvSpPr>
          <p:cNvPr id="11" name="team rule 3"/>
          <p:cNvSpPr/>
          <p:nvPr/>
        </p:nvSpPr>
        <p:spPr>
          <a:xfrm>
            <a:off x="6675120" y="5257800"/>
            <a:ext cx="2743200" cy="10973"/>
          </a:xfrm>
          <a:prstGeom prst="rect">
            <a:avLst/>
          </a:prstGeom>
          <a:solidFill>
            <a:srgbClr val="111111"/>
          </a:solidFill>
          <a:ln w="12700">
            <a:solidFill>
              <a:srgbClr val="111111"/>
            </a:solidFill>
            <a:prstDash val="solid"/>
          </a:ln>
        </p:spPr>
      </p:sp>
      <p:sp>
        <p:nvSpPr>
          <p:cNvPr id="12" name="Text 10"/>
          <p:cNvSpPr txBox="1"/>
          <p:nvPr/>
        </p:nvSpPr>
        <p:spPr>
          <a:xfrm>
            <a:off x="6675120" y="5394960"/>
            <a:ext cx="2743200" cy="365760"/>
          </a:xfrm>
          <a:prstGeom prst="rect">
            <a:avLst/>
          </a:prstGeom>
          <a:noFill/>
          <a:ln/>
        </p:spPr>
        <p:txBody>
          <a:bodyPr wrap="square" lIns="0" tIns="0" rIns="0" bIns="0" rtlCol="0" anchor="t"/>
          <a:lstStyle/>
          <a:p>
            <a:pPr indent="0" marL="0">
              <a:buNone/>
            </a:pPr>
            <a:r>
              <a:rPr lang="en-US" sz="1800" b="1" dirty="0">
                <a:solidFill>
                  <a:schemeClr val="tx1"/>
                </a:solidFill>
              </a:rPr>
              <a:t>Rudra Patni</a:t>
            </a:r>
            <a:endParaRPr lang="en-US" sz="1800" dirty="0"/>
          </a:p>
        </p:txBody>
      </p:sp>
      <p:sp>
        <p:nvSpPr>
          <p:cNvPr id="13" name="Text 11"/>
          <p:cNvSpPr txBox="1"/>
          <p:nvPr/>
        </p:nvSpPr>
        <p:spPr>
          <a:xfrm>
            <a:off x="6675120" y="5760720"/>
            <a:ext cx="2743200" cy="32004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U24CS074</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320040"/>
          </a:xfrm>
          <a:prstGeom prst="rect">
            <a:avLst/>
          </a:prstGeom>
          <a:noFill/>
          <a:ln/>
        </p:spPr>
        <p:txBody>
          <a:bodyPr wrap="square" lIns="0" tIns="0" rIns="0" bIns="0" rtlCol="0"/>
          <a:lstStyle/>
          <a:p>
            <a:pPr indent="0" marL="0">
              <a:buNone/>
            </a:pPr>
            <a:r>
              <a:rPr lang="en-US" sz="1300" dirty="0">
                <a:solidFill>
                  <a:schemeClr val="accent1"/>
                </a:solidFill>
                <a:latin typeface="Courier New" pitchFamily="34" charset="0"/>
                <a:ea typeface="Courier New" pitchFamily="34" charset="-122"/>
                <a:cs typeface="Courier New" pitchFamily="34" charset="-120"/>
              </a:rPr>
              <a:t>01 — THE PROBLEM</a:t>
            </a:r>
            <a:endParaRPr lang="en-US" sz="1300" dirty="0"/>
          </a:p>
        </p:txBody>
      </p:sp>
      <p:sp>
        <p:nvSpPr>
          <p:cNvPr id="3" name="Text 0"/>
          <p:cNvSpPr/>
          <p:nvPr>
            <p:ph idx="101" type="title" hasCustomPrompt="1"/>
          </p:nvPr>
        </p:nvSpPr>
        <p:spPr>
          <a:xfrm>
            <a:off x="640080" y="822960"/>
            <a:ext cx="10911535" cy="914400"/>
          </a:xfrm>
          <a:prstGeom prst="rect">
            <a:avLst/>
          </a:prstGeom>
          <a:noFill/>
          <a:ln/>
        </p:spPr>
        <p:txBody>
          <a:bodyPr wrap="square" lIns="0" tIns="0" rIns="0" bIns="0" rtlCol="0" anchor="t"/>
          <a:lstStyle/>
          <a:p>
            <a:pPr algn="l" indent="0" marL="0">
              <a:buNone/>
            </a:pPr>
            <a:r>
              <a:rPr lang="en-US" sz="3600" b="1" dirty="0">
                <a:solidFill>
                  <a:schemeClr val="tx1"/>
                </a:solidFill>
              </a:rPr>
              <a:t>Investigators drown in documents, not answers</a:t>
            </a:r>
            <a:endParaRPr lang="en-US" sz="3600" dirty="0"/>
          </a:p>
        </p:txBody>
      </p:sp>
      <p:sp>
        <p:nvSpPr>
          <p:cNvPr id="4" name="Text 2"/>
          <p:cNvSpPr txBox="1"/>
          <p:nvPr/>
        </p:nvSpPr>
        <p:spPr>
          <a:xfrm>
            <a:off x="640080" y="2103120"/>
            <a:ext cx="3383280" cy="1005840"/>
          </a:xfrm>
          <a:prstGeom prst="rect">
            <a:avLst/>
          </a:prstGeom>
          <a:noFill/>
          <a:ln/>
        </p:spPr>
        <p:txBody>
          <a:bodyPr wrap="square" lIns="0" tIns="0" rIns="0" bIns="0" rtlCol="0" anchor="t"/>
          <a:lstStyle/>
          <a:p>
            <a:pPr indent="0" marL="0">
              <a:buNone/>
            </a:pPr>
            <a:r>
              <a:rPr lang="en-US" sz="7200" b="1" dirty="0">
                <a:solidFill>
                  <a:schemeClr val="accent1"/>
                </a:solidFill>
              </a:rPr>
              <a:t>01</a:t>
            </a:r>
            <a:endParaRPr lang="en-US" sz="7200" dirty="0"/>
          </a:p>
        </p:txBody>
      </p:sp>
      <p:sp>
        <p:nvSpPr>
          <p:cNvPr id="5" name="Text 3"/>
          <p:cNvSpPr txBox="1"/>
          <p:nvPr/>
        </p:nvSpPr>
        <p:spPr>
          <a:xfrm>
            <a:off x="640080" y="3200400"/>
            <a:ext cx="3383280" cy="457200"/>
          </a:xfrm>
          <a:prstGeom prst="rect">
            <a:avLst/>
          </a:prstGeom>
          <a:noFill/>
          <a:ln/>
        </p:spPr>
        <p:txBody>
          <a:bodyPr wrap="square" lIns="0" tIns="0" rIns="0" bIns="0" rtlCol="0" anchor="t"/>
          <a:lstStyle/>
          <a:p>
            <a:pPr indent="0" marL="0">
              <a:buNone/>
            </a:pPr>
            <a:r>
              <a:rPr lang="en-US" sz="2400" b="1" dirty="0">
                <a:solidFill>
                  <a:schemeClr val="tx1"/>
                </a:solidFill>
              </a:rPr>
              <a:t>Who is lying?</a:t>
            </a:r>
            <a:endParaRPr lang="en-US" sz="2400" dirty="0"/>
          </a:p>
        </p:txBody>
      </p:sp>
      <p:sp>
        <p:nvSpPr>
          <p:cNvPr id="6" name="Text 4"/>
          <p:cNvSpPr txBox="1"/>
          <p:nvPr/>
        </p:nvSpPr>
        <p:spPr>
          <a:xfrm>
            <a:off x="640080" y="3749040"/>
            <a:ext cx="3291840" cy="1188720"/>
          </a:xfrm>
          <a:prstGeom prst="rect">
            <a:avLst/>
          </a:prstGeom>
          <a:noFill/>
          <a:ln/>
        </p:spPr>
        <p:txBody>
          <a:bodyPr wrap="square" lIns="0" tIns="0" rIns="0" bIns="0" rtlCol="0" anchor="t"/>
          <a:lstStyle/>
          <a:p>
            <a:pPr indent="0" marL="0">
              <a:buNone/>
            </a:pPr>
            <a:r>
              <a:rPr lang="en-US" sz="1600" dirty="0">
                <a:solidFill>
                  <a:schemeClr val="tx2"/>
                </a:solidFill>
              </a:rPr>
              <a:t>Witnesses misremember. Suspects lie. Statements contradict each other and the records.</a:t>
            </a:r>
            <a:endParaRPr lang="en-US" sz="1600" dirty="0"/>
          </a:p>
        </p:txBody>
      </p:sp>
      <p:sp>
        <p:nvSpPr>
          <p:cNvPr id="7" name="Text 5"/>
          <p:cNvSpPr txBox="1"/>
          <p:nvPr/>
        </p:nvSpPr>
        <p:spPr>
          <a:xfrm>
            <a:off x="4389120" y="2103120"/>
            <a:ext cx="3383280" cy="1005840"/>
          </a:xfrm>
          <a:prstGeom prst="rect">
            <a:avLst/>
          </a:prstGeom>
          <a:noFill/>
          <a:ln/>
        </p:spPr>
        <p:txBody>
          <a:bodyPr wrap="square" lIns="0" tIns="0" rIns="0" bIns="0" rtlCol="0" anchor="t"/>
          <a:lstStyle/>
          <a:p>
            <a:pPr indent="0" marL="0">
              <a:buNone/>
            </a:pPr>
            <a:r>
              <a:rPr lang="en-US" sz="7200" b="1" dirty="0">
                <a:solidFill>
                  <a:schemeClr val="accent1"/>
                </a:solidFill>
              </a:rPr>
              <a:t>02</a:t>
            </a:r>
            <a:endParaRPr lang="en-US" sz="7200" dirty="0"/>
          </a:p>
        </p:txBody>
      </p:sp>
      <p:sp>
        <p:nvSpPr>
          <p:cNvPr id="8" name="Text 6"/>
          <p:cNvSpPr txBox="1"/>
          <p:nvPr/>
        </p:nvSpPr>
        <p:spPr>
          <a:xfrm>
            <a:off x="4389120" y="3200400"/>
            <a:ext cx="3383280" cy="457200"/>
          </a:xfrm>
          <a:prstGeom prst="rect">
            <a:avLst/>
          </a:prstGeom>
          <a:noFill/>
          <a:ln/>
        </p:spPr>
        <p:txBody>
          <a:bodyPr wrap="square" lIns="0" tIns="0" rIns="0" bIns="0" rtlCol="0" anchor="t"/>
          <a:lstStyle/>
          <a:p>
            <a:pPr indent="0" marL="0">
              <a:buNone/>
            </a:pPr>
            <a:r>
              <a:rPr lang="en-US" sz="2400" b="1" dirty="0">
                <a:solidFill>
                  <a:schemeClr val="tx1"/>
                </a:solidFill>
              </a:rPr>
              <a:t>What is proven?</a:t>
            </a:r>
            <a:endParaRPr lang="en-US" sz="2400" dirty="0"/>
          </a:p>
        </p:txBody>
      </p:sp>
      <p:sp>
        <p:nvSpPr>
          <p:cNvPr id="9" name="Text 7"/>
          <p:cNvSpPr txBox="1"/>
          <p:nvPr/>
        </p:nvSpPr>
        <p:spPr>
          <a:xfrm>
            <a:off x="4389120" y="3749040"/>
            <a:ext cx="3291840" cy="1188720"/>
          </a:xfrm>
          <a:prstGeom prst="rect">
            <a:avLst/>
          </a:prstGeom>
          <a:noFill/>
          <a:ln/>
        </p:spPr>
        <p:txBody>
          <a:bodyPr wrap="square" lIns="0" tIns="0" rIns="0" bIns="0" rtlCol="0" anchor="t"/>
          <a:lstStyle/>
          <a:p>
            <a:pPr indent="0" marL="0">
              <a:buNone/>
            </a:pPr>
            <a:r>
              <a:rPr lang="en-US" sz="1600" dirty="0">
                <a:solidFill>
                  <a:schemeClr val="tx2"/>
                </a:solidFill>
              </a:rPr>
              <a:t>Proof is scattered across CCTV logs, door logs, phone records, emails and interviews.</a:t>
            </a:r>
            <a:endParaRPr lang="en-US" sz="1600" dirty="0"/>
          </a:p>
        </p:txBody>
      </p:sp>
      <p:sp>
        <p:nvSpPr>
          <p:cNvPr id="10" name="Text 8"/>
          <p:cNvSpPr txBox="1"/>
          <p:nvPr/>
        </p:nvSpPr>
        <p:spPr>
          <a:xfrm>
            <a:off x="8138160" y="2103120"/>
            <a:ext cx="3383280" cy="1005840"/>
          </a:xfrm>
          <a:prstGeom prst="rect">
            <a:avLst/>
          </a:prstGeom>
          <a:noFill/>
          <a:ln/>
        </p:spPr>
        <p:txBody>
          <a:bodyPr wrap="square" lIns="0" tIns="0" rIns="0" bIns="0" rtlCol="0" anchor="t"/>
          <a:lstStyle/>
          <a:p>
            <a:pPr indent="0" marL="0">
              <a:buNone/>
            </a:pPr>
            <a:r>
              <a:rPr lang="en-US" sz="7200" b="1" dirty="0">
                <a:solidFill>
                  <a:schemeClr val="accent1"/>
                </a:solidFill>
              </a:rPr>
              <a:t>03</a:t>
            </a:r>
            <a:endParaRPr lang="en-US" sz="7200" dirty="0"/>
          </a:p>
        </p:txBody>
      </p:sp>
      <p:sp>
        <p:nvSpPr>
          <p:cNvPr id="11" name="Text 9"/>
          <p:cNvSpPr txBox="1"/>
          <p:nvPr/>
        </p:nvSpPr>
        <p:spPr>
          <a:xfrm>
            <a:off x="8138160" y="3200400"/>
            <a:ext cx="3383280" cy="457200"/>
          </a:xfrm>
          <a:prstGeom prst="rect">
            <a:avLst/>
          </a:prstGeom>
          <a:noFill/>
          <a:ln/>
        </p:spPr>
        <p:txBody>
          <a:bodyPr wrap="square" lIns="0" tIns="0" rIns="0" bIns="0" rtlCol="0" anchor="t"/>
          <a:lstStyle/>
          <a:p>
            <a:pPr indent="0" marL="0">
              <a:buNone/>
            </a:pPr>
            <a:r>
              <a:rPr lang="en-US" sz="2400" b="1" dirty="0">
                <a:solidFill>
                  <a:schemeClr val="tx1"/>
                </a:solidFill>
              </a:rPr>
              <a:t>What is unknown?</a:t>
            </a:r>
            <a:endParaRPr lang="en-US" sz="2400" dirty="0"/>
          </a:p>
        </p:txBody>
      </p:sp>
      <p:sp>
        <p:nvSpPr>
          <p:cNvPr id="12" name="Text 10"/>
          <p:cNvSpPr txBox="1"/>
          <p:nvPr/>
        </p:nvSpPr>
        <p:spPr>
          <a:xfrm>
            <a:off x="8138160" y="3749040"/>
            <a:ext cx="3291840" cy="1188720"/>
          </a:xfrm>
          <a:prstGeom prst="rect">
            <a:avLst/>
          </a:prstGeom>
          <a:noFill/>
          <a:ln/>
        </p:spPr>
        <p:txBody>
          <a:bodyPr wrap="square" lIns="0" tIns="0" rIns="0" bIns="0" rtlCol="0" anchor="t"/>
          <a:lstStyle/>
          <a:p>
            <a:pPr indent="0" marL="0">
              <a:buNone/>
            </a:pPr>
            <a:r>
              <a:rPr lang="en-US" sz="1600" dirty="0">
                <a:solidFill>
                  <a:schemeClr val="tx2"/>
                </a:solidFill>
              </a:rPr>
              <a:t>A chatbot fills gaps with confident guesses. An investigator can't afford that.</a:t>
            </a:r>
            <a:endParaRPr lang="en-US" sz="1600" dirty="0"/>
          </a:p>
        </p:txBody>
      </p:sp>
      <p:sp>
        <p:nvSpPr>
          <p:cNvPr id="13" name="statement band"/>
          <p:cNvSpPr/>
          <p:nvPr/>
        </p:nvSpPr>
        <p:spPr>
          <a:xfrm>
            <a:off x="640080" y="5257800"/>
            <a:ext cx="10911535" cy="777240"/>
          </a:xfrm>
          <a:prstGeom prst="rect">
            <a:avLst/>
          </a:prstGeom>
          <a:solidFill>
            <a:schemeClr val="bg2"/>
          </a:solidFill>
          <a:ln w="12700">
            <a:solidFill>
              <a:schemeClr val="bg2"/>
            </a:solidFill>
            <a:prstDash val="solid"/>
          </a:ln>
        </p:spPr>
      </p:sp>
      <p:sp>
        <p:nvSpPr>
          <p:cNvPr id="14" name="Text 12"/>
          <p:cNvSpPr txBox="1"/>
          <p:nvPr/>
        </p:nvSpPr>
        <p:spPr>
          <a:xfrm>
            <a:off x="914400" y="5257800"/>
            <a:ext cx="10362895" cy="777240"/>
          </a:xfrm>
          <a:prstGeom prst="rect">
            <a:avLst/>
          </a:prstGeom>
          <a:noFill/>
          <a:ln/>
        </p:spPr>
        <p:txBody>
          <a:bodyPr wrap="square" lIns="0" tIns="0" rIns="0" bIns="0" rtlCol="0" anchor="ctr"/>
          <a:lstStyle/>
          <a:p>
            <a:pPr indent="0" marL="0">
              <a:buNone/>
            </a:pPr>
            <a:r>
              <a:rPr lang="en-US" sz="1800" b="1" dirty="0">
                <a:solidFill>
                  <a:schemeClr val="tx1"/>
                </a:solidFill>
              </a:rPr>
              <a:t>Most RAG demos treat conflicting and unanswerable questions as edge cases. In an investigation, they are the job.</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320040"/>
          </a:xfrm>
          <a:prstGeom prst="rect">
            <a:avLst/>
          </a:prstGeom>
          <a:noFill/>
          <a:ln/>
        </p:spPr>
        <p:txBody>
          <a:bodyPr wrap="square" lIns="0" tIns="0" rIns="0" bIns="0" rtlCol="0"/>
          <a:lstStyle/>
          <a:p>
            <a:pPr indent="0" marL="0">
              <a:buNone/>
            </a:pPr>
            <a:r>
              <a:rPr lang="en-US" sz="1300" dirty="0">
                <a:solidFill>
                  <a:schemeClr val="accent1"/>
                </a:solidFill>
                <a:latin typeface="Courier New" pitchFamily="34" charset="0"/>
                <a:ea typeface="Courier New" pitchFamily="34" charset="-122"/>
                <a:cs typeface="Courier New" pitchFamily="34" charset="-120"/>
              </a:rPr>
              <a:t>02 — WHAT IT DOES</a:t>
            </a:r>
            <a:endParaRPr lang="en-US" sz="1300" dirty="0"/>
          </a:p>
        </p:txBody>
      </p:sp>
      <p:sp>
        <p:nvSpPr>
          <p:cNvPr id="3" name="Text 0"/>
          <p:cNvSpPr/>
          <p:nvPr>
            <p:ph idx="101" type="title" hasCustomPrompt="1"/>
          </p:nvPr>
        </p:nvSpPr>
        <p:spPr>
          <a:xfrm>
            <a:off x="640080" y="822960"/>
            <a:ext cx="10911535" cy="914400"/>
          </a:xfrm>
          <a:prstGeom prst="rect">
            <a:avLst/>
          </a:prstGeom>
          <a:noFill/>
          <a:ln/>
        </p:spPr>
        <p:txBody>
          <a:bodyPr wrap="square" lIns="0" tIns="0" rIns="0" bIns="0" rtlCol="0" anchor="t"/>
          <a:lstStyle/>
          <a:p>
            <a:pPr algn="l" indent="0" marL="0">
              <a:buNone/>
            </a:pPr>
            <a:r>
              <a:rPr lang="en-US" sz="3600" b="1" dirty="0">
                <a:solidFill>
                  <a:schemeClr val="tx1"/>
                </a:solidFill>
              </a:rPr>
              <a:t>Ask the case files. Get proof, not guesses</a:t>
            </a:r>
            <a:endParaRPr lang="en-US" sz="3600" dirty="0"/>
          </a:p>
        </p:txBody>
      </p:sp>
      <p:sp>
        <p:nvSpPr>
          <p:cNvPr id="4" name="answer panel"/>
          <p:cNvSpPr/>
          <p:nvPr/>
        </p:nvSpPr>
        <p:spPr>
          <a:xfrm>
            <a:off x="640080" y="1965960"/>
            <a:ext cx="6035040" cy="4069080"/>
          </a:xfrm>
          <a:prstGeom prst="rect">
            <a:avLst/>
          </a:prstGeom>
          <a:solidFill>
            <a:schemeClr val="bg2"/>
          </a:solidFill>
          <a:ln w="12700">
            <a:solidFill>
              <a:schemeClr val="bg2"/>
            </a:solidFill>
            <a:prstDash val="solid"/>
          </a:ln>
        </p:spPr>
      </p:sp>
      <p:sp>
        <p:nvSpPr>
          <p:cNvPr id="5" name="Text 3"/>
          <p:cNvSpPr txBox="1"/>
          <p:nvPr/>
        </p:nvSpPr>
        <p:spPr>
          <a:xfrm>
            <a:off x="960120" y="2240280"/>
            <a:ext cx="5486400" cy="45720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Q&gt; Was the security desk staffed at around 01:30?</a:t>
            </a:r>
            <a:endParaRPr lang="en-US" sz="1400" dirty="0"/>
          </a:p>
        </p:txBody>
      </p:sp>
      <p:sp>
        <p:nvSpPr>
          <p:cNvPr id="6" name="Text 4"/>
          <p:cNvSpPr txBox="1"/>
          <p:nvPr/>
        </p:nvSpPr>
        <p:spPr>
          <a:xfrm>
            <a:off x="960120" y="2788920"/>
            <a:ext cx="5486400" cy="411480"/>
          </a:xfrm>
          <a:prstGeom prst="rect">
            <a:avLst/>
          </a:prstGeom>
          <a:noFill/>
          <a:ln/>
        </p:spPr>
        <p:txBody>
          <a:bodyPr wrap="square" lIns="0" tIns="0" rIns="0" bIns="0" rtlCol="0" anchor="t"/>
          <a:lstStyle/>
          <a:p>
            <a:pPr indent="0" marL="0">
              <a:buNone/>
            </a:pPr>
            <a:r>
              <a:rPr lang="en-US" sz="2000" b="1" dirty="0">
                <a:solidFill>
                  <a:schemeClr val="accent1"/>
                </a:solidFill>
              </a:rPr>
              <a:t>CONFLICTING EVIDENCE</a:t>
            </a:r>
            <a:endParaRPr lang="en-US" sz="2000" dirty="0"/>
          </a:p>
        </p:txBody>
      </p:sp>
      <p:sp>
        <p:nvSpPr>
          <p:cNvPr id="7" name="Text 5"/>
          <p:cNvSpPr txBox="1"/>
          <p:nvPr/>
        </p:nvSpPr>
        <p:spPr>
          <a:xfrm>
            <a:off x="960120" y="3291840"/>
            <a:ext cx="5394960" cy="1188720"/>
          </a:xfrm>
          <a:prstGeom prst="rect">
            <a:avLst/>
          </a:prstGeom>
          <a:noFill/>
          <a:ln/>
        </p:spPr>
        <p:txBody>
          <a:bodyPr wrap="square" lIns="0" tIns="0" rIns="0" bIns="0" rtlCol="0" anchor="t"/>
          <a:lstStyle/>
          <a:p>
            <a:pPr indent="0" marL="0">
              <a:buNone/>
            </a:pPr>
            <a:r>
              <a:rPr lang="en-US" sz="1600" dirty="0">
                <a:solidFill>
                  <a:schemeClr val="tx1"/>
                </a:solidFill>
              </a:rPr>
              <a:t>The guard says he never left the desk </a:t>
            </a:r>
            <a:pPr indent="0" marL="0">
              <a:buNone/>
            </a:pPr>
            <a:r>
              <a:rPr lang="en-US" sz="1600" b="1" dirty="0">
                <a:solidFill>
                  <a:schemeClr val="tx1"/>
                </a:solidFill>
                <a:latin typeface="Courier New" pitchFamily="34" charset="0"/>
                <a:ea typeface="Courier New" pitchFamily="34" charset="-122"/>
                <a:cs typeface="Courier New" pitchFamily="34" charset="-120"/>
              </a:rPr>
              <a:t>[STMT-005]</a:t>
            </a:r>
            <a:pPr indent="0" marL="0">
              <a:buNone/>
            </a:pPr>
            <a:r>
              <a:rPr lang="en-US" sz="1600" dirty="0">
                <a:solidFill>
                  <a:schemeClr val="tx1"/>
                </a:solidFill>
              </a:rPr>
              <a:t>, but CCTV shows him walking out at 01:24:28 </a:t>
            </a:r>
            <a:pPr indent="0" marL="0">
              <a:buNone/>
            </a:pPr>
            <a:r>
              <a:rPr lang="en-US" sz="1600" b="1" dirty="0">
                <a:solidFill>
                  <a:schemeClr val="tx1"/>
                </a:solidFill>
                <a:latin typeface="Courier New" pitchFamily="34" charset="0"/>
                <a:ea typeface="Courier New" pitchFamily="34" charset="-122"/>
                <a:cs typeface="Courier New" pitchFamily="34" charset="-120"/>
              </a:rPr>
              <a:t>[CCTV-001]</a:t>
            </a:r>
            <a:pPr indent="0" marL="0">
              <a:buNone/>
            </a:pPr>
            <a:r>
              <a:rPr lang="en-US" sz="1600" dirty="0">
                <a:solidFill>
                  <a:schemeClr val="tx1"/>
                </a:solidFill>
              </a:rPr>
              <a:t> and his phone logs a 27-minute call </a:t>
            </a:r>
            <a:pPr indent="0" marL="0">
              <a:buNone/>
            </a:pPr>
            <a:r>
              <a:rPr lang="en-US" sz="1600" b="1" dirty="0">
                <a:solidFill>
                  <a:schemeClr val="tx1"/>
                </a:solidFill>
                <a:latin typeface="Courier New" pitchFamily="34" charset="0"/>
                <a:ea typeface="Courier New" pitchFamily="34" charset="-122"/>
                <a:cs typeface="Courier New" pitchFamily="34" charset="-120"/>
              </a:rPr>
              <a:t>[PHONE-002]</a:t>
            </a:r>
            <a:pPr indent="0" marL="0">
              <a:buNone/>
            </a:pPr>
            <a:r>
              <a:rPr lang="en-US" sz="1600" dirty="0">
                <a:solidFill>
                  <a:schemeClr val="tx1"/>
                </a:solidFill>
              </a:rPr>
              <a:t>.</a:t>
            </a:r>
            <a:endParaRPr lang="en-US" sz="1600" dirty="0"/>
          </a:p>
        </p:txBody>
      </p:sp>
      <p:sp>
        <p:nvSpPr>
          <p:cNvPr id="8" name="highlighted quote"/>
          <p:cNvSpPr/>
          <p:nvPr/>
        </p:nvSpPr>
        <p:spPr>
          <a:xfrm>
            <a:off x="960120" y="4663440"/>
            <a:ext cx="5394960" cy="502920"/>
          </a:xfrm>
          <a:prstGeom prst="rect">
            <a:avLst/>
          </a:prstGeom>
          <a:solidFill>
            <a:schemeClr val="accent5"/>
          </a:solidFill>
          <a:ln w="12700">
            <a:solidFill>
              <a:schemeClr val="accent5"/>
            </a:solidFill>
            <a:prstDash val="solid"/>
          </a:ln>
        </p:spPr>
      </p:sp>
      <p:sp>
        <p:nvSpPr>
          <p:cNvPr id="9" name="Text 7"/>
          <p:cNvSpPr txBox="1"/>
          <p:nvPr/>
        </p:nvSpPr>
        <p:spPr>
          <a:xfrm>
            <a:off x="1097280" y="4663440"/>
            <a:ext cx="5212080" cy="50292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01:24:28 | CAM-01 | security officer exits DOOR-M1</a:t>
            </a:r>
            <a:endParaRPr lang="en-US" sz="1300" dirty="0"/>
          </a:p>
        </p:txBody>
      </p:sp>
      <p:sp>
        <p:nvSpPr>
          <p:cNvPr id="10" name="Text 8"/>
          <p:cNvSpPr txBox="1"/>
          <p:nvPr/>
        </p:nvSpPr>
        <p:spPr>
          <a:xfrm>
            <a:off x="960120" y="5349240"/>
            <a:ext cx="5394960" cy="36576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every source opens with the quoted line highlighted</a:t>
            </a:r>
            <a:endParaRPr lang="en-US" sz="1200" dirty="0"/>
          </a:p>
        </p:txBody>
      </p:sp>
      <p:sp>
        <p:nvSpPr>
          <p:cNvPr id="11" name="Answered marker"/>
          <p:cNvSpPr/>
          <p:nvPr/>
        </p:nvSpPr>
        <p:spPr>
          <a:xfrm>
            <a:off x="7223760" y="2084832"/>
            <a:ext cx="237744" cy="237744"/>
          </a:xfrm>
          <a:prstGeom prst="rect">
            <a:avLst/>
          </a:prstGeom>
          <a:solidFill>
            <a:schemeClr val="tx1"/>
          </a:solidFill>
          <a:ln w="12700">
            <a:solidFill>
              <a:schemeClr val="tx1"/>
            </a:solidFill>
            <a:prstDash val="solid"/>
          </a:ln>
        </p:spPr>
      </p:sp>
      <p:sp>
        <p:nvSpPr>
          <p:cNvPr id="12" name="Text 10"/>
          <p:cNvSpPr txBox="1"/>
          <p:nvPr/>
        </p:nvSpPr>
        <p:spPr>
          <a:xfrm>
            <a:off x="7635240" y="2011680"/>
            <a:ext cx="3931920" cy="384048"/>
          </a:xfrm>
          <a:prstGeom prst="rect">
            <a:avLst/>
          </a:prstGeom>
          <a:noFill/>
          <a:ln/>
        </p:spPr>
        <p:txBody>
          <a:bodyPr wrap="square" lIns="0" tIns="0" rIns="0" bIns="0" rtlCol="0" anchor="t"/>
          <a:lstStyle/>
          <a:p>
            <a:pPr indent="0" marL="0">
              <a:buNone/>
            </a:pPr>
            <a:r>
              <a:rPr lang="en-US" sz="1900" b="1" dirty="0">
                <a:solidFill>
                  <a:schemeClr val="tx1"/>
                </a:solidFill>
              </a:rPr>
              <a:t>Answered</a:t>
            </a:r>
            <a:endParaRPr lang="en-US" sz="1900" dirty="0"/>
          </a:p>
        </p:txBody>
      </p:sp>
      <p:sp>
        <p:nvSpPr>
          <p:cNvPr id="13" name="Text 11"/>
          <p:cNvSpPr txBox="1"/>
          <p:nvPr/>
        </p:nvSpPr>
        <p:spPr>
          <a:xfrm>
            <a:off x="7635240" y="2423160"/>
            <a:ext cx="3931920" cy="502920"/>
          </a:xfrm>
          <a:prstGeom prst="rect">
            <a:avLst/>
          </a:prstGeom>
          <a:noFill/>
          <a:ln/>
        </p:spPr>
        <p:txBody>
          <a:bodyPr wrap="square" lIns="0" tIns="0" rIns="0" bIns="0" rtlCol="0" anchor="t"/>
          <a:lstStyle/>
          <a:p>
            <a:pPr indent="0" marL="0">
              <a:buNone/>
            </a:pPr>
            <a:r>
              <a:rPr lang="en-US" sz="1500" dirty="0">
                <a:solidFill>
                  <a:schemeClr val="tx2"/>
                </a:solidFill>
              </a:rPr>
              <a:t>Every claim cited to a source document</a:t>
            </a:r>
            <a:endParaRPr lang="en-US" sz="1500" dirty="0"/>
          </a:p>
        </p:txBody>
      </p:sp>
      <p:sp>
        <p:nvSpPr>
          <p:cNvPr id="14" name="Conflicting evidence marker"/>
          <p:cNvSpPr/>
          <p:nvPr/>
        </p:nvSpPr>
        <p:spPr>
          <a:xfrm>
            <a:off x="7223760" y="3108960"/>
            <a:ext cx="237744" cy="237744"/>
          </a:xfrm>
          <a:prstGeom prst="rect">
            <a:avLst/>
          </a:prstGeom>
          <a:solidFill>
            <a:schemeClr val="accent1"/>
          </a:solidFill>
          <a:ln w="12700">
            <a:solidFill>
              <a:schemeClr val="accent1"/>
            </a:solidFill>
            <a:prstDash val="solid"/>
          </a:ln>
        </p:spPr>
      </p:sp>
      <p:sp>
        <p:nvSpPr>
          <p:cNvPr id="15" name="Text 13"/>
          <p:cNvSpPr txBox="1"/>
          <p:nvPr/>
        </p:nvSpPr>
        <p:spPr>
          <a:xfrm>
            <a:off x="7635240" y="3035808"/>
            <a:ext cx="3931920" cy="384048"/>
          </a:xfrm>
          <a:prstGeom prst="rect">
            <a:avLst/>
          </a:prstGeom>
          <a:noFill/>
          <a:ln/>
        </p:spPr>
        <p:txBody>
          <a:bodyPr wrap="square" lIns="0" tIns="0" rIns="0" bIns="0" rtlCol="0" anchor="t"/>
          <a:lstStyle/>
          <a:p>
            <a:pPr indent="0" marL="0">
              <a:buNone/>
            </a:pPr>
            <a:r>
              <a:rPr lang="en-US" sz="1900" b="1" dirty="0">
                <a:solidFill>
                  <a:schemeClr val="tx1"/>
                </a:solidFill>
              </a:rPr>
              <a:t>Conflicting evidence</a:t>
            </a:r>
            <a:endParaRPr lang="en-US" sz="1900" dirty="0"/>
          </a:p>
        </p:txBody>
      </p:sp>
      <p:sp>
        <p:nvSpPr>
          <p:cNvPr id="16" name="Text 14"/>
          <p:cNvSpPr txBox="1"/>
          <p:nvPr/>
        </p:nvSpPr>
        <p:spPr>
          <a:xfrm>
            <a:off x="7635240" y="3447288"/>
            <a:ext cx="3931920" cy="502920"/>
          </a:xfrm>
          <a:prstGeom prst="rect">
            <a:avLst/>
          </a:prstGeom>
          <a:noFill/>
          <a:ln/>
        </p:spPr>
        <p:txBody>
          <a:bodyPr wrap="square" lIns="0" tIns="0" rIns="0" bIns="0" rtlCol="0" anchor="t"/>
          <a:lstStyle/>
          <a:p>
            <a:pPr indent="0" marL="0">
              <a:buNone/>
            </a:pPr>
            <a:r>
              <a:rPr lang="en-US" sz="1500" dirty="0">
                <a:solidFill>
                  <a:schemeClr val="tx2"/>
                </a:solidFill>
              </a:rPr>
              <a:t>Both sides shown, and which one the records support</a:t>
            </a:r>
            <a:endParaRPr lang="en-US" sz="1500" dirty="0"/>
          </a:p>
        </p:txBody>
      </p:sp>
      <p:sp>
        <p:nvSpPr>
          <p:cNvPr id="17" name="Partly answered marker"/>
          <p:cNvSpPr/>
          <p:nvPr/>
        </p:nvSpPr>
        <p:spPr>
          <a:xfrm>
            <a:off x="7223760" y="4133088"/>
            <a:ext cx="237744" cy="237744"/>
          </a:xfrm>
          <a:prstGeom prst="rect">
            <a:avLst/>
          </a:prstGeom>
          <a:solidFill>
            <a:schemeClr val="accent3"/>
          </a:solidFill>
          <a:ln w="12700">
            <a:solidFill>
              <a:schemeClr val="accent3"/>
            </a:solidFill>
            <a:prstDash val="solid"/>
          </a:ln>
        </p:spPr>
      </p:sp>
      <p:sp>
        <p:nvSpPr>
          <p:cNvPr id="18" name="Text 16"/>
          <p:cNvSpPr txBox="1"/>
          <p:nvPr/>
        </p:nvSpPr>
        <p:spPr>
          <a:xfrm>
            <a:off x="7635240" y="4059936"/>
            <a:ext cx="3931920" cy="384048"/>
          </a:xfrm>
          <a:prstGeom prst="rect">
            <a:avLst/>
          </a:prstGeom>
          <a:noFill/>
          <a:ln/>
        </p:spPr>
        <p:txBody>
          <a:bodyPr wrap="square" lIns="0" tIns="0" rIns="0" bIns="0" rtlCol="0" anchor="t"/>
          <a:lstStyle/>
          <a:p>
            <a:pPr indent="0" marL="0">
              <a:buNone/>
            </a:pPr>
            <a:r>
              <a:rPr lang="en-US" sz="1900" b="1" dirty="0">
                <a:solidFill>
                  <a:schemeClr val="tx1"/>
                </a:solidFill>
              </a:rPr>
              <a:t>Partly answered</a:t>
            </a:r>
            <a:endParaRPr lang="en-US" sz="1900" dirty="0"/>
          </a:p>
        </p:txBody>
      </p:sp>
      <p:sp>
        <p:nvSpPr>
          <p:cNvPr id="19" name="Text 17"/>
          <p:cNvSpPr txBox="1"/>
          <p:nvPr/>
        </p:nvSpPr>
        <p:spPr>
          <a:xfrm>
            <a:off x="7635240" y="4471416"/>
            <a:ext cx="3931920" cy="502920"/>
          </a:xfrm>
          <a:prstGeom prst="rect">
            <a:avLst/>
          </a:prstGeom>
          <a:noFill/>
          <a:ln/>
        </p:spPr>
        <p:txBody>
          <a:bodyPr wrap="square" lIns="0" tIns="0" rIns="0" bIns="0" rtlCol="0" anchor="t"/>
          <a:lstStyle/>
          <a:p>
            <a:pPr indent="0" marL="0">
              <a:buNone/>
            </a:pPr>
            <a:r>
              <a:rPr lang="en-US" sz="1500" dirty="0">
                <a:solidFill>
                  <a:schemeClr val="tx2"/>
                </a:solidFill>
              </a:rPr>
              <a:t>What is known, plus what is missing</a:t>
            </a:r>
            <a:endParaRPr lang="en-US" sz="1500" dirty="0"/>
          </a:p>
        </p:txBody>
      </p:sp>
      <p:sp>
        <p:nvSpPr>
          <p:cNvPr id="20" name="Not in the case files marker"/>
          <p:cNvSpPr/>
          <p:nvPr/>
        </p:nvSpPr>
        <p:spPr>
          <a:xfrm>
            <a:off x="7223760" y="5157216"/>
            <a:ext cx="237744" cy="237744"/>
          </a:xfrm>
          <a:prstGeom prst="rect">
            <a:avLst/>
          </a:prstGeom>
          <a:solidFill>
            <a:schemeClr val="accent4"/>
          </a:solidFill>
          <a:ln w="12700">
            <a:solidFill>
              <a:schemeClr val="accent4"/>
            </a:solidFill>
            <a:prstDash val="solid"/>
          </a:ln>
        </p:spPr>
      </p:sp>
      <p:sp>
        <p:nvSpPr>
          <p:cNvPr id="21" name="Text 19"/>
          <p:cNvSpPr txBox="1"/>
          <p:nvPr/>
        </p:nvSpPr>
        <p:spPr>
          <a:xfrm>
            <a:off x="7635240" y="5084064"/>
            <a:ext cx="3931920" cy="384048"/>
          </a:xfrm>
          <a:prstGeom prst="rect">
            <a:avLst/>
          </a:prstGeom>
          <a:noFill/>
          <a:ln/>
        </p:spPr>
        <p:txBody>
          <a:bodyPr wrap="square" lIns="0" tIns="0" rIns="0" bIns="0" rtlCol="0" anchor="t"/>
          <a:lstStyle/>
          <a:p>
            <a:pPr indent="0" marL="0">
              <a:buNone/>
            </a:pPr>
            <a:r>
              <a:rPr lang="en-US" sz="1900" b="1" dirty="0">
                <a:solidFill>
                  <a:schemeClr val="tx1"/>
                </a:solidFill>
              </a:rPr>
              <a:t>Not in the case files</a:t>
            </a:r>
            <a:endParaRPr lang="en-US" sz="1900" dirty="0"/>
          </a:p>
        </p:txBody>
      </p:sp>
      <p:sp>
        <p:nvSpPr>
          <p:cNvPr id="22" name="Text 20"/>
          <p:cNvSpPr txBox="1"/>
          <p:nvPr/>
        </p:nvSpPr>
        <p:spPr>
          <a:xfrm>
            <a:off x="7635240" y="5495544"/>
            <a:ext cx="3931920" cy="502920"/>
          </a:xfrm>
          <a:prstGeom prst="rect">
            <a:avLst/>
          </a:prstGeom>
          <a:noFill/>
          <a:ln/>
        </p:spPr>
        <p:txBody>
          <a:bodyPr wrap="square" lIns="0" tIns="0" rIns="0" bIns="0" rtlCol="0" anchor="t"/>
          <a:lstStyle/>
          <a:p>
            <a:pPr indent="0" marL="0">
              <a:buNone/>
            </a:pPr>
            <a:r>
              <a:rPr lang="en-US" sz="1500" dirty="0">
                <a:solidFill>
                  <a:schemeClr val="tx2"/>
                </a:solidFill>
              </a:rPr>
              <a:t>Says so instead of guessing</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320040"/>
          </a:xfrm>
          <a:prstGeom prst="rect">
            <a:avLst/>
          </a:prstGeom>
          <a:noFill/>
          <a:ln/>
        </p:spPr>
        <p:txBody>
          <a:bodyPr wrap="square" lIns="0" tIns="0" rIns="0" bIns="0" rtlCol="0"/>
          <a:lstStyle/>
          <a:p>
            <a:pPr indent="0" marL="0">
              <a:buNone/>
            </a:pPr>
            <a:r>
              <a:rPr lang="en-US" sz="1300" dirty="0">
                <a:solidFill>
                  <a:schemeClr val="accent1"/>
                </a:solidFill>
                <a:latin typeface="Courier New" pitchFamily="34" charset="0"/>
                <a:ea typeface="Courier New" pitchFamily="34" charset="-122"/>
                <a:cs typeface="Courier New" pitchFamily="34" charset="-120"/>
              </a:rPr>
              <a:t>03 — THE DATA</a:t>
            </a:r>
            <a:endParaRPr lang="en-US" sz="1300" dirty="0"/>
          </a:p>
        </p:txBody>
      </p:sp>
      <p:sp>
        <p:nvSpPr>
          <p:cNvPr id="3" name="Text 0"/>
          <p:cNvSpPr/>
          <p:nvPr>
            <p:ph idx="101" type="title" hasCustomPrompt="1"/>
          </p:nvPr>
        </p:nvSpPr>
        <p:spPr>
          <a:xfrm>
            <a:off x="640080" y="822960"/>
            <a:ext cx="10911535" cy="914400"/>
          </a:xfrm>
          <a:prstGeom prst="rect">
            <a:avLst/>
          </a:prstGeom>
          <a:noFill/>
          <a:ln/>
        </p:spPr>
        <p:txBody>
          <a:bodyPr wrap="square" lIns="0" tIns="0" rIns="0" bIns="0" rtlCol="0" anchor="t"/>
          <a:lstStyle/>
          <a:p>
            <a:pPr algn="l" indent="0" marL="0">
              <a:buNone/>
            </a:pPr>
            <a:r>
              <a:rPr lang="en-US" sz="3600" b="1" dirty="0">
                <a:solidFill>
                  <a:schemeClr val="tx1"/>
                </a:solidFill>
              </a:rPr>
              <a:t>The Midnight Merge: a case built to test honesty</a:t>
            </a:r>
            <a:endParaRPr lang="en-US" sz="3600" dirty="0"/>
          </a:p>
        </p:txBody>
      </p:sp>
      <p:sp>
        <p:nvSpPr>
          <p:cNvPr id="4" name="Text 2"/>
          <p:cNvSpPr txBox="1"/>
          <p:nvPr/>
        </p:nvSpPr>
        <p:spPr>
          <a:xfrm>
            <a:off x="640080" y="1600200"/>
            <a:ext cx="10911535" cy="411480"/>
          </a:xfrm>
          <a:prstGeom prst="rect">
            <a:avLst/>
          </a:prstGeom>
          <a:noFill/>
          <a:ln/>
        </p:spPr>
        <p:txBody>
          <a:bodyPr wrap="square" lIns="0" tIns="0" rIns="0" bIns="0" rtlCol="0" anchor="t"/>
          <a:lstStyle/>
          <a:p>
            <a:pPr indent="0" marL="0">
              <a:buNone/>
            </a:pPr>
            <a:r>
              <a:rPr lang="en-US" sz="1700" dirty="0">
                <a:solidFill>
                  <a:schemeClr val="tx2"/>
                </a:solidFill>
              </a:rPr>
              <a:t>A fictional theft at a 24-hour hackathon: a prototype and the only copy of its code vanish overnight.</a:t>
            </a:r>
            <a:endParaRPr lang="en-US" sz="1700" dirty="0"/>
          </a:p>
        </p:txBody>
      </p:sp>
      <p:sp>
        <p:nvSpPr>
          <p:cNvPr id="5" name="Text 3"/>
          <p:cNvSpPr txBox="1"/>
          <p:nvPr/>
        </p:nvSpPr>
        <p:spPr>
          <a:xfrm>
            <a:off x="640080" y="2331720"/>
            <a:ext cx="2651760" cy="1188720"/>
          </a:xfrm>
          <a:prstGeom prst="rect">
            <a:avLst/>
          </a:prstGeom>
          <a:noFill/>
          <a:ln/>
        </p:spPr>
        <p:txBody>
          <a:bodyPr wrap="square" lIns="0" tIns="0" rIns="0" bIns="0" rtlCol="0" anchor="t"/>
          <a:lstStyle/>
          <a:p>
            <a:pPr indent="0" marL="0">
              <a:buNone/>
            </a:pPr>
            <a:r>
              <a:rPr lang="en-US" sz="8800" b="1" dirty="0">
                <a:solidFill>
                  <a:schemeClr val="tx1"/>
                </a:solidFill>
              </a:rPr>
              <a:t>40</a:t>
            </a:r>
            <a:endParaRPr lang="en-US" sz="8800" dirty="0"/>
          </a:p>
        </p:txBody>
      </p:sp>
      <p:sp>
        <p:nvSpPr>
          <p:cNvPr id="6" name="Text 4"/>
          <p:cNvSpPr txBox="1"/>
          <p:nvPr/>
        </p:nvSpPr>
        <p:spPr>
          <a:xfrm>
            <a:off x="640080" y="3538728"/>
            <a:ext cx="2651760" cy="32004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DOCUMENTS</a:t>
            </a:r>
            <a:endParaRPr lang="en-US" sz="1200" dirty="0"/>
          </a:p>
        </p:txBody>
      </p:sp>
      <p:sp>
        <p:nvSpPr>
          <p:cNvPr id="7" name="Text 5"/>
          <p:cNvSpPr txBox="1"/>
          <p:nvPr/>
        </p:nvSpPr>
        <p:spPr>
          <a:xfrm>
            <a:off x="3429000" y="2331720"/>
            <a:ext cx="2651760" cy="1188720"/>
          </a:xfrm>
          <a:prstGeom prst="rect">
            <a:avLst/>
          </a:prstGeom>
          <a:noFill/>
          <a:ln/>
        </p:spPr>
        <p:txBody>
          <a:bodyPr wrap="square" lIns="0" tIns="0" rIns="0" bIns="0" rtlCol="0" anchor="t"/>
          <a:lstStyle/>
          <a:p>
            <a:pPr indent="0" marL="0">
              <a:buNone/>
            </a:pPr>
            <a:r>
              <a:rPr lang="en-US" sz="8800" b="1" dirty="0">
                <a:solidFill>
                  <a:schemeClr val="tx1"/>
                </a:solidFill>
              </a:rPr>
              <a:t>10</a:t>
            </a:r>
            <a:endParaRPr lang="en-US" sz="8800" dirty="0"/>
          </a:p>
        </p:txBody>
      </p:sp>
      <p:sp>
        <p:nvSpPr>
          <p:cNvPr id="8" name="Text 6"/>
          <p:cNvSpPr txBox="1"/>
          <p:nvPr/>
        </p:nvSpPr>
        <p:spPr>
          <a:xfrm>
            <a:off x="3429000" y="3538728"/>
            <a:ext cx="2651760" cy="32004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DOCUMENT TYPES</a:t>
            </a:r>
            <a:endParaRPr lang="en-US" sz="1200" dirty="0"/>
          </a:p>
        </p:txBody>
      </p:sp>
      <p:sp>
        <p:nvSpPr>
          <p:cNvPr id="9" name="Text 7"/>
          <p:cNvSpPr txBox="1"/>
          <p:nvPr/>
        </p:nvSpPr>
        <p:spPr>
          <a:xfrm>
            <a:off x="640080" y="4160520"/>
            <a:ext cx="2651760" cy="1188720"/>
          </a:xfrm>
          <a:prstGeom prst="rect">
            <a:avLst/>
          </a:prstGeom>
          <a:noFill/>
          <a:ln/>
        </p:spPr>
        <p:txBody>
          <a:bodyPr wrap="square" lIns="0" tIns="0" rIns="0" bIns="0" rtlCol="0" anchor="t"/>
          <a:lstStyle/>
          <a:p>
            <a:pPr indent="0" marL="0">
              <a:buNone/>
            </a:pPr>
            <a:r>
              <a:rPr lang="en-US" sz="8800" b="1" dirty="0">
                <a:solidFill>
                  <a:schemeClr val="tx1"/>
                </a:solidFill>
              </a:rPr>
              <a:t>88</a:t>
            </a:r>
            <a:endParaRPr lang="en-US" sz="8800" dirty="0"/>
          </a:p>
        </p:txBody>
      </p:sp>
      <p:sp>
        <p:nvSpPr>
          <p:cNvPr id="10" name="Text 8"/>
          <p:cNvSpPr txBox="1"/>
          <p:nvPr/>
        </p:nvSpPr>
        <p:spPr>
          <a:xfrm>
            <a:off x="640080" y="5367528"/>
            <a:ext cx="2651760" cy="32004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SEARCHABLE CHUNKS</a:t>
            </a:r>
            <a:endParaRPr lang="en-US" sz="1200" dirty="0"/>
          </a:p>
        </p:txBody>
      </p:sp>
      <p:sp>
        <p:nvSpPr>
          <p:cNvPr id="11" name="Text 9"/>
          <p:cNvSpPr txBox="1"/>
          <p:nvPr/>
        </p:nvSpPr>
        <p:spPr>
          <a:xfrm>
            <a:off x="3429000" y="4160520"/>
            <a:ext cx="2651760" cy="1188720"/>
          </a:xfrm>
          <a:prstGeom prst="rect">
            <a:avLst/>
          </a:prstGeom>
          <a:noFill/>
          <a:ln/>
        </p:spPr>
        <p:txBody>
          <a:bodyPr wrap="square" lIns="0" tIns="0" rIns="0" bIns="0" rtlCol="0" anchor="t"/>
          <a:lstStyle/>
          <a:p>
            <a:pPr indent="0" marL="0">
              <a:buNone/>
            </a:pPr>
            <a:r>
              <a:rPr lang="en-US" sz="8800" b="1" dirty="0">
                <a:solidFill>
                  <a:schemeClr val="accent1"/>
                </a:solidFill>
              </a:rPr>
              <a:t>20</a:t>
            </a:r>
            <a:endParaRPr lang="en-US" sz="8800" dirty="0"/>
          </a:p>
        </p:txBody>
      </p:sp>
      <p:sp>
        <p:nvSpPr>
          <p:cNvPr id="12" name="Text 10"/>
          <p:cNvSpPr txBox="1"/>
          <p:nvPr/>
        </p:nvSpPr>
        <p:spPr>
          <a:xfrm>
            <a:off x="3429000" y="5367528"/>
            <a:ext cx="2651760" cy="32004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TEST QUESTIONS</a:t>
            </a:r>
            <a:endParaRPr lang="en-US" sz="1200" dirty="0"/>
          </a:p>
        </p:txBody>
      </p:sp>
      <p:sp>
        <p:nvSpPr>
          <p:cNvPr id="13" name="traps panel"/>
          <p:cNvSpPr/>
          <p:nvPr/>
        </p:nvSpPr>
        <p:spPr>
          <a:xfrm>
            <a:off x="6583680" y="2331720"/>
            <a:ext cx="4967935" cy="3611880"/>
          </a:xfrm>
          <a:prstGeom prst="rect">
            <a:avLst/>
          </a:prstGeom>
          <a:solidFill>
            <a:schemeClr val="tx1"/>
          </a:solidFill>
          <a:ln w="12700">
            <a:solidFill>
              <a:schemeClr val="tx1"/>
            </a:solidFill>
            <a:prstDash val="solid"/>
          </a:ln>
        </p:spPr>
      </p:sp>
      <p:sp>
        <p:nvSpPr>
          <p:cNvPr id="14" name="Text 12"/>
          <p:cNvSpPr txBox="1"/>
          <p:nvPr/>
        </p:nvSpPr>
        <p:spPr>
          <a:xfrm>
            <a:off x="6903720" y="2606040"/>
            <a:ext cx="4389120" cy="32004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PLANTED IN THE DATA</a:t>
            </a:r>
            <a:endParaRPr lang="en-US" sz="1200" dirty="0"/>
          </a:p>
        </p:txBody>
      </p:sp>
      <p:sp>
        <p:nvSpPr>
          <p:cNvPr id="15" name="Text 13"/>
          <p:cNvSpPr txBox="1"/>
          <p:nvPr/>
        </p:nvSpPr>
        <p:spPr>
          <a:xfrm>
            <a:off x="6903720" y="3063240"/>
            <a:ext cx="777240" cy="457200"/>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6" name="Text 14"/>
          <p:cNvSpPr txBox="1"/>
          <p:nvPr/>
        </p:nvSpPr>
        <p:spPr>
          <a:xfrm>
            <a:off x="7726680" y="3099816"/>
            <a:ext cx="3749040" cy="457200"/>
          </a:xfrm>
          <a:prstGeom prst="rect">
            <a:avLst/>
          </a:prstGeom>
          <a:noFill/>
          <a:ln/>
        </p:spPr>
        <p:txBody>
          <a:bodyPr wrap="square" lIns="0" tIns="0" rIns="0" bIns="0" rtlCol="0" anchor="t"/>
          <a:lstStyle/>
          <a:p>
            <a:pPr indent="0" marL="0">
              <a:buNone/>
            </a:pPr>
            <a:r>
              <a:rPr lang="en-US" sz="1500" dirty="0">
                <a:solidFill>
                  <a:schemeClr val="bg1"/>
                </a:solidFill>
              </a:rPr>
              <a:t>contradictions between witnesses</a:t>
            </a:r>
            <a:endParaRPr lang="en-US" sz="1500" dirty="0"/>
          </a:p>
        </p:txBody>
      </p:sp>
      <p:sp>
        <p:nvSpPr>
          <p:cNvPr id="17" name="Text 15"/>
          <p:cNvSpPr txBox="1"/>
          <p:nvPr/>
        </p:nvSpPr>
        <p:spPr>
          <a:xfrm>
            <a:off x="6903720" y="3630168"/>
            <a:ext cx="777240" cy="457200"/>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18" name="Text 16"/>
          <p:cNvSpPr txBox="1"/>
          <p:nvPr/>
        </p:nvSpPr>
        <p:spPr>
          <a:xfrm>
            <a:off x="7726680" y="3666744"/>
            <a:ext cx="3749040" cy="457200"/>
          </a:xfrm>
          <a:prstGeom prst="rect">
            <a:avLst/>
          </a:prstGeom>
          <a:noFill/>
          <a:ln/>
        </p:spPr>
        <p:txBody>
          <a:bodyPr wrap="square" lIns="0" tIns="0" rIns="0" bIns="0" rtlCol="0" anchor="t"/>
          <a:lstStyle/>
          <a:p>
            <a:pPr indent="0" marL="0">
              <a:buNone/>
            </a:pPr>
            <a:r>
              <a:rPr lang="en-US" sz="1500" dirty="0">
                <a:solidFill>
                  <a:schemeClr val="bg1"/>
                </a:solidFill>
              </a:rPr>
              <a:t>lie only two records expose together</a:t>
            </a:r>
            <a:endParaRPr lang="en-US" sz="1500" dirty="0"/>
          </a:p>
        </p:txBody>
      </p:sp>
      <p:sp>
        <p:nvSpPr>
          <p:cNvPr id="19" name="Text 17"/>
          <p:cNvSpPr txBox="1"/>
          <p:nvPr/>
        </p:nvSpPr>
        <p:spPr>
          <a:xfrm>
            <a:off x="6903720" y="4197096"/>
            <a:ext cx="777240" cy="457200"/>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20" name="Text 18"/>
          <p:cNvSpPr txBox="1"/>
          <p:nvPr/>
        </p:nvSpPr>
        <p:spPr>
          <a:xfrm>
            <a:off x="7726680" y="4233672"/>
            <a:ext cx="3749040" cy="457200"/>
          </a:xfrm>
          <a:prstGeom prst="rect">
            <a:avLst/>
          </a:prstGeom>
          <a:noFill/>
          <a:ln/>
        </p:spPr>
        <p:txBody>
          <a:bodyPr wrap="square" lIns="0" tIns="0" rIns="0" bIns="0" rtlCol="0" anchor="t"/>
          <a:lstStyle/>
          <a:p>
            <a:pPr indent="0" marL="0">
              <a:buNone/>
            </a:pPr>
            <a:r>
              <a:rPr lang="en-US" sz="1500" dirty="0">
                <a:solidFill>
                  <a:schemeClr val="bg1"/>
                </a:solidFill>
              </a:rPr>
              <a:t>red herrings: suspicious, but innocent</a:t>
            </a:r>
            <a:endParaRPr lang="en-US" sz="1500" dirty="0"/>
          </a:p>
        </p:txBody>
      </p:sp>
      <p:sp>
        <p:nvSpPr>
          <p:cNvPr id="21" name="Text 19"/>
          <p:cNvSpPr txBox="1"/>
          <p:nvPr/>
        </p:nvSpPr>
        <p:spPr>
          <a:xfrm>
            <a:off x="6903720" y="4764024"/>
            <a:ext cx="777240" cy="457200"/>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22" name="Text 20"/>
          <p:cNvSpPr txBox="1"/>
          <p:nvPr/>
        </p:nvSpPr>
        <p:spPr>
          <a:xfrm>
            <a:off x="7726680" y="4800600"/>
            <a:ext cx="3749040" cy="457200"/>
          </a:xfrm>
          <a:prstGeom prst="rect">
            <a:avLst/>
          </a:prstGeom>
          <a:noFill/>
          <a:ln/>
        </p:spPr>
        <p:txBody>
          <a:bodyPr wrap="square" lIns="0" tIns="0" rIns="0" bIns="0" rtlCol="0" anchor="t"/>
          <a:lstStyle/>
          <a:p>
            <a:pPr indent="0" marL="0">
              <a:buNone/>
            </a:pPr>
            <a:r>
              <a:rPr lang="en-US" sz="1500" dirty="0">
                <a:solidFill>
                  <a:schemeClr val="bg1"/>
                </a:solidFill>
              </a:rPr>
              <a:t>facts recorded nowhere: must refuse</a:t>
            </a:r>
            <a:endParaRPr lang="en-US" sz="1500" dirty="0"/>
          </a:p>
        </p:txBody>
      </p:sp>
      <p:sp>
        <p:nvSpPr>
          <p:cNvPr id="23" name="Text 21"/>
          <p:cNvSpPr txBox="1"/>
          <p:nvPr/>
        </p:nvSpPr>
        <p:spPr>
          <a:xfrm>
            <a:off x="6903720" y="5330952"/>
            <a:ext cx="777240" cy="457200"/>
          </a:xfrm>
          <a:prstGeom prst="rect">
            <a:avLst/>
          </a:prstGeom>
          <a:noFill/>
          <a:ln/>
        </p:spPr>
        <p:txBody>
          <a:bodyPr wrap="square" lIns="0" tIns="0" rIns="0" bIns="0" rtlCol="0" anchor="t"/>
          <a:lstStyle/>
          <a:p>
            <a:pPr indent="0" marL="0">
              <a:buNone/>
            </a:pPr>
            <a:r>
              <a:rPr lang="en-US" sz="2000" b="1" dirty="0">
                <a:solidFill>
                  <a:schemeClr val="accent1"/>
                </a:solidFill>
              </a:rPr>
              <a:t>15+</a:t>
            </a:r>
            <a:endParaRPr lang="en-US" sz="2000" dirty="0"/>
          </a:p>
        </p:txBody>
      </p:sp>
      <p:sp>
        <p:nvSpPr>
          <p:cNvPr id="24" name="Text 22"/>
          <p:cNvSpPr txBox="1"/>
          <p:nvPr/>
        </p:nvSpPr>
        <p:spPr>
          <a:xfrm>
            <a:off x="7726680" y="5367528"/>
            <a:ext cx="3749040" cy="457200"/>
          </a:xfrm>
          <a:prstGeom prst="rect">
            <a:avLst/>
          </a:prstGeom>
          <a:noFill/>
          <a:ln/>
        </p:spPr>
        <p:txBody>
          <a:bodyPr wrap="square" lIns="0" tIns="0" rIns="0" bIns="0" rtlCol="0" anchor="t"/>
          <a:lstStyle/>
          <a:p>
            <a:pPr indent="0" marL="0">
              <a:buNone/>
            </a:pPr>
            <a:r>
              <a:rPr lang="en-US" sz="1500" dirty="0">
                <a:solidFill>
                  <a:schemeClr val="bg1"/>
                </a:solidFill>
              </a:rPr>
              <a:t>exact codes: badges, plates, receipts</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320040"/>
          </a:xfrm>
          <a:prstGeom prst="rect">
            <a:avLst/>
          </a:prstGeom>
          <a:noFill/>
          <a:ln/>
        </p:spPr>
        <p:txBody>
          <a:bodyPr wrap="square" lIns="0" tIns="0" rIns="0" bIns="0" rtlCol="0"/>
          <a:lstStyle/>
          <a:p>
            <a:pPr indent="0" marL="0">
              <a:buNone/>
            </a:pPr>
            <a:r>
              <a:rPr lang="en-US" sz="1300" dirty="0">
                <a:solidFill>
                  <a:schemeClr val="accent1"/>
                </a:solidFill>
                <a:latin typeface="Courier New" pitchFamily="34" charset="0"/>
                <a:ea typeface="Courier New" pitchFamily="34" charset="-122"/>
                <a:cs typeface="Courier New" pitchFamily="34" charset="-120"/>
              </a:rPr>
              <a:t>04 — HOW IT WORKS</a:t>
            </a:r>
            <a:endParaRPr lang="en-US" sz="1300" dirty="0"/>
          </a:p>
        </p:txBody>
      </p:sp>
      <p:sp>
        <p:nvSpPr>
          <p:cNvPr id="3" name="Text 0"/>
          <p:cNvSpPr/>
          <p:nvPr>
            <p:ph idx="101" type="title" hasCustomPrompt="1"/>
          </p:nvPr>
        </p:nvSpPr>
        <p:spPr>
          <a:xfrm>
            <a:off x="640080" y="822960"/>
            <a:ext cx="10911535" cy="914400"/>
          </a:xfrm>
          <a:prstGeom prst="rect">
            <a:avLst/>
          </a:prstGeom>
          <a:noFill/>
          <a:ln/>
        </p:spPr>
        <p:txBody>
          <a:bodyPr wrap="square" lIns="0" tIns="0" rIns="0" bIns="0" rtlCol="0" anchor="t"/>
          <a:lstStyle/>
          <a:p>
            <a:pPr algn="l" indent="0" marL="0">
              <a:buNone/>
            </a:pPr>
            <a:r>
              <a:rPr lang="en-US" sz="3600" b="1" dirty="0">
                <a:solidFill>
                  <a:schemeClr val="tx1"/>
                </a:solidFill>
              </a:rPr>
              <a:t>From question to verified answer in five steps</a:t>
            </a:r>
            <a:endParaRPr lang="en-US" sz="3600" dirty="0"/>
          </a:p>
        </p:txBody>
      </p:sp>
      <p:sp>
        <p:nvSpPr>
          <p:cNvPr id="4" name="code-checked zone"/>
          <p:cNvSpPr/>
          <p:nvPr/>
        </p:nvSpPr>
        <p:spPr>
          <a:xfrm>
            <a:off x="7187001" y="1965960"/>
            <a:ext cx="4364614" cy="3063240"/>
          </a:xfrm>
          <a:prstGeom prst="rect">
            <a:avLst/>
          </a:prstGeom>
          <a:solidFill>
            <a:schemeClr val="accent5"/>
          </a:solidFill>
          <a:ln w="12700">
            <a:solidFill>
              <a:schemeClr val="accent5"/>
            </a:solidFill>
            <a:prstDash val="solid"/>
          </a:ln>
        </p:spPr>
      </p:sp>
      <p:sp>
        <p:nvSpPr>
          <p:cNvPr id="5" name="Text 3"/>
          <p:cNvSpPr txBox="1"/>
          <p:nvPr/>
        </p:nvSpPr>
        <p:spPr>
          <a:xfrm>
            <a:off x="868680" y="2148840"/>
            <a:ext cx="1725107" cy="1005840"/>
          </a:xfrm>
          <a:prstGeom prst="rect">
            <a:avLst/>
          </a:prstGeom>
          <a:noFill/>
          <a:ln/>
        </p:spPr>
        <p:txBody>
          <a:bodyPr wrap="square" lIns="0" tIns="0" rIns="0" bIns="0" rtlCol="0" anchor="t"/>
          <a:lstStyle/>
          <a:p>
            <a:pPr indent="0" marL="0">
              <a:buNone/>
            </a:pPr>
            <a:r>
              <a:rPr lang="en-US" sz="6600" b="1" dirty="0">
                <a:solidFill>
                  <a:schemeClr val="tx1"/>
                </a:solidFill>
              </a:rPr>
              <a:t>1</a:t>
            </a:r>
            <a:endParaRPr lang="en-US" sz="6600" dirty="0"/>
          </a:p>
        </p:txBody>
      </p:sp>
      <p:sp>
        <p:nvSpPr>
          <p:cNvPr id="6" name="Text 4"/>
          <p:cNvSpPr txBox="1"/>
          <p:nvPr/>
        </p:nvSpPr>
        <p:spPr>
          <a:xfrm>
            <a:off x="868680" y="3246120"/>
            <a:ext cx="1770827" cy="411480"/>
          </a:xfrm>
          <a:prstGeom prst="rect">
            <a:avLst/>
          </a:prstGeom>
          <a:noFill/>
          <a:ln/>
        </p:spPr>
        <p:txBody>
          <a:bodyPr wrap="square" lIns="0" tIns="0" rIns="0" bIns="0" rtlCol="0" anchor="t"/>
          <a:lstStyle/>
          <a:p>
            <a:pPr indent="0" marL="0">
              <a:buNone/>
            </a:pPr>
            <a:r>
              <a:rPr lang="en-US" sz="2100" b="1" dirty="0">
                <a:solidFill>
                  <a:schemeClr val="tx1"/>
                </a:solidFill>
              </a:rPr>
              <a:t>Search</a:t>
            </a:r>
            <a:endParaRPr lang="en-US" sz="2100" dirty="0"/>
          </a:p>
        </p:txBody>
      </p:sp>
      <p:sp>
        <p:nvSpPr>
          <p:cNvPr id="7" name="Text 5"/>
          <p:cNvSpPr txBox="1"/>
          <p:nvPr/>
        </p:nvSpPr>
        <p:spPr>
          <a:xfrm>
            <a:off x="868680" y="3703320"/>
            <a:ext cx="1770827" cy="1188720"/>
          </a:xfrm>
          <a:prstGeom prst="rect">
            <a:avLst/>
          </a:prstGeom>
          <a:noFill/>
          <a:ln/>
        </p:spPr>
        <p:txBody>
          <a:bodyPr wrap="square" lIns="0" tIns="0" rIns="0" bIns="0" rtlCol="0" anchor="t"/>
          <a:lstStyle/>
          <a:p>
            <a:pPr indent="0" marL="0">
              <a:buNone/>
            </a:pPr>
            <a:r>
              <a:rPr lang="en-US" sz="1500" dirty="0">
                <a:solidFill>
                  <a:schemeClr val="tx2"/>
                </a:solidFill>
              </a:rPr>
              <a:t>Hybrid search over meaning and exact words. Top 10 sources.</a:t>
            </a:r>
            <a:endParaRPr lang="en-US" sz="1500" dirty="0"/>
          </a:p>
        </p:txBody>
      </p:sp>
      <p:sp>
        <p:nvSpPr>
          <p:cNvPr id="8" name="Text 6"/>
          <p:cNvSpPr txBox="1"/>
          <p:nvPr/>
        </p:nvSpPr>
        <p:spPr>
          <a:xfrm>
            <a:off x="3050987" y="2148840"/>
            <a:ext cx="1725107" cy="1005840"/>
          </a:xfrm>
          <a:prstGeom prst="rect">
            <a:avLst/>
          </a:prstGeom>
          <a:noFill/>
          <a:ln/>
        </p:spPr>
        <p:txBody>
          <a:bodyPr wrap="square" lIns="0" tIns="0" rIns="0" bIns="0" rtlCol="0" anchor="t"/>
          <a:lstStyle/>
          <a:p>
            <a:pPr indent="0" marL="0">
              <a:buNone/>
            </a:pPr>
            <a:r>
              <a:rPr lang="en-US" sz="6600" b="1" dirty="0">
                <a:solidFill>
                  <a:schemeClr val="tx1"/>
                </a:solidFill>
              </a:rPr>
              <a:t>2</a:t>
            </a:r>
            <a:endParaRPr lang="en-US" sz="6600" dirty="0"/>
          </a:p>
        </p:txBody>
      </p:sp>
      <p:sp>
        <p:nvSpPr>
          <p:cNvPr id="9" name="Text 7"/>
          <p:cNvSpPr txBox="1"/>
          <p:nvPr/>
        </p:nvSpPr>
        <p:spPr>
          <a:xfrm>
            <a:off x="3050987" y="3246120"/>
            <a:ext cx="1770827" cy="411480"/>
          </a:xfrm>
          <a:prstGeom prst="rect">
            <a:avLst/>
          </a:prstGeom>
          <a:noFill/>
          <a:ln/>
        </p:spPr>
        <p:txBody>
          <a:bodyPr wrap="square" lIns="0" tIns="0" rIns="0" bIns="0" rtlCol="0" anchor="t"/>
          <a:lstStyle/>
          <a:p>
            <a:pPr indent="0" marL="0">
              <a:buNone/>
            </a:pPr>
            <a:r>
              <a:rPr lang="en-US" sz="2100" b="1" dirty="0">
                <a:solidFill>
                  <a:schemeClr val="tx1"/>
                </a:solidFill>
              </a:rPr>
              <a:t>Investigate</a:t>
            </a:r>
            <a:endParaRPr lang="en-US" sz="2100" dirty="0"/>
          </a:p>
        </p:txBody>
      </p:sp>
      <p:sp>
        <p:nvSpPr>
          <p:cNvPr id="10" name="Text 8"/>
          <p:cNvSpPr txBox="1"/>
          <p:nvPr/>
        </p:nvSpPr>
        <p:spPr>
          <a:xfrm>
            <a:off x="3050987" y="3703320"/>
            <a:ext cx="1770827" cy="1188720"/>
          </a:xfrm>
          <a:prstGeom prst="rect">
            <a:avLst/>
          </a:prstGeom>
          <a:noFill/>
          <a:ln/>
        </p:spPr>
        <p:txBody>
          <a:bodyPr wrap="square" lIns="0" tIns="0" rIns="0" bIns="0" rtlCol="0" anchor="t"/>
          <a:lstStyle/>
          <a:p>
            <a:pPr indent="0" marL="0">
              <a:buNone/>
            </a:pPr>
            <a:r>
              <a:rPr lang="en-US" sz="1500" dirty="0">
                <a:solidFill>
                  <a:schemeClr val="tx2"/>
                </a:solidFill>
              </a:rPr>
              <a:t>The AI spots codes like HB-9042 and searches again.</a:t>
            </a:r>
            <a:endParaRPr lang="en-US" sz="1500" dirty="0"/>
          </a:p>
        </p:txBody>
      </p:sp>
      <p:sp>
        <p:nvSpPr>
          <p:cNvPr id="11" name="Text 9"/>
          <p:cNvSpPr txBox="1"/>
          <p:nvPr/>
        </p:nvSpPr>
        <p:spPr>
          <a:xfrm>
            <a:off x="5233294" y="2148840"/>
            <a:ext cx="1725107" cy="1005840"/>
          </a:xfrm>
          <a:prstGeom prst="rect">
            <a:avLst/>
          </a:prstGeom>
          <a:noFill/>
          <a:ln/>
        </p:spPr>
        <p:txBody>
          <a:bodyPr wrap="square" lIns="0" tIns="0" rIns="0" bIns="0" rtlCol="0" anchor="t"/>
          <a:lstStyle/>
          <a:p>
            <a:pPr indent="0" marL="0">
              <a:buNone/>
            </a:pPr>
            <a:r>
              <a:rPr lang="en-US" sz="6600" b="1" dirty="0">
                <a:solidFill>
                  <a:schemeClr val="tx1"/>
                </a:solidFill>
              </a:rPr>
              <a:t>3</a:t>
            </a:r>
            <a:endParaRPr lang="en-US" sz="6600" dirty="0"/>
          </a:p>
        </p:txBody>
      </p:sp>
      <p:sp>
        <p:nvSpPr>
          <p:cNvPr id="12" name="Text 10"/>
          <p:cNvSpPr txBox="1"/>
          <p:nvPr/>
        </p:nvSpPr>
        <p:spPr>
          <a:xfrm>
            <a:off x="5233294" y="3246120"/>
            <a:ext cx="1770827" cy="411480"/>
          </a:xfrm>
          <a:prstGeom prst="rect">
            <a:avLst/>
          </a:prstGeom>
          <a:noFill/>
          <a:ln/>
        </p:spPr>
        <p:txBody>
          <a:bodyPr wrap="square" lIns="0" tIns="0" rIns="0" bIns="0" rtlCol="0" anchor="t"/>
          <a:lstStyle/>
          <a:p>
            <a:pPr indent="0" marL="0">
              <a:buNone/>
            </a:pPr>
            <a:r>
              <a:rPr lang="en-US" sz="2100" b="1" dirty="0">
                <a:solidFill>
                  <a:schemeClr val="tx1"/>
                </a:solidFill>
              </a:rPr>
              <a:t>Answer</a:t>
            </a:r>
            <a:endParaRPr lang="en-US" sz="2100" dirty="0"/>
          </a:p>
        </p:txBody>
      </p:sp>
      <p:sp>
        <p:nvSpPr>
          <p:cNvPr id="13" name="Text 11"/>
          <p:cNvSpPr txBox="1"/>
          <p:nvPr/>
        </p:nvSpPr>
        <p:spPr>
          <a:xfrm>
            <a:off x="5233294" y="3703320"/>
            <a:ext cx="1770827" cy="1188720"/>
          </a:xfrm>
          <a:prstGeom prst="rect">
            <a:avLst/>
          </a:prstGeom>
          <a:noFill/>
          <a:ln/>
        </p:spPr>
        <p:txBody>
          <a:bodyPr wrap="square" lIns="0" tIns="0" rIns="0" bIns="0" rtlCol="0" anchor="t"/>
          <a:lstStyle/>
          <a:p>
            <a:pPr indent="0" marL="0">
              <a:buNone/>
            </a:pPr>
            <a:r>
              <a:rPr lang="en-US" sz="1500" dirty="0">
                <a:solidFill>
                  <a:schemeClr val="tx2"/>
                </a:solidFill>
              </a:rPr>
              <a:t>Written only from the evidence, every claim cited.</a:t>
            </a:r>
            <a:endParaRPr lang="en-US" sz="1500" dirty="0"/>
          </a:p>
        </p:txBody>
      </p:sp>
      <p:sp>
        <p:nvSpPr>
          <p:cNvPr id="14" name="Text 12"/>
          <p:cNvSpPr txBox="1"/>
          <p:nvPr/>
        </p:nvSpPr>
        <p:spPr>
          <a:xfrm>
            <a:off x="7415601" y="2148840"/>
            <a:ext cx="1725107" cy="1005840"/>
          </a:xfrm>
          <a:prstGeom prst="rect">
            <a:avLst/>
          </a:prstGeom>
          <a:noFill/>
          <a:ln/>
        </p:spPr>
        <p:txBody>
          <a:bodyPr wrap="square" lIns="0" tIns="0" rIns="0" bIns="0" rtlCol="0" anchor="t"/>
          <a:lstStyle/>
          <a:p>
            <a:pPr indent="0" marL="0">
              <a:buNone/>
            </a:pPr>
            <a:r>
              <a:rPr lang="en-US" sz="6600" b="1" dirty="0">
                <a:solidFill>
                  <a:schemeClr val="accent1"/>
                </a:solidFill>
              </a:rPr>
              <a:t>4</a:t>
            </a:r>
            <a:endParaRPr lang="en-US" sz="6600" dirty="0"/>
          </a:p>
        </p:txBody>
      </p:sp>
      <p:sp>
        <p:nvSpPr>
          <p:cNvPr id="15" name="Text 13"/>
          <p:cNvSpPr txBox="1"/>
          <p:nvPr/>
        </p:nvSpPr>
        <p:spPr>
          <a:xfrm>
            <a:off x="7415601" y="3246120"/>
            <a:ext cx="1770827" cy="411480"/>
          </a:xfrm>
          <a:prstGeom prst="rect">
            <a:avLst/>
          </a:prstGeom>
          <a:noFill/>
          <a:ln/>
        </p:spPr>
        <p:txBody>
          <a:bodyPr wrap="square" lIns="0" tIns="0" rIns="0" bIns="0" rtlCol="0" anchor="t"/>
          <a:lstStyle/>
          <a:p>
            <a:pPr indent="0" marL="0">
              <a:buNone/>
            </a:pPr>
            <a:r>
              <a:rPr lang="en-US" sz="2100" b="1" dirty="0">
                <a:solidFill>
                  <a:schemeClr val="tx1"/>
                </a:solidFill>
              </a:rPr>
              <a:t>Verify</a:t>
            </a:r>
            <a:endParaRPr lang="en-US" sz="2100" dirty="0"/>
          </a:p>
        </p:txBody>
      </p:sp>
      <p:sp>
        <p:nvSpPr>
          <p:cNvPr id="16" name="Text 14"/>
          <p:cNvSpPr txBox="1"/>
          <p:nvPr/>
        </p:nvSpPr>
        <p:spPr>
          <a:xfrm>
            <a:off x="7415601" y="3703320"/>
            <a:ext cx="1770827" cy="1188720"/>
          </a:xfrm>
          <a:prstGeom prst="rect">
            <a:avLst/>
          </a:prstGeom>
          <a:noFill/>
          <a:ln/>
        </p:spPr>
        <p:txBody>
          <a:bodyPr wrap="square" lIns="0" tIns="0" rIns="0" bIns="0" rtlCol="0" anchor="t"/>
          <a:lstStyle/>
          <a:p>
            <a:pPr indent="0" marL="0">
              <a:buNone/>
            </a:pPr>
            <a:r>
              <a:rPr lang="en-US" sz="1500" dirty="0">
                <a:solidFill>
                  <a:schemeClr val="tx2"/>
                </a:solidFill>
              </a:rPr>
              <a:t>Every quote checked word-for-word against the source.</a:t>
            </a:r>
            <a:endParaRPr lang="en-US" sz="1500" dirty="0"/>
          </a:p>
        </p:txBody>
      </p:sp>
      <p:sp>
        <p:nvSpPr>
          <p:cNvPr id="17" name="Text 15"/>
          <p:cNvSpPr txBox="1"/>
          <p:nvPr/>
        </p:nvSpPr>
        <p:spPr>
          <a:xfrm>
            <a:off x="9597908" y="2148840"/>
            <a:ext cx="1725107" cy="1005840"/>
          </a:xfrm>
          <a:prstGeom prst="rect">
            <a:avLst/>
          </a:prstGeom>
          <a:noFill/>
          <a:ln/>
        </p:spPr>
        <p:txBody>
          <a:bodyPr wrap="square" lIns="0" tIns="0" rIns="0" bIns="0" rtlCol="0" anchor="t"/>
          <a:lstStyle/>
          <a:p>
            <a:pPr indent="0" marL="0">
              <a:buNone/>
            </a:pPr>
            <a:r>
              <a:rPr lang="en-US" sz="6600" b="1" dirty="0">
                <a:solidFill>
                  <a:schemeClr val="accent1"/>
                </a:solidFill>
              </a:rPr>
              <a:t>5</a:t>
            </a:r>
            <a:endParaRPr lang="en-US" sz="6600" dirty="0"/>
          </a:p>
        </p:txBody>
      </p:sp>
      <p:sp>
        <p:nvSpPr>
          <p:cNvPr id="18" name="Text 16"/>
          <p:cNvSpPr txBox="1"/>
          <p:nvPr/>
        </p:nvSpPr>
        <p:spPr>
          <a:xfrm>
            <a:off x="9597908" y="3246120"/>
            <a:ext cx="1770827" cy="411480"/>
          </a:xfrm>
          <a:prstGeom prst="rect">
            <a:avLst/>
          </a:prstGeom>
          <a:noFill/>
          <a:ln/>
        </p:spPr>
        <p:txBody>
          <a:bodyPr wrap="square" lIns="0" tIns="0" rIns="0" bIns="0" rtlCol="0" anchor="t"/>
          <a:lstStyle/>
          <a:p>
            <a:pPr indent="0" marL="0">
              <a:buNone/>
            </a:pPr>
            <a:r>
              <a:rPr lang="en-US" sz="2100" b="1" dirty="0">
                <a:solidFill>
                  <a:schemeClr val="tx1"/>
                </a:solidFill>
              </a:rPr>
              <a:t>Decide</a:t>
            </a:r>
            <a:endParaRPr lang="en-US" sz="2100" dirty="0"/>
          </a:p>
        </p:txBody>
      </p:sp>
      <p:sp>
        <p:nvSpPr>
          <p:cNvPr id="19" name="Text 17"/>
          <p:cNvSpPr txBox="1"/>
          <p:nvPr/>
        </p:nvSpPr>
        <p:spPr>
          <a:xfrm>
            <a:off x="9597908" y="3703320"/>
            <a:ext cx="1770827" cy="1188720"/>
          </a:xfrm>
          <a:prstGeom prst="rect">
            <a:avLst/>
          </a:prstGeom>
          <a:noFill/>
          <a:ln/>
        </p:spPr>
        <p:txBody>
          <a:bodyPr wrap="square" lIns="0" tIns="0" rIns="0" bIns="0" rtlCol="0" anchor="t"/>
          <a:lstStyle/>
          <a:p>
            <a:pPr indent="0" marL="0">
              <a:buNone/>
            </a:pPr>
            <a:r>
              <a:rPr lang="en-US" sz="1500" dirty="0">
                <a:solidFill>
                  <a:schemeClr val="tx2"/>
                </a:solidFill>
              </a:rPr>
              <a:t>Fixed rules set the verdict, not the model.</a:t>
            </a:r>
            <a:endParaRPr lang="en-US" sz="1500" dirty="0"/>
          </a:p>
        </p:txBody>
      </p:sp>
      <p:sp>
        <p:nvSpPr>
          <p:cNvPr id="20" name="Text 18"/>
          <p:cNvSpPr txBox="1"/>
          <p:nvPr/>
        </p:nvSpPr>
        <p:spPr>
          <a:xfrm>
            <a:off x="868680" y="5138928"/>
            <a:ext cx="5486400" cy="27432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AI DOES THE WORK</a:t>
            </a:r>
            <a:endParaRPr lang="en-US" sz="1200" dirty="0"/>
          </a:p>
        </p:txBody>
      </p:sp>
      <p:sp>
        <p:nvSpPr>
          <p:cNvPr id="21" name="Text 19"/>
          <p:cNvSpPr txBox="1"/>
          <p:nvPr/>
        </p:nvSpPr>
        <p:spPr>
          <a:xfrm>
            <a:off x="7415601" y="5138928"/>
            <a:ext cx="411480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CODE CHECKS THE AI</a:t>
            </a:r>
            <a:endParaRPr lang="en-US" sz="1200" dirty="0"/>
          </a:p>
        </p:txBody>
      </p:sp>
      <p:sp>
        <p:nvSpPr>
          <p:cNvPr id="22" name="stack rule"/>
          <p:cNvSpPr/>
          <p:nvPr/>
        </p:nvSpPr>
        <p:spPr>
          <a:xfrm>
            <a:off x="640080" y="5577840"/>
            <a:ext cx="10911535" cy="10973"/>
          </a:xfrm>
          <a:prstGeom prst="rect">
            <a:avLst/>
          </a:prstGeom>
          <a:solidFill>
            <a:srgbClr val="D6D6D2"/>
          </a:solidFill>
          <a:ln w="12700">
            <a:solidFill>
              <a:srgbClr val="D6D6D2"/>
            </a:solidFill>
            <a:prstDash val="solid"/>
          </a:ln>
        </p:spPr>
      </p:sp>
      <p:sp>
        <p:nvSpPr>
          <p:cNvPr id="23" name="Text 21"/>
          <p:cNvSpPr txBox="1"/>
          <p:nvPr/>
        </p:nvSpPr>
        <p:spPr>
          <a:xfrm>
            <a:off x="640080" y="5715000"/>
            <a:ext cx="10911535" cy="32004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MONGODB ATLAS · VOYAGE AI voyage-4 · GOOGLE GEMINI · STREAMLIT</a:t>
            </a:r>
            <a:endParaRPr lang="en-US" sz="13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320040"/>
          </a:xfrm>
          <a:prstGeom prst="rect">
            <a:avLst/>
          </a:prstGeom>
          <a:noFill/>
          <a:ln/>
        </p:spPr>
        <p:txBody>
          <a:bodyPr wrap="square" lIns="0" tIns="0" rIns="0" bIns="0" rtlCol="0"/>
          <a:lstStyle/>
          <a:p>
            <a:pPr indent="0" marL="0">
              <a:buNone/>
            </a:pPr>
            <a:r>
              <a:rPr lang="en-US" sz="1300" dirty="0">
                <a:solidFill>
                  <a:schemeClr val="accent1"/>
                </a:solidFill>
                <a:latin typeface="Courier New" pitchFamily="34" charset="0"/>
                <a:ea typeface="Courier New" pitchFamily="34" charset="-122"/>
                <a:cs typeface="Courier New" pitchFamily="34" charset="-120"/>
              </a:rPr>
              <a:t>05 — MONGODB ATLAS</a:t>
            </a:r>
            <a:endParaRPr lang="en-US" sz="1300" dirty="0"/>
          </a:p>
        </p:txBody>
      </p:sp>
      <p:sp>
        <p:nvSpPr>
          <p:cNvPr id="3" name="Text 0"/>
          <p:cNvSpPr/>
          <p:nvPr>
            <p:ph idx="101" type="title" hasCustomPrompt="1"/>
          </p:nvPr>
        </p:nvSpPr>
        <p:spPr>
          <a:xfrm>
            <a:off x="640080" y="822960"/>
            <a:ext cx="10911535" cy="914400"/>
          </a:xfrm>
          <a:prstGeom prst="rect">
            <a:avLst/>
          </a:prstGeom>
          <a:noFill/>
          <a:ln/>
        </p:spPr>
        <p:txBody>
          <a:bodyPr wrap="square" lIns="0" tIns="0" rIns="0" bIns="0" rtlCol="0" anchor="t"/>
          <a:lstStyle/>
          <a:p>
            <a:pPr algn="l" indent="0" marL="0">
              <a:buNone/>
            </a:pPr>
            <a:r>
              <a:rPr lang="en-US" sz="3600" b="1" dirty="0">
                <a:solidFill>
                  <a:schemeClr val="tx1"/>
                </a:solidFill>
              </a:rPr>
              <a:t>One database does the heavy lifting</a:t>
            </a:r>
            <a:endParaRPr lang="en-US" sz="3600" dirty="0"/>
          </a:p>
        </p:txBody>
      </p:sp>
      <p:sp>
        <p:nvSpPr>
          <p:cNvPr id="4" name="rule Everything in one place"/>
          <p:cNvSpPr/>
          <p:nvPr/>
        </p:nvSpPr>
        <p:spPr>
          <a:xfrm>
            <a:off x="640080" y="2011680"/>
            <a:ext cx="3429000" cy="10973"/>
          </a:xfrm>
          <a:prstGeom prst="rect">
            <a:avLst/>
          </a:prstGeom>
          <a:solidFill>
            <a:srgbClr val="111111"/>
          </a:solidFill>
          <a:ln w="12700">
            <a:solidFill>
              <a:srgbClr val="111111"/>
            </a:solidFill>
            <a:prstDash val="solid"/>
          </a:ln>
        </p:spPr>
      </p:sp>
      <p:sp>
        <p:nvSpPr>
          <p:cNvPr id="5" name="Text 3"/>
          <p:cNvSpPr txBox="1"/>
          <p:nvPr/>
        </p:nvSpPr>
        <p:spPr>
          <a:xfrm>
            <a:off x="640080" y="2148840"/>
            <a:ext cx="3429000" cy="32004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sources + chunks</a:t>
            </a:r>
            <a:endParaRPr lang="en-US" sz="1300" dirty="0"/>
          </a:p>
        </p:txBody>
      </p:sp>
      <p:sp>
        <p:nvSpPr>
          <p:cNvPr id="6" name="Text 4"/>
          <p:cNvSpPr txBox="1"/>
          <p:nvPr/>
        </p:nvSpPr>
        <p:spPr>
          <a:xfrm>
            <a:off x="640080" y="2514600"/>
            <a:ext cx="3429000" cy="411480"/>
          </a:xfrm>
          <a:prstGeom prst="rect">
            <a:avLst/>
          </a:prstGeom>
          <a:noFill/>
          <a:ln/>
        </p:spPr>
        <p:txBody>
          <a:bodyPr wrap="square" lIns="0" tIns="0" rIns="0" bIns="0" rtlCol="0" anchor="t"/>
          <a:lstStyle/>
          <a:p>
            <a:pPr indent="0" marL="0">
              <a:buNone/>
            </a:pPr>
            <a:r>
              <a:rPr lang="en-US" sz="2000" b="1" dirty="0">
                <a:solidFill>
                  <a:schemeClr val="tx1"/>
                </a:solidFill>
              </a:rPr>
              <a:t>Everything in one place</a:t>
            </a:r>
            <a:endParaRPr lang="en-US" sz="2000" dirty="0"/>
          </a:p>
        </p:txBody>
      </p:sp>
      <p:sp>
        <p:nvSpPr>
          <p:cNvPr id="7" name="Text 5"/>
          <p:cNvSpPr txBox="1"/>
          <p:nvPr/>
        </p:nvSpPr>
        <p:spPr>
          <a:xfrm>
            <a:off x="640080" y="2971800"/>
            <a:ext cx="3337560" cy="868680"/>
          </a:xfrm>
          <a:prstGeom prst="rect">
            <a:avLst/>
          </a:prstGeom>
          <a:noFill/>
          <a:ln/>
        </p:spPr>
        <p:txBody>
          <a:bodyPr wrap="square" lIns="0" tIns="0" rIns="0" bIns="0" rtlCol="0" anchor="t"/>
          <a:lstStyle/>
          <a:p>
            <a:pPr indent="0" marL="0">
              <a:buNone/>
            </a:pPr>
            <a:r>
              <a:rPr lang="en-US" sz="1500" dirty="0">
                <a:solidFill>
                  <a:schemeClr val="tx2"/>
                </a:solidFill>
              </a:rPr>
              <a:t>Originals, chunks, embeddings, metadata and exact character offsets for highlighting.</a:t>
            </a:r>
            <a:endParaRPr lang="en-US" sz="1500" dirty="0"/>
          </a:p>
        </p:txBody>
      </p:sp>
      <p:sp>
        <p:nvSpPr>
          <p:cNvPr id="8" name="rule Search by meaning"/>
          <p:cNvSpPr/>
          <p:nvPr/>
        </p:nvSpPr>
        <p:spPr>
          <a:xfrm>
            <a:off x="4389120" y="2011680"/>
            <a:ext cx="3429000" cy="10973"/>
          </a:xfrm>
          <a:prstGeom prst="rect">
            <a:avLst/>
          </a:prstGeom>
          <a:solidFill>
            <a:srgbClr val="111111"/>
          </a:solidFill>
          <a:ln w="12700">
            <a:solidFill>
              <a:srgbClr val="111111"/>
            </a:solidFill>
            <a:prstDash val="solid"/>
          </a:ln>
        </p:spPr>
      </p:sp>
      <p:sp>
        <p:nvSpPr>
          <p:cNvPr id="9" name="Text 7"/>
          <p:cNvSpPr txBox="1"/>
          <p:nvPr/>
        </p:nvSpPr>
        <p:spPr>
          <a:xfrm>
            <a:off x="4389120" y="2148840"/>
            <a:ext cx="3429000" cy="32004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$vectorSearch</a:t>
            </a:r>
            <a:endParaRPr lang="en-US" sz="1300" dirty="0"/>
          </a:p>
        </p:txBody>
      </p:sp>
      <p:sp>
        <p:nvSpPr>
          <p:cNvPr id="10" name="Text 8"/>
          <p:cNvSpPr txBox="1"/>
          <p:nvPr/>
        </p:nvSpPr>
        <p:spPr>
          <a:xfrm>
            <a:off x="4389120" y="2514600"/>
            <a:ext cx="3429000" cy="411480"/>
          </a:xfrm>
          <a:prstGeom prst="rect">
            <a:avLst/>
          </a:prstGeom>
          <a:noFill/>
          <a:ln/>
        </p:spPr>
        <p:txBody>
          <a:bodyPr wrap="square" lIns="0" tIns="0" rIns="0" bIns="0" rtlCol="0" anchor="t"/>
          <a:lstStyle/>
          <a:p>
            <a:pPr indent="0" marL="0">
              <a:buNone/>
            </a:pPr>
            <a:r>
              <a:rPr lang="en-US" sz="2000" b="1" dirty="0">
                <a:solidFill>
                  <a:schemeClr val="tx1"/>
                </a:solidFill>
              </a:rPr>
              <a:t>Search by meaning</a:t>
            </a:r>
            <a:endParaRPr lang="en-US" sz="2000" dirty="0"/>
          </a:p>
        </p:txBody>
      </p:sp>
      <p:sp>
        <p:nvSpPr>
          <p:cNvPr id="11" name="Text 9"/>
          <p:cNvSpPr txBox="1"/>
          <p:nvPr/>
        </p:nvSpPr>
        <p:spPr>
          <a:xfrm>
            <a:off x="4389120" y="2971800"/>
            <a:ext cx="3337560" cy="868680"/>
          </a:xfrm>
          <a:prstGeom prst="rect">
            <a:avLst/>
          </a:prstGeom>
          <a:noFill/>
          <a:ln/>
        </p:spPr>
        <p:txBody>
          <a:bodyPr wrap="square" lIns="0" tIns="0" rIns="0" bIns="0" rtlCol="0" anchor="t"/>
          <a:lstStyle/>
          <a:p>
            <a:pPr indent="0" marL="0">
              <a:buNone/>
            </a:pPr>
            <a:r>
              <a:rPr lang="en-US" sz="1500" dirty="0">
                <a:solidFill>
                  <a:schemeClr val="tx2"/>
                </a:solidFill>
              </a:rPr>
              <a:t>1024-number voyage-4 embeddings with cosine similarity.</a:t>
            </a:r>
            <a:endParaRPr lang="en-US" sz="1500" dirty="0"/>
          </a:p>
        </p:txBody>
      </p:sp>
      <p:sp>
        <p:nvSpPr>
          <p:cNvPr id="12" name="rule Metadata pre-filters"/>
          <p:cNvSpPr/>
          <p:nvPr/>
        </p:nvSpPr>
        <p:spPr>
          <a:xfrm>
            <a:off x="8138160" y="2011680"/>
            <a:ext cx="3429000" cy="10973"/>
          </a:xfrm>
          <a:prstGeom prst="rect">
            <a:avLst/>
          </a:prstGeom>
          <a:solidFill>
            <a:srgbClr val="111111"/>
          </a:solidFill>
          <a:ln w="12700">
            <a:solidFill>
              <a:srgbClr val="111111"/>
            </a:solidFill>
            <a:prstDash val="solid"/>
          </a:ln>
        </p:spPr>
      </p:sp>
      <p:sp>
        <p:nvSpPr>
          <p:cNvPr id="13" name="Text 11"/>
          <p:cNvSpPr txBox="1"/>
          <p:nvPr/>
        </p:nvSpPr>
        <p:spPr>
          <a:xfrm>
            <a:off x="8138160" y="2148840"/>
            <a:ext cx="3429000" cy="32004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filter: {...}</a:t>
            </a:r>
            <a:endParaRPr lang="en-US" sz="1300" dirty="0"/>
          </a:p>
        </p:txBody>
      </p:sp>
      <p:sp>
        <p:nvSpPr>
          <p:cNvPr id="14" name="Text 12"/>
          <p:cNvSpPr txBox="1"/>
          <p:nvPr/>
        </p:nvSpPr>
        <p:spPr>
          <a:xfrm>
            <a:off x="8138160" y="2514600"/>
            <a:ext cx="3429000" cy="411480"/>
          </a:xfrm>
          <a:prstGeom prst="rect">
            <a:avLst/>
          </a:prstGeom>
          <a:noFill/>
          <a:ln/>
        </p:spPr>
        <p:txBody>
          <a:bodyPr wrap="square" lIns="0" tIns="0" rIns="0" bIns="0" rtlCol="0" anchor="t"/>
          <a:lstStyle/>
          <a:p>
            <a:pPr indent="0" marL="0">
              <a:buNone/>
            </a:pPr>
            <a:r>
              <a:rPr lang="en-US" sz="2000" b="1" dirty="0">
                <a:solidFill>
                  <a:schemeClr val="tx1"/>
                </a:solidFill>
              </a:rPr>
              <a:t>Metadata pre-filters</a:t>
            </a:r>
            <a:endParaRPr lang="en-US" sz="2000" dirty="0"/>
          </a:p>
        </p:txBody>
      </p:sp>
      <p:sp>
        <p:nvSpPr>
          <p:cNvPr id="15" name="Text 13"/>
          <p:cNvSpPr txBox="1"/>
          <p:nvPr/>
        </p:nvSpPr>
        <p:spPr>
          <a:xfrm>
            <a:off x="8138160" y="2971800"/>
            <a:ext cx="3337560" cy="868680"/>
          </a:xfrm>
          <a:prstGeom prst="rect">
            <a:avLst/>
          </a:prstGeom>
          <a:noFill/>
          <a:ln/>
        </p:spPr>
        <p:txBody>
          <a:bodyPr wrap="square" lIns="0" tIns="0" rIns="0" bIns="0" rtlCol="0" anchor="t"/>
          <a:lstStyle/>
          <a:p>
            <a:pPr indent="0" marL="0">
              <a:buNone/>
            </a:pPr>
            <a:r>
              <a:rPr lang="en-US" sz="1500" dirty="0">
                <a:solidFill>
                  <a:schemeClr val="tx2"/>
                </a:solidFill>
              </a:rPr>
              <a:t>Type, date range, person and author applied inside the vector query.</a:t>
            </a:r>
            <a:endParaRPr lang="en-US" sz="1500" dirty="0"/>
          </a:p>
        </p:txBody>
      </p:sp>
      <p:sp>
        <p:nvSpPr>
          <p:cNvPr id="16" name="rule Exact words and codes"/>
          <p:cNvSpPr/>
          <p:nvPr/>
        </p:nvSpPr>
        <p:spPr>
          <a:xfrm>
            <a:off x="640080" y="4114800"/>
            <a:ext cx="3429000" cy="10973"/>
          </a:xfrm>
          <a:prstGeom prst="rect">
            <a:avLst/>
          </a:prstGeom>
          <a:solidFill>
            <a:srgbClr val="111111"/>
          </a:solidFill>
          <a:ln w="12700">
            <a:solidFill>
              <a:srgbClr val="111111"/>
            </a:solidFill>
            <a:prstDash val="solid"/>
          </a:ln>
        </p:spPr>
      </p:sp>
      <p:sp>
        <p:nvSpPr>
          <p:cNvPr id="17" name="Text 15"/>
          <p:cNvSpPr txBox="1"/>
          <p:nvPr/>
        </p:nvSpPr>
        <p:spPr>
          <a:xfrm>
            <a:off x="640080" y="4251960"/>
            <a:ext cx="3429000" cy="32004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$search</a:t>
            </a:r>
            <a:endParaRPr lang="en-US" sz="1300" dirty="0"/>
          </a:p>
        </p:txBody>
      </p:sp>
      <p:sp>
        <p:nvSpPr>
          <p:cNvPr id="18" name="Text 16"/>
          <p:cNvSpPr txBox="1"/>
          <p:nvPr/>
        </p:nvSpPr>
        <p:spPr>
          <a:xfrm>
            <a:off x="640080" y="4617720"/>
            <a:ext cx="3429000" cy="411480"/>
          </a:xfrm>
          <a:prstGeom prst="rect">
            <a:avLst/>
          </a:prstGeom>
          <a:noFill/>
          <a:ln/>
        </p:spPr>
        <p:txBody>
          <a:bodyPr wrap="square" lIns="0" tIns="0" rIns="0" bIns="0" rtlCol="0" anchor="t"/>
          <a:lstStyle/>
          <a:p>
            <a:pPr indent="0" marL="0">
              <a:buNone/>
            </a:pPr>
            <a:r>
              <a:rPr lang="en-US" sz="2000" b="1" dirty="0">
                <a:solidFill>
                  <a:schemeClr val="tx1"/>
                </a:solidFill>
              </a:rPr>
              <a:t>Exact words and codes</a:t>
            </a:r>
            <a:endParaRPr lang="en-US" sz="2000" dirty="0"/>
          </a:p>
        </p:txBody>
      </p:sp>
      <p:sp>
        <p:nvSpPr>
          <p:cNvPr id="19" name="Text 17"/>
          <p:cNvSpPr txBox="1"/>
          <p:nvPr/>
        </p:nvSpPr>
        <p:spPr>
          <a:xfrm>
            <a:off x="640080" y="5074920"/>
            <a:ext cx="3337560" cy="868680"/>
          </a:xfrm>
          <a:prstGeom prst="rect">
            <a:avLst/>
          </a:prstGeom>
          <a:noFill/>
          <a:ln/>
        </p:spPr>
        <p:txBody>
          <a:bodyPr wrap="square" lIns="0" tIns="0" rIns="0" bIns="0" rtlCol="0" anchor="t"/>
          <a:lstStyle/>
          <a:p>
            <a:pPr indent="0" marL="0">
              <a:buNone/>
            </a:pPr>
            <a:r>
              <a:rPr lang="en-US" sz="1500" dirty="0">
                <a:solidFill>
                  <a:schemeClr val="tx2"/>
                </a:solidFill>
              </a:rPr>
              <a:t>Atlas Search (BM25) with a phrase boost for IDs like 231-D-55120.</a:t>
            </a:r>
            <a:endParaRPr lang="en-US" sz="1500" dirty="0"/>
          </a:p>
        </p:txBody>
      </p:sp>
      <p:sp>
        <p:nvSpPr>
          <p:cNvPr id="20" name="rule Hybrid search"/>
          <p:cNvSpPr/>
          <p:nvPr/>
        </p:nvSpPr>
        <p:spPr>
          <a:xfrm>
            <a:off x="4389120" y="4114800"/>
            <a:ext cx="3429000" cy="10973"/>
          </a:xfrm>
          <a:prstGeom prst="rect">
            <a:avLst/>
          </a:prstGeom>
          <a:solidFill>
            <a:srgbClr val="111111"/>
          </a:solidFill>
          <a:ln w="12700">
            <a:solidFill>
              <a:srgbClr val="111111"/>
            </a:solidFill>
            <a:prstDash val="solid"/>
          </a:ln>
        </p:spPr>
      </p:sp>
      <p:sp>
        <p:nvSpPr>
          <p:cNvPr id="21" name="Text 19"/>
          <p:cNvSpPr txBox="1"/>
          <p:nvPr/>
        </p:nvSpPr>
        <p:spPr>
          <a:xfrm>
            <a:off x="4389120" y="4251960"/>
            <a:ext cx="3429000" cy="32004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RRF</a:t>
            </a:r>
            <a:endParaRPr lang="en-US" sz="1300" dirty="0"/>
          </a:p>
        </p:txBody>
      </p:sp>
      <p:sp>
        <p:nvSpPr>
          <p:cNvPr id="22" name="Text 20"/>
          <p:cNvSpPr txBox="1"/>
          <p:nvPr/>
        </p:nvSpPr>
        <p:spPr>
          <a:xfrm>
            <a:off x="4389120" y="4617720"/>
            <a:ext cx="3429000" cy="411480"/>
          </a:xfrm>
          <a:prstGeom prst="rect">
            <a:avLst/>
          </a:prstGeom>
          <a:noFill/>
          <a:ln/>
        </p:spPr>
        <p:txBody>
          <a:bodyPr wrap="square" lIns="0" tIns="0" rIns="0" bIns="0" rtlCol="0" anchor="t"/>
          <a:lstStyle/>
          <a:p>
            <a:pPr indent="0" marL="0">
              <a:buNone/>
            </a:pPr>
            <a:r>
              <a:rPr lang="en-US" sz="2000" b="1" dirty="0">
                <a:solidFill>
                  <a:schemeClr val="tx1"/>
                </a:solidFill>
              </a:rPr>
              <a:t>Hybrid search</a:t>
            </a:r>
            <a:endParaRPr lang="en-US" sz="2000" dirty="0"/>
          </a:p>
        </p:txBody>
      </p:sp>
      <p:sp>
        <p:nvSpPr>
          <p:cNvPr id="23" name="Text 21"/>
          <p:cNvSpPr txBox="1"/>
          <p:nvPr/>
        </p:nvSpPr>
        <p:spPr>
          <a:xfrm>
            <a:off x="4389120" y="5074920"/>
            <a:ext cx="3337560" cy="868680"/>
          </a:xfrm>
          <a:prstGeom prst="rect">
            <a:avLst/>
          </a:prstGeom>
          <a:noFill/>
          <a:ln/>
        </p:spPr>
        <p:txBody>
          <a:bodyPr wrap="square" lIns="0" tIns="0" rIns="0" bIns="0" rtlCol="0" anchor="t"/>
          <a:lstStyle/>
          <a:p>
            <a:pPr indent="0" marL="0">
              <a:buNone/>
            </a:pPr>
            <a:r>
              <a:rPr lang="en-US" sz="1500" dirty="0">
                <a:solidFill>
                  <a:schemeClr val="tx2"/>
                </a:solidFill>
              </a:rPr>
              <a:t>Both result lists fused; queries containing codes weight keywords x2.</a:t>
            </a:r>
            <a:endParaRPr lang="en-US" sz="1500" dirty="0"/>
          </a:p>
        </p:txBody>
      </p:sp>
      <p:sp>
        <p:nvSpPr>
          <p:cNvPr id="24" name="rule Instant repeat answers"/>
          <p:cNvSpPr/>
          <p:nvPr/>
        </p:nvSpPr>
        <p:spPr>
          <a:xfrm>
            <a:off x="8138160" y="4114800"/>
            <a:ext cx="3429000" cy="10973"/>
          </a:xfrm>
          <a:prstGeom prst="rect">
            <a:avLst/>
          </a:prstGeom>
          <a:solidFill>
            <a:srgbClr val="111111"/>
          </a:solidFill>
          <a:ln w="12700">
            <a:solidFill>
              <a:srgbClr val="111111"/>
            </a:solidFill>
            <a:prstDash val="solid"/>
          </a:ln>
        </p:spPr>
      </p:sp>
      <p:sp>
        <p:nvSpPr>
          <p:cNvPr id="25" name="Text 23"/>
          <p:cNvSpPr txBox="1"/>
          <p:nvPr/>
        </p:nvSpPr>
        <p:spPr>
          <a:xfrm>
            <a:off x="8138160" y="4251960"/>
            <a:ext cx="3429000" cy="32004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answer_cache</a:t>
            </a:r>
            <a:endParaRPr lang="en-US" sz="1300" dirty="0"/>
          </a:p>
        </p:txBody>
      </p:sp>
      <p:sp>
        <p:nvSpPr>
          <p:cNvPr id="26" name="Text 24"/>
          <p:cNvSpPr txBox="1"/>
          <p:nvPr/>
        </p:nvSpPr>
        <p:spPr>
          <a:xfrm>
            <a:off x="8138160" y="4617720"/>
            <a:ext cx="3429000" cy="411480"/>
          </a:xfrm>
          <a:prstGeom prst="rect">
            <a:avLst/>
          </a:prstGeom>
          <a:noFill/>
          <a:ln/>
        </p:spPr>
        <p:txBody>
          <a:bodyPr wrap="square" lIns="0" tIns="0" rIns="0" bIns="0" rtlCol="0" anchor="t"/>
          <a:lstStyle/>
          <a:p>
            <a:pPr indent="0" marL="0">
              <a:buNone/>
            </a:pPr>
            <a:r>
              <a:rPr lang="en-US" sz="2000" b="1" dirty="0">
                <a:solidFill>
                  <a:schemeClr val="tx1"/>
                </a:solidFill>
              </a:rPr>
              <a:t>Instant repeat answers</a:t>
            </a:r>
            <a:endParaRPr lang="en-US" sz="2000" dirty="0"/>
          </a:p>
        </p:txBody>
      </p:sp>
      <p:sp>
        <p:nvSpPr>
          <p:cNvPr id="27" name="Text 25"/>
          <p:cNvSpPr txBox="1"/>
          <p:nvPr/>
        </p:nvSpPr>
        <p:spPr>
          <a:xfrm>
            <a:off x="8138160" y="5074920"/>
            <a:ext cx="3337560" cy="868680"/>
          </a:xfrm>
          <a:prstGeom prst="rect">
            <a:avLst/>
          </a:prstGeom>
          <a:noFill/>
          <a:ln/>
        </p:spPr>
        <p:txBody>
          <a:bodyPr wrap="square" lIns="0" tIns="0" rIns="0" bIns="0" rtlCol="0" anchor="t"/>
          <a:lstStyle/>
          <a:p>
            <a:pPr indent="0" marL="0">
              <a:buNone/>
            </a:pPr>
            <a:r>
              <a:rPr lang="en-US" sz="1500" dirty="0">
                <a:solidFill>
                  <a:schemeClr val="tx2"/>
                </a:solidFill>
              </a:rPr>
              <a:t>Saved per question and reset automatically when documents change.</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320040"/>
          </a:xfrm>
          <a:prstGeom prst="rect">
            <a:avLst/>
          </a:prstGeom>
          <a:noFill/>
          <a:ln/>
        </p:spPr>
        <p:txBody>
          <a:bodyPr wrap="square" lIns="0" tIns="0" rIns="0" bIns="0" rtlCol="0"/>
          <a:lstStyle/>
          <a:p>
            <a:pPr indent="0" marL="0">
              <a:buNone/>
            </a:pPr>
            <a:r>
              <a:rPr lang="en-US" sz="1300" dirty="0">
                <a:solidFill>
                  <a:schemeClr val="accent1"/>
                </a:solidFill>
                <a:latin typeface="Courier New" pitchFamily="34" charset="0"/>
                <a:ea typeface="Courier New" pitchFamily="34" charset="-122"/>
                <a:cs typeface="Courier New" pitchFamily="34" charset="-120"/>
              </a:rPr>
              <a:t>06 — RETRIEVAL, MEASURED</a:t>
            </a:r>
            <a:endParaRPr lang="en-US" sz="1300" dirty="0"/>
          </a:p>
        </p:txBody>
      </p:sp>
      <p:sp>
        <p:nvSpPr>
          <p:cNvPr id="3" name="Text 0"/>
          <p:cNvSpPr/>
          <p:nvPr>
            <p:ph idx="101" type="title" hasCustomPrompt="1"/>
          </p:nvPr>
        </p:nvSpPr>
        <p:spPr>
          <a:xfrm>
            <a:off x="640080" y="822960"/>
            <a:ext cx="10911535" cy="914400"/>
          </a:xfrm>
          <a:prstGeom prst="rect">
            <a:avLst/>
          </a:prstGeom>
          <a:noFill/>
          <a:ln/>
        </p:spPr>
        <p:txBody>
          <a:bodyPr wrap="square" lIns="0" tIns="0" rIns="0" bIns="0" rtlCol="0" anchor="t"/>
          <a:lstStyle/>
          <a:p>
            <a:pPr algn="l" indent="0" marL="0">
              <a:buNone/>
            </a:pPr>
            <a:r>
              <a:rPr lang="en-US" sz="3600" b="1" dirty="0">
                <a:solidFill>
                  <a:schemeClr val="tx1"/>
                </a:solidFill>
              </a:rPr>
              <a:t>We scored every search choice on 20 questions</a:t>
            </a:r>
            <a:endParaRPr lang="en-US" sz="3600" dirty="0"/>
          </a:p>
        </p:txBody>
      </p:sp>
      <p:graphicFrame>
        <p:nvGraphicFramePr>
          <p:cNvPr id="4" name="recall chart" descr=""/>
          <p:cNvGraphicFramePr/>
          <p:nvPr/>
        </p:nvGraphicFramePr>
        <p:xfrm>
          <a:off x="548640" y="1828800"/>
          <a:ext cx="6675120" cy="4297680"/>
        </p:xfrm>
        <a:graphic xmlns:a="http://schemas.openxmlformats.org/drawingml/2006/main">
          <a:graphicData uri="http://schemas.openxmlformats.org/drawingml/2006/chart">
            <c:chart xmlns:c="http://schemas.openxmlformats.org/drawingml/2006/chart" r:id="rId1"/>
          </a:graphicData>
        </a:graphic>
      </p:graphicFrame>
      <p:sp>
        <p:nvSpPr>
          <p:cNvPr id="5" name="callout rule 1"/>
          <p:cNvSpPr/>
          <p:nvPr/>
        </p:nvSpPr>
        <p:spPr>
          <a:xfrm>
            <a:off x="7589520" y="1920240"/>
            <a:ext cx="3962095" cy="10973"/>
          </a:xfrm>
          <a:prstGeom prst="rect">
            <a:avLst/>
          </a:prstGeom>
          <a:solidFill>
            <a:srgbClr val="D6D6D2"/>
          </a:solidFill>
          <a:ln w="12700">
            <a:solidFill>
              <a:srgbClr val="D6D6D2"/>
            </a:solidFill>
            <a:prstDash val="solid"/>
          </a:ln>
        </p:spPr>
      </p:sp>
      <p:sp>
        <p:nvSpPr>
          <p:cNvPr id="6" name="Text 3"/>
          <p:cNvSpPr txBox="1"/>
          <p:nvPr/>
        </p:nvSpPr>
        <p:spPr>
          <a:xfrm>
            <a:off x="7589520" y="2029968"/>
            <a:ext cx="1783080" cy="731520"/>
          </a:xfrm>
          <a:prstGeom prst="rect">
            <a:avLst/>
          </a:prstGeom>
          <a:noFill/>
          <a:ln/>
        </p:spPr>
        <p:txBody>
          <a:bodyPr wrap="square" lIns="0" tIns="0" rIns="0" bIns="0" rtlCol="0" anchor="t"/>
          <a:lstStyle/>
          <a:p>
            <a:pPr indent="0" marL="0">
              <a:buNone/>
            </a:pPr>
            <a:r>
              <a:rPr lang="en-US" sz="4000" b="1" dirty="0">
                <a:solidFill>
                  <a:schemeClr val="accent1"/>
                </a:solidFill>
              </a:rPr>
              <a:t>0.85</a:t>
            </a:r>
            <a:endParaRPr lang="en-US" sz="4000" dirty="0"/>
          </a:p>
        </p:txBody>
      </p:sp>
      <p:sp>
        <p:nvSpPr>
          <p:cNvPr id="7" name="Text 4"/>
          <p:cNvSpPr txBox="1"/>
          <p:nvPr/>
        </p:nvSpPr>
        <p:spPr>
          <a:xfrm>
            <a:off x="9418320" y="2103120"/>
            <a:ext cx="2133295" cy="1005840"/>
          </a:xfrm>
          <a:prstGeom prst="rect">
            <a:avLst/>
          </a:prstGeom>
          <a:noFill/>
          <a:ln/>
        </p:spPr>
        <p:txBody>
          <a:bodyPr wrap="square" lIns="0" tIns="0" rIns="0" bIns="0" rtlCol="0" anchor="t"/>
          <a:lstStyle/>
          <a:p>
            <a:pPr indent="0" marL="0">
              <a:buNone/>
            </a:pPr>
            <a:r>
              <a:rPr lang="en-US" sz="1500" dirty="0">
                <a:solidFill>
                  <a:schemeClr val="tx2"/>
                </a:solidFill>
              </a:rPr>
              <a:t>MRR: hybrid ranks the right source highest</a:t>
            </a:r>
            <a:endParaRPr lang="en-US" sz="1500" dirty="0"/>
          </a:p>
        </p:txBody>
      </p:sp>
      <p:sp>
        <p:nvSpPr>
          <p:cNvPr id="8" name="callout rule 2"/>
          <p:cNvSpPr/>
          <p:nvPr/>
        </p:nvSpPr>
        <p:spPr>
          <a:xfrm>
            <a:off x="7589520" y="3337560"/>
            <a:ext cx="3962095" cy="10973"/>
          </a:xfrm>
          <a:prstGeom prst="rect">
            <a:avLst/>
          </a:prstGeom>
          <a:solidFill>
            <a:srgbClr val="D6D6D2"/>
          </a:solidFill>
          <a:ln w="12700">
            <a:solidFill>
              <a:srgbClr val="D6D6D2"/>
            </a:solidFill>
            <a:prstDash val="solid"/>
          </a:ln>
        </p:spPr>
      </p:sp>
      <p:sp>
        <p:nvSpPr>
          <p:cNvPr id="9" name="Text 6"/>
          <p:cNvSpPr txBox="1"/>
          <p:nvPr/>
        </p:nvSpPr>
        <p:spPr>
          <a:xfrm>
            <a:off x="7589520" y="3447288"/>
            <a:ext cx="1783080" cy="731520"/>
          </a:xfrm>
          <a:prstGeom prst="rect">
            <a:avLst/>
          </a:prstGeom>
          <a:noFill/>
          <a:ln/>
        </p:spPr>
        <p:txBody>
          <a:bodyPr wrap="square" lIns="0" tIns="0" rIns="0" bIns="0" rtlCol="0" anchor="t"/>
          <a:lstStyle/>
          <a:p>
            <a:pPr indent="0" marL="0">
              <a:buNone/>
            </a:pPr>
            <a:r>
              <a:rPr lang="en-US" sz="4000" b="1" dirty="0">
                <a:solidFill>
                  <a:schemeClr val="tx1"/>
                </a:solidFill>
              </a:rPr>
              <a:t>90%</a:t>
            </a:r>
            <a:endParaRPr lang="en-US" sz="4000" dirty="0"/>
          </a:p>
        </p:txBody>
      </p:sp>
      <p:sp>
        <p:nvSpPr>
          <p:cNvPr id="10" name="Text 7"/>
          <p:cNvSpPr txBox="1"/>
          <p:nvPr/>
        </p:nvSpPr>
        <p:spPr>
          <a:xfrm>
            <a:off x="9418320" y="3520440"/>
            <a:ext cx="2133295" cy="1005840"/>
          </a:xfrm>
          <a:prstGeom prst="rect">
            <a:avLst/>
          </a:prstGeom>
          <a:noFill/>
          <a:ln/>
        </p:spPr>
        <p:txBody>
          <a:bodyPr wrap="square" lIns="0" tIns="0" rIns="0" bIns="0" rtlCol="0" anchor="t"/>
          <a:lstStyle/>
          <a:p>
            <a:pPr indent="0" marL="0">
              <a:buNone/>
            </a:pPr>
            <a:r>
              <a:rPr lang="en-US" sz="1500" dirty="0">
                <a:solidFill>
                  <a:schemeClr val="tx2"/>
                </a:solidFill>
              </a:rPr>
              <a:t>of expected sources found with 10 sources, so the AI gets 10</a:t>
            </a:r>
            <a:endParaRPr lang="en-US" sz="1500" dirty="0"/>
          </a:p>
        </p:txBody>
      </p:sp>
      <p:sp>
        <p:nvSpPr>
          <p:cNvPr id="11" name="callout rule 3"/>
          <p:cNvSpPr/>
          <p:nvPr/>
        </p:nvSpPr>
        <p:spPr>
          <a:xfrm>
            <a:off x="7589520" y="4754880"/>
            <a:ext cx="3962095" cy="10973"/>
          </a:xfrm>
          <a:prstGeom prst="rect">
            <a:avLst/>
          </a:prstGeom>
          <a:solidFill>
            <a:srgbClr val="D6D6D2"/>
          </a:solidFill>
          <a:ln w="12700">
            <a:solidFill>
              <a:srgbClr val="D6D6D2"/>
            </a:solidFill>
            <a:prstDash val="solid"/>
          </a:ln>
        </p:spPr>
      </p:sp>
      <p:sp>
        <p:nvSpPr>
          <p:cNvPr id="12" name="Text 9"/>
          <p:cNvSpPr txBox="1"/>
          <p:nvPr/>
        </p:nvSpPr>
        <p:spPr>
          <a:xfrm>
            <a:off x="7589520" y="4864608"/>
            <a:ext cx="1783080" cy="731520"/>
          </a:xfrm>
          <a:prstGeom prst="rect">
            <a:avLst/>
          </a:prstGeom>
          <a:noFill/>
          <a:ln/>
        </p:spPr>
        <p:txBody>
          <a:bodyPr wrap="square" lIns="0" tIns="0" rIns="0" bIns="0" rtlCol="0" anchor="t"/>
          <a:lstStyle/>
          <a:p>
            <a:pPr indent="0" marL="0">
              <a:buNone/>
            </a:pPr>
            <a:r>
              <a:rPr lang="en-US" sz="4000" b="1" dirty="0">
                <a:solidFill>
                  <a:schemeClr val="tx1"/>
                </a:solidFill>
              </a:rPr>
              <a:t>100%</a:t>
            </a:r>
            <a:endParaRPr lang="en-US" sz="4000" dirty="0"/>
          </a:p>
        </p:txBody>
      </p:sp>
      <p:sp>
        <p:nvSpPr>
          <p:cNvPr id="13" name="Text 10"/>
          <p:cNvSpPr txBox="1"/>
          <p:nvPr/>
        </p:nvSpPr>
        <p:spPr>
          <a:xfrm>
            <a:off x="9418320" y="4937760"/>
            <a:ext cx="2133295" cy="1005840"/>
          </a:xfrm>
          <a:prstGeom prst="rect">
            <a:avLst/>
          </a:prstGeom>
          <a:noFill/>
          <a:ln/>
        </p:spPr>
        <p:txBody>
          <a:bodyPr wrap="square" lIns="0" tIns="0" rIns="0" bIns="0" rtlCol="0" anchor="t"/>
          <a:lstStyle/>
          <a:p>
            <a:pPr indent="0" marL="0">
              <a:buNone/>
            </a:pPr>
            <a:r>
              <a:rPr lang="en-US" sz="1500" dirty="0">
                <a:solidFill>
                  <a:schemeClr val="tx2"/>
                </a:solidFill>
              </a:rPr>
              <a:t>of questions find a right source in the top 5</a:t>
            </a:r>
            <a:endParaRPr lang="en-US" sz="15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320040"/>
          </a:xfrm>
          <a:prstGeom prst="rect">
            <a:avLst/>
          </a:prstGeom>
          <a:noFill/>
          <a:ln/>
        </p:spPr>
        <p:txBody>
          <a:bodyPr wrap="square" lIns="0" tIns="0" rIns="0" bIns="0" rtlCol="0"/>
          <a:lstStyle/>
          <a:p>
            <a:pPr indent="0" marL="0">
              <a:buNone/>
            </a:pPr>
            <a:r>
              <a:rPr lang="en-US" sz="1300" dirty="0">
                <a:solidFill>
                  <a:schemeClr val="accent1"/>
                </a:solidFill>
                <a:latin typeface="Courier New" pitchFamily="34" charset="0"/>
                <a:ea typeface="Courier New" pitchFamily="34" charset="-122"/>
                <a:cs typeface="Courier New" pitchFamily="34" charset="-120"/>
              </a:rPr>
              <a:t>07 — HONESTY, MEASURED</a:t>
            </a:r>
            <a:endParaRPr lang="en-US" sz="1300" dirty="0"/>
          </a:p>
        </p:txBody>
      </p:sp>
      <p:sp>
        <p:nvSpPr>
          <p:cNvPr id="3" name="Text 0"/>
          <p:cNvSpPr/>
          <p:nvPr>
            <p:ph idx="101" type="title" hasCustomPrompt="1"/>
          </p:nvPr>
        </p:nvSpPr>
        <p:spPr>
          <a:xfrm>
            <a:off x="640080" y="822960"/>
            <a:ext cx="10911535" cy="914400"/>
          </a:xfrm>
          <a:prstGeom prst="rect">
            <a:avLst/>
          </a:prstGeom>
          <a:noFill/>
          <a:ln/>
        </p:spPr>
        <p:txBody>
          <a:bodyPr wrap="square" lIns="0" tIns="0" rIns="0" bIns="0" rtlCol="0" anchor="t"/>
          <a:lstStyle/>
          <a:p>
            <a:pPr algn="l" indent="0" marL="0">
              <a:buNone/>
            </a:pPr>
            <a:r>
              <a:rPr lang="en-US" sz="3600" b="1" dirty="0">
                <a:solidFill>
                  <a:schemeClr val="tx1"/>
                </a:solidFill>
              </a:rPr>
              <a:t>The code decides the verdict, not the AI</a:t>
            </a:r>
            <a:endParaRPr lang="en-US" sz="3600" dirty="0"/>
          </a:p>
        </p:txBody>
      </p:sp>
      <p:sp>
        <p:nvSpPr>
          <p:cNvPr id="4" name="verdict panel"/>
          <p:cNvSpPr/>
          <p:nvPr/>
        </p:nvSpPr>
        <p:spPr>
          <a:xfrm>
            <a:off x="640080" y="1920240"/>
            <a:ext cx="5120640" cy="4114800"/>
          </a:xfrm>
          <a:prstGeom prst="rect">
            <a:avLst/>
          </a:prstGeom>
          <a:solidFill>
            <a:schemeClr val="tx1"/>
          </a:solidFill>
          <a:ln w="12700">
            <a:solidFill>
              <a:schemeClr val="tx1"/>
            </a:solidFill>
            <a:prstDash val="solid"/>
          </a:ln>
        </p:spPr>
      </p:sp>
      <p:sp>
        <p:nvSpPr>
          <p:cNvPr id="5" name="Text 3"/>
          <p:cNvSpPr txBox="1"/>
          <p:nvPr/>
        </p:nvSpPr>
        <p:spPr>
          <a:xfrm>
            <a:off x="1005840" y="2194560"/>
            <a:ext cx="4480560" cy="320040"/>
          </a:xfrm>
          <a:prstGeom prst="rect">
            <a:avLst/>
          </a:prstGeom>
          <a:noFill/>
          <a:ln/>
        </p:spPr>
        <p:txBody>
          <a:bodyPr wrap="square" lIns="0" tIns="0" rIns="0" bIns="0" rtlCol="0" anchor="t"/>
          <a:lstStyle/>
          <a:p>
            <a:pPr indent="0" marL="0">
              <a:buNone/>
            </a:pPr>
            <a:r>
              <a:rPr lang="en-US" sz="1200" dirty="0">
                <a:solidFill>
                  <a:schemeClr val="accent3"/>
                </a:solidFill>
                <a:latin typeface="Courier New" pitchFamily="34" charset="0"/>
                <a:ea typeface="Courier New" pitchFamily="34" charset="-122"/>
                <a:cs typeface="Courier New" pitchFamily="34" charset="-120"/>
              </a:rPr>
              <a:t>CORRECT VERDICTS ON 7 HONESTY QUESTIONS</a:t>
            </a:r>
            <a:endParaRPr lang="en-US" sz="1200" dirty="0"/>
          </a:p>
        </p:txBody>
      </p:sp>
      <p:sp>
        <p:nvSpPr>
          <p:cNvPr id="6" name="Text 4"/>
          <p:cNvSpPr txBox="1"/>
          <p:nvPr/>
        </p:nvSpPr>
        <p:spPr>
          <a:xfrm>
            <a:off x="1005840" y="2606040"/>
            <a:ext cx="4480560" cy="1188720"/>
          </a:xfrm>
          <a:prstGeom prst="rect">
            <a:avLst/>
          </a:prstGeom>
          <a:noFill/>
          <a:ln/>
        </p:spPr>
        <p:txBody>
          <a:bodyPr wrap="square" lIns="0" tIns="0" rIns="0" bIns="0" rtlCol="0" anchor="t"/>
          <a:lstStyle/>
          <a:p>
            <a:pPr indent="0" marL="0">
              <a:buNone/>
            </a:pPr>
            <a:r>
              <a:rPr lang="en-US" sz="8000" b="1" dirty="0">
                <a:solidFill>
                  <a:schemeClr val="accent3"/>
                </a:solidFill>
              </a:rPr>
              <a:t>1/7</a:t>
            </a:r>
            <a:endParaRPr lang="en-US" sz="8000" dirty="0"/>
          </a:p>
        </p:txBody>
      </p:sp>
      <p:sp>
        <p:nvSpPr>
          <p:cNvPr id="7" name="Text 5"/>
          <p:cNvSpPr txBox="1"/>
          <p:nvPr/>
        </p:nvSpPr>
        <p:spPr>
          <a:xfrm>
            <a:off x="1005840" y="3749040"/>
            <a:ext cx="4480560" cy="274320"/>
          </a:xfrm>
          <a:prstGeom prst="rect">
            <a:avLst/>
          </a:prstGeom>
          <a:noFill/>
          <a:ln/>
        </p:spPr>
        <p:txBody>
          <a:bodyPr wrap="square" lIns="0" tIns="0" rIns="0" bIns="0" rtlCol="0" anchor="t"/>
          <a:lstStyle/>
          <a:p>
            <a:pPr indent="0" marL="0">
              <a:buNone/>
            </a:pPr>
            <a:r>
              <a:rPr lang="en-US" sz="1200" dirty="0">
                <a:solidFill>
                  <a:schemeClr val="accent3"/>
                </a:solidFill>
                <a:latin typeface="Courier New" pitchFamily="34" charset="0"/>
                <a:ea typeface="Courier New" pitchFamily="34" charset="-122"/>
                <a:cs typeface="Courier New" pitchFamily="34" charset="-120"/>
              </a:rPr>
              <a:t>AI PICKS ITS OWN VERDICT</a:t>
            </a:r>
            <a:endParaRPr lang="en-US" sz="1200" dirty="0"/>
          </a:p>
        </p:txBody>
      </p:sp>
      <p:sp>
        <p:nvSpPr>
          <p:cNvPr id="8" name="Text 6"/>
          <p:cNvSpPr txBox="1"/>
          <p:nvPr/>
        </p:nvSpPr>
        <p:spPr>
          <a:xfrm>
            <a:off x="1005840" y="4160520"/>
            <a:ext cx="4480560" cy="1188720"/>
          </a:xfrm>
          <a:prstGeom prst="rect">
            <a:avLst/>
          </a:prstGeom>
          <a:noFill/>
          <a:ln/>
        </p:spPr>
        <p:txBody>
          <a:bodyPr wrap="square" lIns="0" tIns="0" rIns="0" bIns="0" rtlCol="0" anchor="t"/>
          <a:lstStyle/>
          <a:p>
            <a:pPr indent="0" marL="0">
              <a:buNone/>
            </a:pPr>
            <a:r>
              <a:rPr lang="en-US" sz="8000" b="1" dirty="0">
                <a:solidFill>
                  <a:schemeClr val="accent1"/>
                </a:solidFill>
              </a:rPr>
              <a:t>6/7</a:t>
            </a:r>
            <a:endParaRPr lang="en-US" sz="8000" dirty="0"/>
          </a:p>
        </p:txBody>
      </p:sp>
      <p:sp>
        <p:nvSpPr>
          <p:cNvPr id="9" name="Text 7"/>
          <p:cNvSpPr txBox="1"/>
          <p:nvPr/>
        </p:nvSpPr>
        <p:spPr>
          <a:xfrm>
            <a:off x="1005840" y="5303520"/>
            <a:ext cx="4480560" cy="274320"/>
          </a:xfrm>
          <a:prstGeom prst="rect">
            <a:avLst/>
          </a:prstGeom>
          <a:noFill/>
          <a:ln/>
        </p:spPr>
        <p:txBody>
          <a:bodyPr wrap="square" lIns="0" tIns="0" rIns="0" bIns="0" rtlCol="0" anchor="t"/>
          <a:lstStyle/>
          <a:p>
            <a:pPr indent="0" marL="0">
              <a:buNone/>
            </a:pPr>
            <a:r>
              <a:rPr lang="en-US" sz="1200" b="1" dirty="0">
                <a:solidFill>
                  <a:schemeClr val="bg1"/>
                </a:solidFill>
                <a:latin typeface="Courier New" pitchFamily="34" charset="0"/>
                <a:ea typeface="Courier New" pitchFamily="34" charset="-122"/>
                <a:cs typeface="Courier New" pitchFamily="34" charset="-120"/>
              </a:rPr>
              <a:t>CODE PICKS THE VERDICT</a:t>
            </a:r>
            <a:endParaRPr lang="en-US" sz="1200" dirty="0"/>
          </a:p>
        </p:txBody>
      </p:sp>
      <p:sp>
        <p:nvSpPr>
          <p:cNvPr id="10" name="Text 8"/>
          <p:cNvSpPr txBox="1"/>
          <p:nvPr/>
        </p:nvSpPr>
        <p:spPr>
          <a:xfrm>
            <a:off x="6309360" y="1920240"/>
            <a:ext cx="5242255" cy="411480"/>
          </a:xfrm>
          <a:prstGeom prst="rect">
            <a:avLst/>
          </a:prstGeom>
          <a:noFill/>
          <a:ln/>
        </p:spPr>
        <p:txBody>
          <a:bodyPr wrap="square" lIns="0" tIns="0" rIns="0" bIns="0" rtlCol="0" anchor="t"/>
          <a:lstStyle/>
          <a:p>
            <a:pPr indent="0" marL="0">
              <a:buNone/>
            </a:pPr>
            <a:r>
              <a:rPr lang="en-US" sz="2000" b="1" dirty="0">
                <a:solidFill>
                  <a:schemeClr val="tx1"/>
                </a:solidFill>
              </a:rPr>
              <a:t>Why not a score threshold?</a:t>
            </a:r>
            <a:endParaRPr lang="en-US" sz="2000" dirty="0"/>
          </a:p>
        </p:txBody>
      </p:sp>
      <p:sp>
        <p:nvSpPr>
          <p:cNvPr id="11" name="Text 9"/>
          <p:cNvSpPr txBox="1"/>
          <p:nvPr/>
        </p:nvSpPr>
        <p:spPr>
          <a:xfrm>
            <a:off x="6309360" y="2377440"/>
            <a:ext cx="5242255" cy="1371600"/>
          </a:xfrm>
          <a:prstGeom prst="rect">
            <a:avLst/>
          </a:prstGeom>
          <a:noFill/>
          <a:ln/>
        </p:spPr>
        <p:txBody>
          <a:bodyPr wrap="square" lIns="0" tIns="0" rIns="0" bIns="0" rtlCol="0" anchor="t"/>
          <a:lstStyle/>
          <a:p>
            <a:pPr indent="0" marL="0">
              <a:buNone/>
            </a:pPr>
            <a:r>
              <a:rPr lang="en-US" sz="1600" dirty="0">
                <a:solidFill>
                  <a:schemeClr val="tx2"/>
                </a:solidFill>
              </a:rPr>
              <a:t>Unanswerable questions scored 0.74-0.82, higher than many answerable ones. So the AI only reports which parts it could answer and every conflict it saw; fixed rules decide the label.</a:t>
            </a:r>
            <a:endParaRPr lang="en-US" sz="1600" dirty="0"/>
          </a:p>
        </p:txBody>
      </p:sp>
      <p:sp>
        <p:nvSpPr>
          <p:cNvPr id="12" name="Text 10"/>
          <p:cNvSpPr txBox="1"/>
          <p:nvPr/>
        </p:nvSpPr>
        <p:spPr>
          <a:xfrm>
            <a:off x="6309360" y="4023360"/>
            <a:ext cx="2651760" cy="365760"/>
          </a:xfrm>
          <a:prstGeom prst="rect">
            <a:avLst/>
          </a:prstGeom>
          <a:noFill/>
          <a:ln/>
        </p:spPr>
        <p:txBody>
          <a:bodyPr wrap="square" lIns="0" tIns="0" rIns="0" bIns="0" rtlCol="0" anchor="t"/>
          <a:lstStyle/>
          <a:p>
            <a:pPr indent="0" marL="0">
              <a:buNone/>
            </a:pPr>
            <a:endParaRPr lang="en-US" sz="1200" dirty="0"/>
          </a:p>
        </p:txBody>
      </p:sp>
      <p:sp>
        <p:nvSpPr>
          <p:cNvPr id="13" name="Text 11"/>
          <p:cNvSpPr txBox="1"/>
          <p:nvPr/>
        </p:nvSpPr>
        <p:spPr>
          <a:xfrm>
            <a:off x="9052560" y="4023360"/>
            <a:ext cx="1188720" cy="365760"/>
          </a:xfrm>
          <a:prstGeom prst="rect">
            <a:avLst/>
          </a:prstGeom>
          <a:noFill/>
          <a:ln/>
        </p:spPr>
        <p:txBody>
          <a:bodyPr wrap="square" lIns="0" tIns="0" rIns="0" bIns="0" rtlCol="0" anchor="t"/>
          <a:lstStyle/>
          <a:p>
            <a:pPr algn="r" indent="0" marL="0">
              <a:buNone/>
            </a:pPr>
            <a:r>
              <a:rPr lang="en-US" sz="1200" dirty="0">
                <a:solidFill>
                  <a:schemeClr val="tx2"/>
                </a:solidFill>
                <a:latin typeface="Courier New" pitchFamily="34" charset="0"/>
                <a:ea typeface="Courier New" pitchFamily="34" charset="-122"/>
                <a:cs typeface="Courier New" pitchFamily="34" charset="-120"/>
              </a:rPr>
              <a:t>AI picks</a:t>
            </a:r>
            <a:endParaRPr lang="en-US" sz="1200" dirty="0"/>
          </a:p>
        </p:txBody>
      </p:sp>
      <p:sp>
        <p:nvSpPr>
          <p:cNvPr id="14" name="Text 12"/>
          <p:cNvSpPr txBox="1"/>
          <p:nvPr/>
        </p:nvSpPr>
        <p:spPr>
          <a:xfrm>
            <a:off x="10332720" y="4023360"/>
            <a:ext cx="1218895" cy="365760"/>
          </a:xfrm>
          <a:prstGeom prst="rect">
            <a:avLst/>
          </a:prstGeom>
          <a:noFill/>
          <a:ln/>
        </p:spPr>
        <p:txBody>
          <a:bodyPr wrap="square" lIns="0" tIns="0" rIns="0" bIns="0" rtlCol="0" anchor="t"/>
          <a:lstStyle/>
          <a:p>
            <a:pPr algn="r" indent="0" marL="0">
              <a:buNone/>
            </a:pPr>
            <a:r>
              <a:rPr lang="en-US" sz="1200" dirty="0">
                <a:solidFill>
                  <a:schemeClr val="tx2"/>
                </a:solidFill>
                <a:latin typeface="Courier New" pitchFamily="34" charset="0"/>
                <a:ea typeface="Courier New" pitchFamily="34" charset="-122"/>
                <a:cs typeface="Courier New" pitchFamily="34" charset="-120"/>
              </a:rPr>
              <a:t>Code picks</a:t>
            </a:r>
            <a:endParaRPr lang="en-US" sz="1200" dirty="0"/>
          </a:p>
        </p:txBody>
      </p:sp>
      <p:sp>
        <p:nvSpPr>
          <p:cNvPr id="15" name="row rule 1"/>
          <p:cNvSpPr/>
          <p:nvPr/>
        </p:nvSpPr>
        <p:spPr>
          <a:xfrm>
            <a:off x="6309360" y="4434840"/>
            <a:ext cx="5242255" cy="10973"/>
          </a:xfrm>
          <a:prstGeom prst="rect">
            <a:avLst/>
          </a:prstGeom>
          <a:solidFill>
            <a:srgbClr val="D6D6D2"/>
          </a:solidFill>
          <a:ln w="12700">
            <a:solidFill>
              <a:srgbClr val="D6D6D2"/>
            </a:solidFill>
            <a:prstDash val="solid"/>
          </a:ln>
        </p:spPr>
      </p:sp>
      <p:sp>
        <p:nvSpPr>
          <p:cNvPr id="16" name="Text 14"/>
          <p:cNvSpPr txBox="1"/>
          <p:nvPr/>
        </p:nvSpPr>
        <p:spPr>
          <a:xfrm>
            <a:off x="6309360" y="4526280"/>
            <a:ext cx="2651760" cy="365760"/>
          </a:xfrm>
          <a:prstGeom prst="rect">
            <a:avLst/>
          </a:prstGeom>
          <a:noFill/>
          <a:ln/>
        </p:spPr>
        <p:txBody>
          <a:bodyPr wrap="square" lIns="0" tIns="0" rIns="0" bIns="0" rtlCol="0" anchor="t"/>
          <a:lstStyle/>
          <a:p>
            <a:pPr indent="0" marL="0">
              <a:buNone/>
            </a:pPr>
            <a:r>
              <a:rPr lang="en-US" sz="1600" dirty="0">
                <a:solidFill>
                  <a:schemeClr val="tx1"/>
                </a:solidFill>
              </a:rPr>
              <a:t>Conflicts flagged</a:t>
            </a:r>
            <a:endParaRPr lang="en-US" sz="1600" dirty="0"/>
          </a:p>
        </p:txBody>
      </p:sp>
      <p:sp>
        <p:nvSpPr>
          <p:cNvPr id="17" name="Text 15"/>
          <p:cNvSpPr txBox="1"/>
          <p:nvPr/>
        </p:nvSpPr>
        <p:spPr>
          <a:xfrm>
            <a:off x="9052560" y="4526280"/>
            <a:ext cx="1188720" cy="365760"/>
          </a:xfrm>
          <a:prstGeom prst="rect">
            <a:avLst/>
          </a:prstGeom>
          <a:noFill/>
          <a:ln/>
        </p:spPr>
        <p:txBody>
          <a:bodyPr wrap="square" lIns="0" tIns="0" rIns="0" bIns="0" rtlCol="0" anchor="t"/>
          <a:lstStyle/>
          <a:p>
            <a:pPr algn="r" indent="0" marL="0">
              <a:buNone/>
            </a:pPr>
            <a:r>
              <a:rPr lang="en-US" sz="1600" dirty="0">
                <a:solidFill>
                  <a:schemeClr val="tx2"/>
                </a:solidFill>
              </a:rPr>
              <a:t>1/4</a:t>
            </a:r>
            <a:endParaRPr lang="en-US" sz="1600" dirty="0"/>
          </a:p>
        </p:txBody>
      </p:sp>
      <p:sp>
        <p:nvSpPr>
          <p:cNvPr id="18" name="Text 16"/>
          <p:cNvSpPr txBox="1"/>
          <p:nvPr/>
        </p:nvSpPr>
        <p:spPr>
          <a:xfrm>
            <a:off x="10332720" y="4526280"/>
            <a:ext cx="1218895" cy="365760"/>
          </a:xfrm>
          <a:prstGeom prst="rect">
            <a:avLst/>
          </a:prstGeom>
          <a:noFill/>
          <a:ln/>
        </p:spPr>
        <p:txBody>
          <a:bodyPr wrap="square" lIns="0" tIns="0" rIns="0" bIns="0" rtlCol="0" anchor="t"/>
          <a:lstStyle/>
          <a:p>
            <a:pPr algn="r" indent="0" marL="0">
              <a:buNone/>
            </a:pPr>
            <a:r>
              <a:rPr lang="en-US" sz="1600" b="1" dirty="0">
                <a:solidFill>
                  <a:schemeClr val="accent1"/>
                </a:solidFill>
              </a:rPr>
              <a:t>4/4</a:t>
            </a:r>
            <a:endParaRPr lang="en-US" sz="1600" dirty="0"/>
          </a:p>
        </p:txBody>
      </p:sp>
      <p:sp>
        <p:nvSpPr>
          <p:cNvPr id="19" name="row rule 2"/>
          <p:cNvSpPr/>
          <p:nvPr/>
        </p:nvSpPr>
        <p:spPr>
          <a:xfrm>
            <a:off x="6309360" y="4937760"/>
            <a:ext cx="5242255" cy="10973"/>
          </a:xfrm>
          <a:prstGeom prst="rect">
            <a:avLst/>
          </a:prstGeom>
          <a:solidFill>
            <a:srgbClr val="D6D6D2"/>
          </a:solidFill>
          <a:ln w="12700">
            <a:solidFill>
              <a:srgbClr val="D6D6D2"/>
            </a:solidFill>
            <a:prstDash val="solid"/>
          </a:ln>
        </p:spPr>
      </p:sp>
      <p:sp>
        <p:nvSpPr>
          <p:cNvPr id="20" name="Text 18"/>
          <p:cNvSpPr txBox="1"/>
          <p:nvPr/>
        </p:nvSpPr>
        <p:spPr>
          <a:xfrm>
            <a:off x="6309360" y="5029200"/>
            <a:ext cx="2651760" cy="365760"/>
          </a:xfrm>
          <a:prstGeom prst="rect">
            <a:avLst/>
          </a:prstGeom>
          <a:noFill/>
          <a:ln/>
        </p:spPr>
        <p:txBody>
          <a:bodyPr wrap="square" lIns="0" tIns="0" rIns="0" bIns="0" rtlCol="0" anchor="t"/>
          <a:lstStyle/>
          <a:p>
            <a:pPr indent="0" marL="0">
              <a:buNone/>
            </a:pPr>
            <a:r>
              <a:rPr lang="en-US" sz="1600" dirty="0">
                <a:solidFill>
                  <a:schemeClr val="tx1"/>
                </a:solidFill>
              </a:rPr>
              <a:t>Unanswerable refused</a:t>
            </a:r>
            <a:endParaRPr lang="en-US" sz="1600" dirty="0"/>
          </a:p>
        </p:txBody>
      </p:sp>
      <p:sp>
        <p:nvSpPr>
          <p:cNvPr id="21" name="Text 19"/>
          <p:cNvSpPr txBox="1"/>
          <p:nvPr/>
        </p:nvSpPr>
        <p:spPr>
          <a:xfrm>
            <a:off x="9052560" y="5029200"/>
            <a:ext cx="1188720" cy="365760"/>
          </a:xfrm>
          <a:prstGeom prst="rect">
            <a:avLst/>
          </a:prstGeom>
          <a:noFill/>
          <a:ln/>
        </p:spPr>
        <p:txBody>
          <a:bodyPr wrap="square" lIns="0" tIns="0" rIns="0" bIns="0" rtlCol="0" anchor="t"/>
          <a:lstStyle/>
          <a:p>
            <a:pPr algn="r" indent="0" marL="0">
              <a:buNone/>
            </a:pPr>
            <a:r>
              <a:rPr lang="en-US" sz="1600" dirty="0">
                <a:solidFill>
                  <a:schemeClr val="tx2"/>
                </a:solidFill>
              </a:rPr>
              <a:t>0/3</a:t>
            </a:r>
            <a:endParaRPr lang="en-US" sz="1600" dirty="0"/>
          </a:p>
        </p:txBody>
      </p:sp>
      <p:sp>
        <p:nvSpPr>
          <p:cNvPr id="22" name="Text 20"/>
          <p:cNvSpPr txBox="1"/>
          <p:nvPr/>
        </p:nvSpPr>
        <p:spPr>
          <a:xfrm>
            <a:off x="10332720" y="5029200"/>
            <a:ext cx="1218895" cy="365760"/>
          </a:xfrm>
          <a:prstGeom prst="rect">
            <a:avLst/>
          </a:prstGeom>
          <a:noFill/>
          <a:ln/>
        </p:spPr>
        <p:txBody>
          <a:bodyPr wrap="square" lIns="0" tIns="0" rIns="0" bIns="0" rtlCol="0" anchor="t"/>
          <a:lstStyle/>
          <a:p>
            <a:pPr algn="r" indent="0" marL="0">
              <a:buNone/>
            </a:pPr>
            <a:r>
              <a:rPr lang="en-US" sz="1600" b="1" dirty="0">
                <a:solidFill>
                  <a:schemeClr val="accent1"/>
                </a:solidFill>
              </a:rPr>
              <a:t>2/3</a:t>
            </a:r>
            <a:endParaRPr lang="en-US" sz="1600" dirty="0"/>
          </a:p>
        </p:txBody>
      </p:sp>
      <p:sp>
        <p:nvSpPr>
          <p:cNvPr id="23" name="row rule 3"/>
          <p:cNvSpPr/>
          <p:nvPr/>
        </p:nvSpPr>
        <p:spPr>
          <a:xfrm>
            <a:off x="6309360" y="5440680"/>
            <a:ext cx="5242255" cy="10973"/>
          </a:xfrm>
          <a:prstGeom prst="rect">
            <a:avLst/>
          </a:prstGeom>
          <a:solidFill>
            <a:srgbClr val="D6D6D2"/>
          </a:solidFill>
          <a:ln w="12700">
            <a:solidFill>
              <a:srgbClr val="D6D6D2"/>
            </a:solidFill>
            <a:prstDash val="solid"/>
          </a:ln>
        </p:spPr>
      </p:sp>
      <p:sp>
        <p:nvSpPr>
          <p:cNvPr id="24" name="Text 22"/>
          <p:cNvSpPr txBox="1"/>
          <p:nvPr/>
        </p:nvSpPr>
        <p:spPr>
          <a:xfrm>
            <a:off x="6309360" y="5532120"/>
            <a:ext cx="2651760" cy="365760"/>
          </a:xfrm>
          <a:prstGeom prst="rect">
            <a:avLst/>
          </a:prstGeom>
          <a:noFill/>
          <a:ln/>
        </p:spPr>
        <p:txBody>
          <a:bodyPr wrap="square" lIns="0" tIns="0" rIns="0" bIns="0" rtlCol="0" anchor="t"/>
          <a:lstStyle/>
          <a:p>
            <a:pPr indent="0" marL="0">
              <a:buNone/>
            </a:pPr>
            <a:r>
              <a:rPr lang="en-US" sz="1600" dirty="0">
                <a:solidFill>
                  <a:schemeClr val="tx1"/>
                </a:solidFill>
              </a:rPr>
              <a:t>Quotes verified</a:t>
            </a:r>
            <a:endParaRPr lang="en-US" sz="1600" dirty="0"/>
          </a:p>
        </p:txBody>
      </p:sp>
      <p:sp>
        <p:nvSpPr>
          <p:cNvPr id="25" name="Text 23"/>
          <p:cNvSpPr txBox="1"/>
          <p:nvPr/>
        </p:nvSpPr>
        <p:spPr>
          <a:xfrm>
            <a:off x="9052560" y="5532120"/>
            <a:ext cx="1188720" cy="365760"/>
          </a:xfrm>
          <a:prstGeom prst="rect">
            <a:avLst/>
          </a:prstGeom>
          <a:noFill/>
          <a:ln/>
        </p:spPr>
        <p:txBody>
          <a:bodyPr wrap="square" lIns="0" tIns="0" rIns="0" bIns="0" rtlCol="0" anchor="t"/>
          <a:lstStyle/>
          <a:p>
            <a:pPr algn="r" indent="0" marL="0">
              <a:buNone/>
            </a:pPr>
            <a:r>
              <a:rPr lang="en-US" sz="1600" dirty="0">
                <a:solidFill>
                  <a:schemeClr val="tx2"/>
                </a:solidFill>
              </a:rPr>
              <a:t>98%</a:t>
            </a:r>
            <a:endParaRPr lang="en-US" sz="1600" dirty="0"/>
          </a:p>
        </p:txBody>
      </p:sp>
      <p:sp>
        <p:nvSpPr>
          <p:cNvPr id="26" name="Text 24"/>
          <p:cNvSpPr txBox="1"/>
          <p:nvPr/>
        </p:nvSpPr>
        <p:spPr>
          <a:xfrm>
            <a:off x="10332720" y="5532120"/>
            <a:ext cx="1218895" cy="365760"/>
          </a:xfrm>
          <a:prstGeom prst="rect">
            <a:avLst/>
          </a:prstGeom>
          <a:noFill/>
          <a:ln/>
        </p:spPr>
        <p:txBody>
          <a:bodyPr wrap="square" lIns="0" tIns="0" rIns="0" bIns="0" rtlCol="0" anchor="t"/>
          <a:lstStyle/>
          <a:p>
            <a:pPr algn="r" indent="0" marL="0">
              <a:buNone/>
            </a:pPr>
            <a:r>
              <a:rPr lang="en-US" sz="1600" b="1" dirty="0">
                <a:solidFill>
                  <a:schemeClr val="accent1"/>
                </a:solidFill>
              </a:rPr>
              <a:t>100%</a:t>
            </a:r>
            <a:endParaRPr lang="en-US" sz="16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57200"/>
            <a:ext cx="7315200" cy="320040"/>
          </a:xfrm>
          <a:prstGeom prst="rect">
            <a:avLst/>
          </a:prstGeom>
          <a:noFill/>
          <a:ln/>
        </p:spPr>
        <p:txBody>
          <a:bodyPr wrap="square" lIns="0" tIns="0" rIns="0" bIns="0" rtlCol="0"/>
          <a:lstStyle/>
          <a:p>
            <a:pPr indent="0" marL="0">
              <a:buNone/>
            </a:pPr>
            <a:r>
              <a:rPr lang="en-US" sz="1300" dirty="0">
                <a:solidFill>
                  <a:schemeClr val="accent1"/>
                </a:solidFill>
                <a:latin typeface="Courier New" pitchFamily="34" charset="0"/>
                <a:ea typeface="Courier New" pitchFamily="34" charset="-122"/>
                <a:cs typeface="Courier New" pitchFamily="34" charset="-120"/>
              </a:rPr>
              <a:t>08 — THE APP</a:t>
            </a:r>
            <a:endParaRPr lang="en-US" sz="1300" dirty="0"/>
          </a:p>
        </p:txBody>
      </p:sp>
      <p:sp>
        <p:nvSpPr>
          <p:cNvPr id="3" name="Text 0"/>
          <p:cNvSpPr/>
          <p:nvPr>
            <p:ph idx="101" type="title" hasCustomPrompt="1"/>
          </p:nvPr>
        </p:nvSpPr>
        <p:spPr>
          <a:xfrm>
            <a:off x="640080" y="822960"/>
            <a:ext cx="10911535" cy="914400"/>
          </a:xfrm>
          <a:prstGeom prst="rect">
            <a:avLst/>
          </a:prstGeom>
          <a:noFill/>
          <a:ln/>
        </p:spPr>
        <p:txBody>
          <a:bodyPr wrap="square" lIns="0" tIns="0" rIns="0" bIns="0" rtlCol="0" anchor="t"/>
          <a:lstStyle/>
          <a:p>
            <a:pPr algn="l" indent="0" marL="0">
              <a:buNone/>
            </a:pPr>
            <a:r>
              <a:rPr lang="en-US" sz="3600" b="1" dirty="0">
                <a:solidFill>
                  <a:schemeClr val="tx1"/>
                </a:solidFill>
              </a:rPr>
              <a:t>Five tabs, live on Streamlit</a:t>
            </a:r>
            <a:endParaRPr lang="en-US" sz="3600" dirty="0"/>
          </a:p>
        </p:txBody>
      </p:sp>
      <p:sp>
        <p:nvSpPr>
          <p:cNvPr id="4" name="tab rule 1"/>
          <p:cNvSpPr/>
          <p:nvPr/>
        </p:nvSpPr>
        <p:spPr>
          <a:xfrm>
            <a:off x="640080" y="1874520"/>
            <a:ext cx="6949440" cy="10973"/>
          </a:xfrm>
          <a:prstGeom prst="rect">
            <a:avLst/>
          </a:prstGeom>
          <a:solidFill>
            <a:srgbClr val="D6D6D2"/>
          </a:solidFill>
          <a:ln w="12700">
            <a:solidFill>
              <a:srgbClr val="D6D6D2"/>
            </a:solidFill>
            <a:prstDash val="solid"/>
          </a:ln>
        </p:spPr>
      </p:sp>
      <p:sp>
        <p:nvSpPr>
          <p:cNvPr id="5" name="Text 3"/>
          <p:cNvSpPr txBox="1"/>
          <p:nvPr/>
        </p:nvSpPr>
        <p:spPr>
          <a:xfrm>
            <a:off x="640080" y="2029968"/>
            <a:ext cx="548640" cy="3657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01</a:t>
            </a:r>
            <a:endParaRPr lang="en-US" sz="1400" dirty="0"/>
          </a:p>
        </p:txBody>
      </p:sp>
      <p:sp>
        <p:nvSpPr>
          <p:cNvPr id="6" name="Text 4"/>
          <p:cNvSpPr txBox="1"/>
          <p:nvPr/>
        </p:nvSpPr>
        <p:spPr>
          <a:xfrm>
            <a:off x="1280160" y="2002536"/>
            <a:ext cx="2011680" cy="411480"/>
          </a:xfrm>
          <a:prstGeom prst="rect">
            <a:avLst/>
          </a:prstGeom>
          <a:noFill/>
          <a:ln/>
        </p:spPr>
        <p:txBody>
          <a:bodyPr wrap="square" lIns="0" tIns="0" rIns="0" bIns="0" rtlCol="0" anchor="t"/>
          <a:lstStyle/>
          <a:p>
            <a:pPr indent="0" marL="0">
              <a:buNone/>
            </a:pPr>
            <a:r>
              <a:rPr lang="en-US" sz="1800" b="1" dirty="0">
                <a:solidFill>
                  <a:schemeClr val="tx1"/>
                </a:solidFill>
              </a:rPr>
              <a:t>Ask</a:t>
            </a:r>
            <a:endParaRPr lang="en-US" sz="1800" dirty="0"/>
          </a:p>
        </p:txBody>
      </p:sp>
      <p:sp>
        <p:nvSpPr>
          <p:cNvPr id="7" name="Text 5"/>
          <p:cNvSpPr txBox="1"/>
          <p:nvPr/>
        </p:nvSpPr>
        <p:spPr>
          <a:xfrm>
            <a:off x="3337560" y="2029968"/>
            <a:ext cx="4251960" cy="457200"/>
          </a:xfrm>
          <a:prstGeom prst="rect">
            <a:avLst/>
          </a:prstGeom>
          <a:noFill/>
          <a:ln/>
        </p:spPr>
        <p:txBody>
          <a:bodyPr wrap="square" lIns="0" tIns="0" rIns="0" bIns="0" rtlCol="0" anchor="t"/>
          <a:lstStyle/>
          <a:p>
            <a:pPr indent="0" marL="0">
              <a:buNone/>
            </a:pPr>
            <a:r>
              <a:rPr lang="en-US" sz="1400" dirty="0">
                <a:solidFill>
                  <a:schemeClr val="tx2"/>
                </a:solidFill>
              </a:rPr>
              <a:t>A question in; a verdict and a cited answer out.</a:t>
            </a:r>
            <a:endParaRPr lang="en-US" sz="1400" dirty="0"/>
          </a:p>
        </p:txBody>
      </p:sp>
      <p:sp>
        <p:nvSpPr>
          <p:cNvPr id="8" name="tab rule 2"/>
          <p:cNvSpPr/>
          <p:nvPr/>
        </p:nvSpPr>
        <p:spPr>
          <a:xfrm>
            <a:off x="640080" y="2569464"/>
            <a:ext cx="6949440" cy="10973"/>
          </a:xfrm>
          <a:prstGeom prst="rect">
            <a:avLst/>
          </a:prstGeom>
          <a:solidFill>
            <a:srgbClr val="D6D6D2"/>
          </a:solidFill>
          <a:ln w="12700">
            <a:solidFill>
              <a:srgbClr val="D6D6D2"/>
            </a:solidFill>
            <a:prstDash val="solid"/>
          </a:ln>
        </p:spPr>
      </p:sp>
      <p:sp>
        <p:nvSpPr>
          <p:cNvPr id="9" name="Text 7"/>
          <p:cNvSpPr txBox="1"/>
          <p:nvPr/>
        </p:nvSpPr>
        <p:spPr>
          <a:xfrm>
            <a:off x="640080" y="2724912"/>
            <a:ext cx="548640" cy="3657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02</a:t>
            </a:r>
            <a:endParaRPr lang="en-US" sz="1400" dirty="0"/>
          </a:p>
        </p:txBody>
      </p:sp>
      <p:sp>
        <p:nvSpPr>
          <p:cNvPr id="10" name="Text 8"/>
          <p:cNvSpPr txBox="1"/>
          <p:nvPr/>
        </p:nvSpPr>
        <p:spPr>
          <a:xfrm>
            <a:off x="1280160" y="2697480"/>
            <a:ext cx="2011680" cy="411480"/>
          </a:xfrm>
          <a:prstGeom prst="rect">
            <a:avLst/>
          </a:prstGeom>
          <a:noFill/>
          <a:ln/>
        </p:spPr>
        <p:txBody>
          <a:bodyPr wrap="square" lIns="0" tIns="0" rIns="0" bIns="0" rtlCol="0" anchor="t"/>
          <a:lstStyle/>
          <a:p>
            <a:pPr indent="0" marL="0">
              <a:buNone/>
            </a:pPr>
            <a:r>
              <a:rPr lang="en-US" sz="1800" b="1" dirty="0">
                <a:solidFill>
                  <a:schemeClr val="tx1"/>
                </a:solidFill>
              </a:rPr>
              <a:t>Case report</a:t>
            </a:r>
            <a:endParaRPr lang="en-US" sz="1800" dirty="0"/>
          </a:p>
        </p:txBody>
      </p:sp>
      <p:sp>
        <p:nvSpPr>
          <p:cNvPr id="11" name="Text 9"/>
          <p:cNvSpPr txBox="1"/>
          <p:nvPr/>
        </p:nvSpPr>
        <p:spPr>
          <a:xfrm>
            <a:off x="3337560" y="2724912"/>
            <a:ext cx="4251960" cy="457200"/>
          </a:xfrm>
          <a:prstGeom prst="rect">
            <a:avLst/>
          </a:prstGeom>
          <a:noFill/>
          <a:ln/>
        </p:spPr>
        <p:txBody>
          <a:bodyPr wrap="square" lIns="0" tIns="0" rIns="0" bIns="0" rtlCol="0" anchor="t"/>
          <a:lstStyle/>
          <a:p>
            <a:pPr indent="0" marL="0">
              <a:buNone/>
            </a:pPr>
            <a:r>
              <a:rPr lang="en-US" sz="1400" dirty="0">
                <a:solidFill>
                  <a:schemeClr val="tx2"/>
                </a:solidFill>
              </a:rPr>
              <a:t>Timeline, people, findings, open questions.</a:t>
            </a:r>
            <a:endParaRPr lang="en-US" sz="1400" dirty="0"/>
          </a:p>
        </p:txBody>
      </p:sp>
      <p:sp>
        <p:nvSpPr>
          <p:cNvPr id="12" name="tab rule 3"/>
          <p:cNvSpPr/>
          <p:nvPr/>
        </p:nvSpPr>
        <p:spPr>
          <a:xfrm>
            <a:off x="640080" y="3264408"/>
            <a:ext cx="6949440" cy="10973"/>
          </a:xfrm>
          <a:prstGeom prst="rect">
            <a:avLst/>
          </a:prstGeom>
          <a:solidFill>
            <a:srgbClr val="D6D6D2"/>
          </a:solidFill>
          <a:ln w="12700">
            <a:solidFill>
              <a:srgbClr val="D6D6D2"/>
            </a:solidFill>
            <a:prstDash val="solid"/>
          </a:ln>
        </p:spPr>
      </p:sp>
      <p:sp>
        <p:nvSpPr>
          <p:cNvPr id="13" name="Text 11"/>
          <p:cNvSpPr txBox="1"/>
          <p:nvPr/>
        </p:nvSpPr>
        <p:spPr>
          <a:xfrm>
            <a:off x="640080" y="3419856"/>
            <a:ext cx="548640" cy="3657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03</a:t>
            </a:r>
            <a:endParaRPr lang="en-US" sz="1400" dirty="0"/>
          </a:p>
        </p:txBody>
      </p:sp>
      <p:sp>
        <p:nvSpPr>
          <p:cNvPr id="14" name="Text 12"/>
          <p:cNvSpPr txBox="1"/>
          <p:nvPr/>
        </p:nvSpPr>
        <p:spPr>
          <a:xfrm>
            <a:off x="1280160" y="3392424"/>
            <a:ext cx="2011680" cy="411480"/>
          </a:xfrm>
          <a:prstGeom prst="rect">
            <a:avLst/>
          </a:prstGeom>
          <a:noFill/>
          <a:ln/>
        </p:spPr>
        <p:txBody>
          <a:bodyPr wrap="square" lIns="0" tIns="0" rIns="0" bIns="0" rtlCol="0" anchor="t"/>
          <a:lstStyle/>
          <a:p>
            <a:pPr indent="0" marL="0">
              <a:buNone/>
            </a:pPr>
            <a:r>
              <a:rPr lang="en-US" sz="1800" b="1" dirty="0">
                <a:solidFill>
                  <a:schemeClr val="tx1"/>
                </a:solidFill>
              </a:rPr>
              <a:t>Library</a:t>
            </a:r>
            <a:endParaRPr lang="en-US" sz="1800" dirty="0"/>
          </a:p>
        </p:txBody>
      </p:sp>
      <p:sp>
        <p:nvSpPr>
          <p:cNvPr id="15" name="Text 13"/>
          <p:cNvSpPr txBox="1"/>
          <p:nvPr/>
        </p:nvSpPr>
        <p:spPr>
          <a:xfrm>
            <a:off x="3337560" y="3419856"/>
            <a:ext cx="4251960" cy="457200"/>
          </a:xfrm>
          <a:prstGeom prst="rect">
            <a:avLst/>
          </a:prstGeom>
          <a:noFill/>
          <a:ln/>
        </p:spPr>
        <p:txBody>
          <a:bodyPr wrap="square" lIns="0" tIns="0" rIns="0" bIns="0" rtlCol="0" anchor="t"/>
          <a:lstStyle/>
          <a:p>
            <a:pPr indent="0" marL="0">
              <a:buNone/>
            </a:pPr>
            <a:r>
              <a:rPr lang="en-US" sz="1400" dirty="0">
                <a:solidFill>
                  <a:schemeClr val="tx2"/>
                </a:solidFill>
              </a:rPr>
              <a:t>Browse and read every original document.</a:t>
            </a:r>
            <a:endParaRPr lang="en-US" sz="1400" dirty="0"/>
          </a:p>
        </p:txBody>
      </p:sp>
      <p:sp>
        <p:nvSpPr>
          <p:cNvPr id="16" name="tab rule 4"/>
          <p:cNvSpPr/>
          <p:nvPr/>
        </p:nvSpPr>
        <p:spPr>
          <a:xfrm>
            <a:off x="640080" y="3959352"/>
            <a:ext cx="6949440" cy="10973"/>
          </a:xfrm>
          <a:prstGeom prst="rect">
            <a:avLst/>
          </a:prstGeom>
          <a:solidFill>
            <a:srgbClr val="D6D6D2"/>
          </a:solidFill>
          <a:ln w="12700">
            <a:solidFill>
              <a:srgbClr val="D6D6D2"/>
            </a:solidFill>
            <a:prstDash val="solid"/>
          </a:ln>
        </p:spPr>
      </p:sp>
      <p:sp>
        <p:nvSpPr>
          <p:cNvPr id="17" name="Text 15"/>
          <p:cNvSpPr txBox="1"/>
          <p:nvPr/>
        </p:nvSpPr>
        <p:spPr>
          <a:xfrm>
            <a:off x="640080" y="4114800"/>
            <a:ext cx="548640" cy="3657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04</a:t>
            </a:r>
            <a:endParaRPr lang="en-US" sz="1400" dirty="0"/>
          </a:p>
        </p:txBody>
      </p:sp>
      <p:sp>
        <p:nvSpPr>
          <p:cNvPr id="18" name="Text 16"/>
          <p:cNvSpPr txBox="1"/>
          <p:nvPr/>
        </p:nvSpPr>
        <p:spPr>
          <a:xfrm>
            <a:off x="1280160" y="4087368"/>
            <a:ext cx="2011680" cy="411480"/>
          </a:xfrm>
          <a:prstGeom prst="rect">
            <a:avLst/>
          </a:prstGeom>
          <a:noFill/>
          <a:ln/>
        </p:spPr>
        <p:txBody>
          <a:bodyPr wrap="square" lIns="0" tIns="0" rIns="0" bIns="0" rtlCol="0" anchor="t"/>
          <a:lstStyle/>
          <a:p>
            <a:pPr indent="0" marL="0">
              <a:buNone/>
            </a:pPr>
            <a:r>
              <a:rPr lang="en-US" sz="1800" b="1" dirty="0">
                <a:solidFill>
                  <a:schemeClr val="tx1"/>
                </a:solidFill>
              </a:rPr>
              <a:t>Add documents</a:t>
            </a:r>
            <a:endParaRPr lang="en-US" sz="1800" dirty="0"/>
          </a:p>
        </p:txBody>
      </p:sp>
      <p:sp>
        <p:nvSpPr>
          <p:cNvPr id="19" name="Text 17"/>
          <p:cNvSpPr txBox="1"/>
          <p:nvPr/>
        </p:nvSpPr>
        <p:spPr>
          <a:xfrm>
            <a:off x="3337560" y="4114800"/>
            <a:ext cx="4251960" cy="457200"/>
          </a:xfrm>
          <a:prstGeom prst="rect">
            <a:avLst/>
          </a:prstGeom>
          <a:noFill/>
          <a:ln/>
        </p:spPr>
        <p:txBody>
          <a:bodyPr wrap="square" lIns="0" tIns="0" rIns="0" bIns="0" rtlCol="0" anchor="t"/>
          <a:lstStyle/>
          <a:p>
            <a:pPr indent="0" marL="0">
              <a:buNone/>
            </a:pPr>
            <a:r>
              <a:rPr lang="en-US" sz="1400" dirty="0">
                <a:solidFill>
                  <a:schemeClr val="tx2"/>
                </a:solidFill>
              </a:rPr>
              <a:t>Upload or paste; searchable within seconds.</a:t>
            </a:r>
            <a:endParaRPr lang="en-US" sz="1400" dirty="0"/>
          </a:p>
        </p:txBody>
      </p:sp>
      <p:sp>
        <p:nvSpPr>
          <p:cNvPr id="20" name="tab rule 5"/>
          <p:cNvSpPr/>
          <p:nvPr/>
        </p:nvSpPr>
        <p:spPr>
          <a:xfrm>
            <a:off x="640080" y="4654296"/>
            <a:ext cx="6949440" cy="10973"/>
          </a:xfrm>
          <a:prstGeom prst="rect">
            <a:avLst/>
          </a:prstGeom>
          <a:solidFill>
            <a:srgbClr val="D6D6D2"/>
          </a:solidFill>
          <a:ln w="12700">
            <a:solidFill>
              <a:srgbClr val="D6D6D2"/>
            </a:solidFill>
            <a:prstDash val="solid"/>
          </a:ln>
        </p:spPr>
      </p:sp>
      <p:sp>
        <p:nvSpPr>
          <p:cNvPr id="21" name="Text 19"/>
          <p:cNvSpPr txBox="1"/>
          <p:nvPr/>
        </p:nvSpPr>
        <p:spPr>
          <a:xfrm>
            <a:off x="640080" y="4809744"/>
            <a:ext cx="548640" cy="36576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05</a:t>
            </a:r>
            <a:endParaRPr lang="en-US" sz="1400" dirty="0"/>
          </a:p>
        </p:txBody>
      </p:sp>
      <p:sp>
        <p:nvSpPr>
          <p:cNvPr id="22" name="Text 20"/>
          <p:cNvSpPr txBox="1"/>
          <p:nvPr/>
        </p:nvSpPr>
        <p:spPr>
          <a:xfrm>
            <a:off x="1280160" y="4782312"/>
            <a:ext cx="2011680" cy="411480"/>
          </a:xfrm>
          <a:prstGeom prst="rect">
            <a:avLst/>
          </a:prstGeom>
          <a:noFill/>
          <a:ln/>
        </p:spPr>
        <p:txBody>
          <a:bodyPr wrap="square" lIns="0" tIns="0" rIns="0" bIns="0" rtlCol="0" anchor="t"/>
          <a:lstStyle/>
          <a:p>
            <a:pPr indent="0" marL="0">
              <a:buNone/>
            </a:pPr>
            <a:r>
              <a:rPr lang="en-US" sz="1800" b="1" dirty="0">
                <a:solidFill>
                  <a:schemeClr val="tx1"/>
                </a:solidFill>
              </a:rPr>
              <a:t>Search lab</a:t>
            </a:r>
            <a:endParaRPr lang="en-US" sz="1800" dirty="0"/>
          </a:p>
        </p:txBody>
      </p:sp>
      <p:sp>
        <p:nvSpPr>
          <p:cNvPr id="23" name="Text 21"/>
          <p:cNvSpPr txBox="1"/>
          <p:nvPr/>
        </p:nvSpPr>
        <p:spPr>
          <a:xfrm>
            <a:off x="3337560" y="4809744"/>
            <a:ext cx="4251960" cy="457200"/>
          </a:xfrm>
          <a:prstGeom prst="rect">
            <a:avLst/>
          </a:prstGeom>
          <a:noFill/>
          <a:ln/>
        </p:spPr>
        <p:txBody>
          <a:bodyPr wrap="square" lIns="0" tIns="0" rIns="0" bIns="0" rtlCol="0" anchor="t"/>
          <a:lstStyle/>
          <a:p>
            <a:pPr indent="0" marL="0">
              <a:buNone/>
            </a:pPr>
            <a:r>
              <a:rPr lang="en-US" sz="1400" dirty="0">
                <a:solidFill>
                  <a:schemeClr val="tx2"/>
                </a:solidFill>
              </a:rPr>
              <a:t>Vector, keyword and hybrid results side by side.</a:t>
            </a:r>
            <a:endParaRPr lang="en-US" sz="1400" dirty="0"/>
          </a:p>
        </p:txBody>
      </p:sp>
      <p:sp>
        <p:nvSpPr>
          <p:cNvPr id="24" name="demo panel"/>
          <p:cNvSpPr/>
          <p:nvPr/>
        </p:nvSpPr>
        <p:spPr>
          <a:xfrm>
            <a:off x="8001000" y="1874520"/>
            <a:ext cx="3550615" cy="3474720"/>
          </a:xfrm>
          <a:prstGeom prst="rect">
            <a:avLst/>
          </a:prstGeom>
          <a:solidFill>
            <a:schemeClr val="accent1"/>
          </a:solidFill>
          <a:ln w="12700">
            <a:solidFill>
              <a:schemeClr val="accent1"/>
            </a:solidFill>
            <a:prstDash val="solid"/>
          </a:ln>
        </p:spPr>
      </p:sp>
      <p:sp>
        <p:nvSpPr>
          <p:cNvPr id="25" name="Text 23"/>
          <p:cNvSpPr txBox="1"/>
          <p:nvPr/>
        </p:nvSpPr>
        <p:spPr>
          <a:xfrm>
            <a:off x="8275320" y="2103120"/>
            <a:ext cx="3017520" cy="320040"/>
          </a:xfrm>
          <a:prstGeom prst="rect">
            <a:avLst/>
          </a:prstGeom>
          <a:noFill/>
          <a:ln/>
        </p:spPr>
        <p:txBody>
          <a:bodyPr wrap="square" lIns="0" tIns="0" rIns="0" bIns="0" rtlCol="0" anchor="t"/>
          <a:lstStyle/>
          <a:p>
            <a:pPr indent="0" marL="0">
              <a:buNone/>
            </a:pPr>
            <a:r>
              <a:rPr lang="en-US" sz="1200" b="1" dirty="0">
                <a:solidFill>
                  <a:schemeClr val="tx1"/>
                </a:solidFill>
                <a:latin typeface="Courier New" pitchFamily="34" charset="0"/>
                <a:ea typeface="Courier New" pitchFamily="34" charset="-122"/>
                <a:cs typeface="Courier New" pitchFamily="34" charset="-120"/>
              </a:rPr>
              <a:t>LIVE DEMO</a:t>
            </a:r>
            <a:endParaRPr lang="en-US" sz="1200" dirty="0"/>
          </a:p>
        </p:txBody>
      </p:sp>
      <p:sp>
        <p:nvSpPr>
          <p:cNvPr id="26" name="Text 24"/>
          <p:cNvSpPr txBox="1"/>
          <p:nvPr/>
        </p:nvSpPr>
        <p:spPr>
          <a:xfrm>
            <a:off x="8275320" y="2560320"/>
            <a:ext cx="3063240" cy="2560320"/>
          </a:xfrm>
          <a:prstGeom prst="rect">
            <a:avLst/>
          </a:prstGeom>
          <a:noFill/>
          <a:ln/>
        </p:spPr>
        <p:txBody>
          <a:bodyPr wrap="square" lIns="0" tIns="0" rIns="0" bIns="0" rtlCol="0" anchor="t"/>
          <a:lstStyle/>
          <a:p>
            <a:pPr indent="0" marL="0">
              <a:spcAft>
                <a:spcPts val="1000"/>
              </a:spcAft>
              <a:buNone/>
            </a:pPr>
            <a:r>
              <a:rPr lang="en-US" sz="1600" b="1" dirty="0">
                <a:solidFill>
                  <a:schemeClr val="tx1"/>
                </a:solidFill>
              </a:rPr>
              <a:t>Add a new witness statement</a:t>
            </a:r>
            <a:endParaRPr lang="en-US" sz="1600" dirty="0"/>
          </a:p>
          <a:p>
            <a:pPr indent="0" marL="0">
              <a:spcAft>
                <a:spcPts val="1000"/>
              </a:spcAft>
              <a:buNone/>
            </a:pPr>
            <a:r>
              <a:rPr lang="en-US" sz="1600" b="1" dirty="0">
                <a:solidFill>
                  <a:schemeClr val="tx1"/>
                </a:solidFill>
              </a:rPr>
              <a:t>Ask a multi-source question</a:t>
            </a:r>
            <a:endParaRPr lang="en-US" sz="1600" dirty="0"/>
          </a:p>
          <a:p>
            <a:pPr indent="0" marL="0">
              <a:spcAft>
                <a:spcPts val="1000"/>
              </a:spcAft>
              <a:buNone/>
            </a:pPr>
            <a:r>
              <a:rPr lang="en-US" sz="1600" b="1" dirty="0">
                <a:solidFill>
                  <a:schemeClr val="tx1"/>
                </a:solidFill>
              </a:rPr>
              <a:t>Open the highlighted sources</a:t>
            </a:r>
            <a:endParaRPr lang="en-US" sz="1600" dirty="0"/>
          </a:p>
          <a:p>
            <a:pPr indent="0" marL="0">
              <a:spcAft>
                <a:spcPts val="1000"/>
              </a:spcAft>
              <a:buNone/>
            </a:pPr>
            <a:r>
              <a:rPr lang="en-US" sz="1600" b="1" dirty="0">
                <a:solidFill>
                  <a:schemeClr val="tx1"/>
                </a:solidFill>
              </a:rPr>
              <a:t>Try conflicting + unanswerable</a:t>
            </a:r>
            <a:endParaRPr lang="en-US" sz="1600" dirty="0"/>
          </a:p>
          <a:p>
            <a:pPr indent="0" marL="0">
              <a:spcAft>
                <a:spcPts val="1000"/>
              </a:spcAft>
              <a:buNone/>
            </a:pPr>
            <a:r>
              <a:rPr lang="en-US" sz="1600" b="1" dirty="0">
                <a:solidFill>
                  <a:schemeClr val="tx1"/>
                </a:solidFill>
              </a:rPr>
              <a:t>Generate the case report</a:t>
            </a:r>
            <a:endParaRPr lang="en-US" sz="1600" dirty="0"/>
          </a:p>
        </p:txBody>
      </p:sp>
      <p:sp>
        <p:nvSpPr>
          <p:cNvPr id="27" name="Text 25"/>
          <p:cNvSpPr txBox="1"/>
          <p:nvPr/>
        </p:nvSpPr>
        <p:spPr>
          <a:xfrm>
            <a:off x="640080" y="5532120"/>
            <a:ext cx="10911535" cy="32004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CODE  github.com/WarriorMage/RAGE-Engine</a:t>
            </a:r>
            <a:endParaRPr lang="en-US" sz="1400" dirty="0"/>
          </a:p>
        </p:txBody>
      </p:sp>
      <p:sp>
        <p:nvSpPr>
          <p:cNvPr id="28" name="Text 26"/>
          <p:cNvSpPr txBox="1"/>
          <p:nvPr/>
        </p:nvSpPr>
        <p:spPr>
          <a:xfrm>
            <a:off x="640080" y="5870448"/>
            <a:ext cx="10911535" cy="32004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APP   live link in our submission</a:t>
            </a:r>
            <a:endParaRPr lang="en-US" sz="14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548640"/>
            <a:ext cx="8229600" cy="365760"/>
          </a:xfrm>
          <a:prstGeom prst="rect">
            <a:avLst/>
          </a:prstGeom>
          <a:noFill/>
          <a:ln/>
        </p:spPr>
        <p:txBody>
          <a:bodyPr wrap="square" lIns="0" tIns="0" rIns="0" bIns="0" rtlCol="0"/>
          <a:lstStyle/>
          <a:p>
            <a:pPr indent="0" marL="0">
              <a:buNone/>
            </a:pPr>
            <a:r>
              <a:rPr lang="en-US" sz="1400" dirty="0">
                <a:solidFill>
                  <a:schemeClr val="accent1"/>
                </a:solidFill>
                <a:latin typeface="Courier New" pitchFamily="34" charset="0"/>
                <a:ea typeface="Courier New" pitchFamily="34" charset="-122"/>
                <a:cs typeface="Courier New" pitchFamily="34" charset="-120"/>
              </a:rPr>
              <a:t>09 — IN ONE LINE</a:t>
            </a:r>
            <a:endParaRPr lang="en-US" sz="1400" dirty="0"/>
          </a:p>
        </p:txBody>
      </p:sp>
      <p:sp>
        <p:nvSpPr>
          <p:cNvPr id="3" name="Text 0"/>
          <p:cNvSpPr/>
          <p:nvPr>
            <p:ph idx="101" type="title" hasCustomPrompt="1"/>
          </p:nvPr>
        </p:nvSpPr>
        <p:spPr>
          <a:xfrm>
            <a:off x="640080" y="1280160"/>
            <a:ext cx="10515600" cy="2194560"/>
          </a:xfrm>
          <a:prstGeom prst="rect">
            <a:avLst/>
          </a:prstGeom>
          <a:noFill/>
          <a:ln/>
        </p:spPr>
        <p:txBody>
          <a:bodyPr wrap="square" lIns="0" tIns="0" rIns="0" bIns="0" rtlCol="0" anchor="t"/>
          <a:lstStyle/>
          <a:p>
            <a:pPr algn="l" indent="0" marL="0">
              <a:buNone/>
            </a:pPr>
            <a:r>
              <a:rPr lang="en-US" sz="6000" b="1" dirty="0">
                <a:solidFill>
                  <a:schemeClr val="bg1"/>
                </a:solidFill>
              </a:rPr>
              <a:t>Every claim, one click from its source.</a:t>
            </a:r>
            <a:endParaRPr lang="en-US" sz="6000" dirty="0"/>
          </a:p>
        </p:txBody>
      </p:sp>
      <p:sp>
        <p:nvSpPr>
          <p:cNvPr id="4" name="Text 2"/>
          <p:cNvSpPr txBox="1"/>
          <p:nvPr/>
        </p:nvSpPr>
        <p:spPr>
          <a:xfrm>
            <a:off x="640080" y="3977640"/>
            <a:ext cx="4572000" cy="32004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NEXT</a:t>
            </a:r>
            <a:endParaRPr lang="en-US" sz="1200" dirty="0"/>
          </a:p>
        </p:txBody>
      </p:sp>
      <p:sp>
        <p:nvSpPr>
          <p:cNvPr id="5" name="Text 3"/>
          <p:cNvSpPr txBox="1"/>
          <p:nvPr/>
        </p:nvSpPr>
        <p:spPr>
          <a:xfrm>
            <a:off x="640080" y="4389120"/>
            <a:ext cx="5943600" cy="1371600"/>
          </a:xfrm>
          <a:prstGeom prst="rect">
            <a:avLst/>
          </a:prstGeom>
          <a:noFill/>
          <a:ln/>
        </p:spPr>
        <p:txBody>
          <a:bodyPr wrap="square" lIns="0" tIns="0" rIns="0" bIns="0" rtlCol="0" anchor="t"/>
          <a:lstStyle/>
          <a:p>
            <a:pPr indent="0" marL="0">
              <a:spcAft>
                <a:spcPts val="600"/>
              </a:spcAft>
              <a:buNone/>
            </a:pPr>
            <a:r>
              <a:rPr lang="en-US" sz="1800" dirty="0">
                <a:solidFill>
                  <a:schemeClr val="bg1"/>
                </a:solidFill>
              </a:rPr>
              <a:t>Image and audio evidence</a:t>
            </a:r>
            <a:endParaRPr lang="en-US" sz="1800" dirty="0"/>
          </a:p>
          <a:p>
            <a:pPr indent="0" marL="0">
              <a:spcAft>
                <a:spcPts val="600"/>
              </a:spcAft>
              <a:buNone/>
            </a:pPr>
            <a:r>
              <a:rPr lang="en-US" sz="1800" dirty="0">
                <a:solidFill>
                  <a:schemeClr val="bg1"/>
                </a:solidFill>
              </a:rPr>
              <a:t>Interactive timeline view</a:t>
            </a:r>
            <a:endParaRPr lang="en-US" sz="1800" dirty="0"/>
          </a:p>
          <a:p>
            <a:pPr indent="0" marL="0">
              <a:spcAft>
                <a:spcPts val="600"/>
              </a:spcAft>
              <a:buNone/>
            </a:pPr>
            <a:r>
              <a:rPr lang="en-US" sz="1800" dirty="0">
                <a:solidFill>
                  <a:schemeClr val="bg1"/>
                </a:solidFill>
              </a:rPr>
              <a:t>Profiles for policy, legal and due-diligence work</a:t>
            </a:r>
            <a:endParaRPr lang="en-US" sz="1800" dirty="0"/>
          </a:p>
        </p:txBody>
      </p:sp>
      <p:sp>
        <p:nvSpPr>
          <p:cNvPr id="6" name="Text 4"/>
          <p:cNvSpPr txBox="1"/>
          <p:nvPr/>
        </p:nvSpPr>
        <p:spPr>
          <a:xfrm>
            <a:off x="7589520" y="3977640"/>
            <a:ext cx="3657600" cy="32004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THANK YOU</a:t>
            </a:r>
            <a:endParaRPr lang="en-US" sz="1200" dirty="0"/>
          </a:p>
        </p:txBody>
      </p:sp>
      <p:sp>
        <p:nvSpPr>
          <p:cNvPr id="7" name="Text 5"/>
          <p:cNvSpPr txBox="1"/>
          <p:nvPr/>
        </p:nvSpPr>
        <p:spPr>
          <a:xfrm>
            <a:off x="7589520" y="4389120"/>
            <a:ext cx="3931920" cy="457200"/>
          </a:xfrm>
          <a:prstGeom prst="rect">
            <a:avLst/>
          </a:prstGeom>
          <a:noFill/>
          <a:ln/>
        </p:spPr>
        <p:txBody>
          <a:bodyPr wrap="square" lIns="0" tIns="0" rIns="0" bIns="0" rtlCol="0" anchor="t"/>
          <a:lstStyle/>
          <a:p>
            <a:pPr indent="0" marL="0">
              <a:buNone/>
            </a:pPr>
            <a:r>
              <a:rPr lang="en-US" sz="2400" b="1" dirty="0">
                <a:solidFill>
                  <a:schemeClr val="bg1"/>
                </a:solidFill>
              </a:rPr>
              <a:t>theFirewall</a:t>
            </a:r>
            <a:endParaRPr lang="en-US" sz="2400" dirty="0"/>
          </a:p>
        </p:txBody>
      </p:sp>
      <p:sp>
        <p:nvSpPr>
          <p:cNvPr id="8" name="Text 6"/>
          <p:cNvSpPr txBox="1"/>
          <p:nvPr/>
        </p:nvSpPr>
        <p:spPr>
          <a:xfrm>
            <a:off x="7589520" y="4937760"/>
            <a:ext cx="4023360" cy="1005840"/>
          </a:xfrm>
          <a:prstGeom prst="rect">
            <a:avLst/>
          </a:prstGeom>
          <a:noFill/>
          <a:ln/>
        </p:spPr>
        <p:txBody>
          <a:bodyPr wrap="square" lIns="0" tIns="0" rIns="0" bIns="0" rtlCol="0" anchor="t"/>
          <a:lstStyle/>
          <a:p>
            <a:pPr indent="0" marL="0">
              <a:buNone/>
            </a:pPr>
            <a:r>
              <a:rPr lang="en-US" sz="1300" dirty="0">
                <a:solidFill>
                  <a:schemeClr val="accent3"/>
                </a:solidFill>
                <a:latin typeface="Courier New" pitchFamily="34" charset="0"/>
                <a:ea typeface="Courier New" pitchFamily="34" charset="-122"/>
                <a:cs typeface="Courier New" pitchFamily="34" charset="-120"/>
              </a:rPr>
              <a:t>Shriram APT   U24CS023</a:t>
            </a:r>
            <a:endParaRPr lang="en-US" sz="1300" dirty="0"/>
          </a:p>
          <a:p>
            <a:pPr indent="0" marL="0">
              <a:buNone/>
            </a:pPr>
            <a:r>
              <a:rPr lang="en-US" sz="1300" dirty="0">
                <a:solidFill>
                  <a:schemeClr val="accent3"/>
                </a:solidFill>
                <a:latin typeface="Courier New" pitchFamily="34" charset="0"/>
                <a:ea typeface="Courier New" pitchFamily="34" charset="-122"/>
                <a:cs typeface="Courier New" pitchFamily="34" charset="-120"/>
              </a:rPr>
              <a:t>Janav Rana    U24CS039</a:t>
            </a:r>
            <a:endParaRPr lang="en-US" sz="1300" dirty="0"/>
          </a:p>
          <a:p>
            <a:pPr indent="0" marL="0">
              <a:buNone/>
            </a:pPr>
            <a:r>
              <a:rPr lang="en-US" sz="1300" dirty="0">
                <a:solidFill>
                  <a:schemeClr val="accent3"/>
                </a:solidFill>
                <a:latin typeface="Courier New" pitchFamily="34" charset="0"/>
                <a:ea typeface="Courier New" pitchFamily="34" charset="-122"/>
                <a:cs typeface="Courier New" pitchFamily="34" charset="-120"/>
              </a:rPr>
              <a:t>Rudra Patni   U24CS074</a:t>
            </a:r>
            <a:endParaRPr lang="en-US" sz="1300" dirty="0"/>
          </a:p>
        </p:txBody>
      </p:sp>
    </p:spTree>
  </p:cSld>
  <p:clrMapOvr>
    <a:masterClrMapping/>
  </p:clrMapOvr>
</p:sld>
</file>

<file path=ppt/theme/theme1.xml><?xml version="1.0" encoding="utf-8"?>
<a:theme xmlns:a="http://schemas.openxmlformats.org/drawingml/2006/main" name="Case File Flat">
  <a:themeElements>
    <a:clrScheme name="Case File Flat">
      <a:dk1>
        <a:srgbClr val="111111"/>
      </a:dk1>
      <a:lt1>
        <a:srgbClr val="FFFFFF"/>
      </a:lt1>
      <a:dk2>
        <a:srgbClr val="5C5C5C"/>
      </a:dk2>
      <a:lt2>
        <a:srgbClr val="EFEFEC"/>
      </a:lt2>
      <a:accent1>
        <a:srgbClr val="E8442C"/>
      </a:accent1>
      <a:accent2>
        <a:srgbClr val="111111"/>
      </a:accent2>
      <a:accent3>
        <a:srgbClr val="9A9A96"/>
      </a:accent3>
      <a:accent4>
        <a:srgbClr val="D6D6D2"/>
      </a:accent4>
      <a:accent5>
        <a:srgbClr val="FBE3DE"/>
      </a:accent5>
      <a:accent6>
        <a:srgbClr val="5C5C5C"/>
      </a:accent6>
      <a:hlink>
        <a:srgbClr val="E8442C"/>
      </a:hlink>
      <a:folHlink>
        <a:srgbClr val="5C5C5C"/>
      </a:folHlink>
    </a:clrScheme>
    <a:fontScheme name="Case File Fla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RAGE Engine: Case File</dc:title>
  <dc:subject>PptxGenJS Presentation</dc:subject>
  <dc:creator>theFirewall</dc:creator>
  <cp:lastModifiedBy>theFirewall</cp:lastModifiedBy>
  <cp:revision>1</cp:revision>
  <dcterms:created xsi:type="dcterms:W3CDTF">2026-10-31T14:58:31Z</dcterms:created>
  <dcterms:modified xsi:type="dcterms:W3CDTF">2026-10-31T14:58:31Z</dcterms:modified>
</cp:coreProperties>
</file>