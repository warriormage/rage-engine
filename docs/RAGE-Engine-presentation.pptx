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a0f4a80-2892-cfa8-76ed-f62f0a4b8ef4}">
          <p14:sldIdLst>
            <p14:sldId id="256"/>
          </p14:sldIdLst>
        </p14:section>
        <p14:section name="Problem and solution" id="{8bbed121-4c92-e229-4f19-33a0ecc20c17}">
          <p14:sldIdLst>
            <p14:sldId id="257"/>
            <p14:sldId id="258"/>
          </p14:sldIdLst>
        </p14:section>
        <p14:section name="How it works" id="{617e7d01-77c5-83e3-21ab-6555072ebfc3}">
          <p14:sldIdLst>
            <p14:sldId id="259"/>
            <p14:sldId id="260"/>
            <p14:sldId id="261"/>
          </p14:sldIdLst>
        </p14:section>
        <p14:section name="Results" id="{2577e32d-538f-a5b9-4231-8ae8ca6f0589}">
          <p14:sldIdLst>
            <p14:sldId id="262"/>
            <p14:sldId id="263"/>
          </p14:sldIdLst>
        </p14:section>
        <p14:section name="Product" id="{72f91561-a280-e803-2932-93e1ce56ecd4}">
          <p14:sldIdLst>
            <p14:sldId id="264"/>
          </p14:sldIdLst>
        </p14:section>
        <p14:section name="Closing" id="{bec97384-0ae2-1d41-a937-053bc7825920}">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1A21"/>
                </a:solidFill>
                <a:latin typeface="+mn-lt"/>
              </a:defRPr>
            </a:pPr>
            <a:r>
              <a:rPr sz="1400" b="0" i="0" u="none" strike="noStrike">
                <a:solidFill>
                  <a:srgbClr val="161A21"/>
                </a:solidFill>
                <a:latin typeface="+mn-lt"/>
              </a:rPr>
              <a:t>Share of expected sources found (%)</a:t>
            </a:r>
          </a:p>
        </c:rich>
      </c:tx>
      <c:layout/>
      <c:overlay val="0"/>
    </c:title>
    <c:autoTitleDeleted val="0"/>
    <c:plotArea>
      <c:layout/>
      <c:barChart>
        <c:barDir val="col"/>
        <c:grouping val="clustered"/>
        <c:varyColors val="0"/>
        <c:ser>
          <c:idx val="0"/>
          <c:order val="0"/>
          <c:tx>
            <c:strRef>
              <c:f>Sheet1!$B$1</c:f>
              <c:strCache>
                <c:ptCount val="1"/>
                <c:pt idx="0">
                  <c:v>Recall@5</c:v>
                </c:pt>
              </c:strCache>
            </c:strRef>
          </c:tx>
          <c:spPr>
            <a:solidFill>
              <a:srgbClr val="3B4552"/>
            </a:solidFill>
            <a:effectLst/>
          </c:spPr>
          <c:invertIfNegative val="0"/>
          <c:dLbls>
            <c:numFmt formatCode="#,##0" sourceLinked="0"/>
            <c:txPr>
              <a:bodyPr/>
              <a:lstStyle/>
              <a:p>
                <a:pPr>
                  <a:defRPr b="0" i="0" strike="noStrike" sz="1200" u="none">
                    <a:solidFill>
                      <a:srgbClr val="161A21"/>
                    </a:solidFill>
                    <a:latin typeface="+mn-lt"/>
                  </a:defRPr>
                </a:pPr>
              </a:p>
            </c:txPr>
            <c:showLegendKey val="0"/>
            <c:showVal val="1"/>
            <c:showCatName val="0"/>
            <c:showSerName val="0"/>
            <c:showPercent val="0"/>
            <c:showBubbleSize val="0"/>
            <c:showLeaderLines val="0"/>
          </c:dLbls>
          <c:cat>
            <c:multiLvlStrRef>
              <c:f>Sheet1!$A$2:$A$4</c:f>
              <c:multiLvlStrCache>
                <c:ptCount val="3"/>
                <c:lvl>
                  <c:pt idx="0">
                    <c:v>Vector</c:v>
                  </c:pt>
                  <c:pt idx="1">
                    <c:v>Keyword (BM25)</c:v>
                  </c:pt>
                  <c:pt idx="2">
                    <c:v>Hybrid (RRF)</c:v>
                  </c:pt>
                </c:lvl>
              </c:multiLvlStrCache>
            </c:multiLvlStrRef>
          </c:cat>
          <c:val>
            <c:numRef>
              <c:f>Sheet1!$B$2:$B$4</c:f>
              <c:numCache>
                <c:formatCode>General</c:formatCode>
                <c:ptCount val="3"/>
                <c:pt idx="0">
                  <c:v>83</c:v>
                </c:pt>
                <c:pt idx="1">
                  <c:v>73</c:v>
                </c:pt>
                <c:pt idx="2">
                  <c:v>80</c:v>
                </c:pt>
              </c:numCache>
            </c:numRef>
          </c:val>
        </c:ser>
        <c:ser>
          <c:idx val="1"/>
          <c:order val="1"/>
          <c:tx>
            <c:strRef>
              <c:f>Sheet1!$C$1</c:f>
              <c:strCache>
                <c:ptCount val="1"/>
                <c:pt idx="0">
                  <c:v>Recall@10</c:v>
                </c:pt>
              </c:strCache>
            </c:strRef>
          </c:tx>
          <c:spPr>
            <a:solidFill>
              <a:srgbClr val="F2B705"/>
            </a:solidFill>
            <a:effectLst/>
          </c:spPr>
          <c:invertIfNegative val="0"/>
          <c:dLbls>
            <c:numFmt formatCode="#,##0" sourceLinked="0"/>
            <c:txPr>
              <a:bodyPr/>
              <a:lstStyle/>
              <a:p>
                <a:pPr>
                  <a:defRPr b="0" i="0" strike="noStrike" sz="1200" u="none">
                    <a:solidFill>
                      <a:srgbClr val="161A21"/>
                    </a:solidFill>
                    <a:latin typeface="+mn-lt"/>
                  </a:defRPr>
                </a:pPr>
              </a:p>
            </c:txPr>
            <c:showLegendKey val="0"/>
            <c:showVal val="1"/>
            <c:showCatName val="0"/>
            <c:showSerName val="0"/>
            <c:showPercent val="0"/>
            <c:showBubbleSize val="0"/>
            <c:showLeaderLines val="0"/>
          </c:dLbls>
          <c:cat>
            <c:multiLvlStrRef>
              <c:f>Sheet1!$A$2:$A$4</c:f>
              <c:multiLvlStrCache>
                <c:ptCount val="3"/>
                <c:lvl>
                  <c:pt idx="0">
                    <c:v>Vector</c:v>
                  </c:pt>
                  <c:pt idx="1">
                    <c:v>Keyword (BM25)</c:v>
                  </c:pt>
                  <c:pt idx="2">
                    <c:v>Hybrid (RRF)</c:v>
                  </c:pt>
                </c:lvl>
              </c:multiLvlStrCache>
            </c:multiLvlStrRef>
          </c:cat>
          <c:val>
            <c:numRef>
              <c:f>Sheet1!$C$2:$C$4</c:f>
              <c:numCache>
                <c:formatCode>General</c:formatCode>
                <c:ptCount val="3"/>
                <c:pt idx="0">
                  <c:v>90</c:v>
                </c:pt>
                <c:pt idx="1">
                  <c:v>87</c:v>
                </c:pt>
                <c:pt idx="2">
                  <c:v>87</c:v>
                </c:pt>
              </c:numCache>
            </c:numRef>
          </c:val>
        </c:ser>
        <c:dLbls>
          <c:numFmt formatCode="#,##0" sourceLinked="0"/>
          <c:txPr>
            <a:bodyPr/>
            <a:lstStyle/>
            <a:p>
              <a:pPr>
                <a:defRPr b="0" i="0" strike="noStrike" sz="1200" u="none">
                  <a:solidFill>
                    <a:srgbClr val="161A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B4552"/>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B4552"/>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3B455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theFirewall. RAGE Engine is a retrieval-augmented generation app built on MongoDB Atlas. Our product, Case File, answers questions from your own investigation documents, shows the exact passage behind every claim, flags contradictions, and refuses to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 part of an investigation isn't finding text; it's knowing who's lying, what's actually proven, and what's still unknown. Those are exactly the cases the brief calls difficult: conflicting and unanswerable requests. We made them the core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answer from our app. It doesn't just say no: it shows the guard's claim, the CCTV line that contradicts it, and his phone record. Every answer gets one of four verdicts, and the unanswerable case is a first-class outcome,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generated our own collection so we could plant traps on purpose: contradictions, a lie that only two records together expose, innocent suspects, facts that exist nowhere, and exact codes that semantic search struggles with. A hidden answer key lets us score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to 3 are where the AI helps; steps 4 and 5 are where we stop trusting it. Every quote must exist word-for-word in the stored source, and the verdict is decided by fixed rules in code, not by the model's own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MongoDB is the core: sources, chunks, embeddings and metadata live together. We use Vector Search with metadata pre-filters, Atlas Search for exact codes, fuse both with Reciprocal Rank Fusion, and keep an answer cache collection that invalidates itself when the collection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kept 20 test questions with the source IDs that should be found, and scored every change. Hybrid isn't the recall winner at 5; it ranks the first right document highest. Moving from 5 to 10 sources raised recall to about 90 percent, so the AI gets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AI chose its own verdict it got 1 of 7 honesty cases right: it would 'resolve' conflicts and infer motives. Moving the decision into code took it to 6 of 7, with 100 percent of quotes verified, and that was on the weakest backup model because of free-tier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here: ask a question, open a highlighted source, add the hotel porter's statement and watch the answer change, then generate a case report. Follow docs/DEMO_SCRIPT.md.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every claim is one click from its source, contradictions are surfaced instead of hidden, and when the files don't know, the app says so. Next we'd add image and audio evidence, a timeline view, and domain profiles.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83080"/>
            <a:ext cx="7863840" cy="15087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731520" y="3474720"/>
            <a:ext cx="7863840" cy="91440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RAGE Engine · theFirewall · Uncharted</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325880"/>
            <a:ext cx="7863840" cy="365760"/>
          </a:xfrm>
          <a:prstGeom prst="rect">
            <a:avLst/>
          </a:prstGeom>
          <a:noFill/>
          <a:ln/>
        </p:spPr>
        <p:txBody>
          <a:bodyPr wrap="square" lIns="0" tIns="0" rIns="0" bIns="0" rtlCol="0" anchor="t"/>
          <a:lstStyle/>
          <a:p>
            <a:pPr indent="0" marL="0">
              <a:buNone/>
            </a:pPr>
            <a:r>
              <a:rPr lang="en-US" sz="1600" b="1" spc="200" kern="0" dirty="0">
                <a:solidFill>
                  <a:schemeClr val="accent1"/>
                </a:solidFill>
              </a:rPr>
              <a:t>UNCHARTED HACKATHON  ·  TEAM theFirewall</a:t>
            </a:r>
            <a:endParaRPr lang="en-US" sz="1600" dirty="0"/>
          </a:p>
        </p:txBody>
      </p:sp>
      <p:sp>
        <p:nvSpPr>
          <p:cNvPr id="3" name="Text 0"/>
          <p:cNvSpPr/>
          <p:nvPr>
            <p:ph idx="100" type="title" hasCustomPrompt="1"/>
          </p:nvPr>
        </p:nvSpPr>
        <p:spPr>
          <a:xfrm>
            <a:off x="731520" y="1783080"/>
            <a:ext cx="7863840" cy="1508760"/>
          </a:xfrm>
          <a:prstGeom prst="rect">
            <a:avLst/>
          </a:prstGeom>
          <a:noFill/>
          <a:ln/>
        </p:spPr>
        <p:txBody>
          <a:bodyPr wrap="square" lIns="0" tIns="0" rIns="0" bIns="0" rtlCol="0" anchor="b"/>
          <a:lstStyle/>
          <a:p>
            <a:pPr algn="l" indent="0" marL="0">
              <a:buNone/>
            </a:pPr>
            <a:r>
              <a:rPr lang="en-US" sz="5400" b="1" dirty="0">
                <a:solidFill>
                  <a:schemeClr val="bg1"/>
                </a:solidFill>
              </a:rPr>
              <a:t>RAGE Engine</a:t>
            </a:r>
            <a:endParaRPr lang="en-US" sz="5400" dirty="0"/>
          </a:p>
        </p:txBody>
      </p:sp>
      <p:sp>
        <p:nvSpPr>
          <p:cNvPr id="4" name="Text 0"/>
          <p:cNvSpPr/>
          <p:nvPr>
            <p:ph idx="101" type="body" hasCustomPrompt="1"/>
          </p:nvPr>
        </p:nvSpPr>
        <p:spPr>
          <a:xfrm>
            <a:off x="731520" y="3474720"/>
            <a:ext cx="7863840" cy="914400"/>
          </a:xfrm>
          <a:prstGeom prst="rect">
            <a:avLst/>
          </a:prstGeom>
          <a:noFill/>
          <a:ln/>
        </p:spPr>
        <p:txBody>
          <a:bodyPr wrap="square" lIns="0" tIns="0" rIns="0" bIns="0" rtlCol="0" anchor="t"/>
          <a:lstStyle/>
          <a:p>
            <a:pPr algn="l" indent="0" marL="0">
              <a:buNone/>
            </a:pPr>
            <a:r>
              <a:rPr lang="en-US" sz="2200" dirty="0">
                <a:solidFill>
                  <a:schemeClr val="bg2"/>
                </a:solidFill>
              </a:rPr>
              <a:t>Case File: evidence-backed answers from your own case files</a:t>
            </a:r>
            <a:endParaRPr lang="en-US" sz="2200" dirty="0"/>
          </a:p>
        </p:txBody>
      </p:sp>
      <p:sp>
        <p:nvSpPr>
          <p:cNvPr id="5" name="magnifier circle"/>
          <p:cNvSpPr/>
          <p:nvPr/>
        </p:nvSpPr>
        <p:spPr>
          <a:xfrm>
            <a:off x="9052560" y="1554480"/>
            <a:ext cx="2377440" cy="2377440"/>
          </a:xfrm>
          <a:prstGeom prst="ellipse">
            <a:avLst/>
          </a:prstGeom>
          <a:solidFill>
            <a:schemeClr val="accent1"/>
          </a:solidFill>
          <a:ln w="12700">
            <a:solidFill>
              <a:schemeClr val="accent1"/>
            </a:solidFill>
            <a:prstDash val="solid"/>
          </a:ln>
        </p:spPr>
      </p:sp>
      <p:pic>
        <p:nvPicPr>
          <p:cNvPr id="6" name="magnifier icon" descr="magnifier">    </p:cNvPr>
          <p:cNvPicPr>
            <a:picLocks noChangeAspect="1"/>
          </p:cNvPicPr>
          <p:nvPr/>
        </p:nvPicPr>
        <p:blipFill>
          <a:blip r:embed="rId1"/>
          <a:stretch>
            <a:fillRect/>
          </a:stretch>
        </p:blipFill>
        <p:spPr>
          <a:xfrm>
            <a:off x="9623146" y="2125066"/>
            <a:ext cx="1236269" cy="1236269"/>
          </a:xfrm>
          <a:prstGeom prst="rect">
            <a:avLst/>
          </a:prstGeom>
        </p:spPr>
      </p:pic>
      <p:sp>
        <p:nvSpPr>
          <p:cNvPr id="7" name="Text 4"/>
          <p:cNvSpPr txBox="1"/>
          <p:nvPr/>
        </p:nvSpPr>
        <p:spPr>
          <a:xfrm>
            <a:off x="731520" y="5074920"/>
            <a:ext cx="2560320" cy="365760"/>
          </a:xfrm>
          <a:prstGeom prst="rect">
            <a:avLst/>
          </a:prstGeom>
          <a:noFill/>
          <a:ln/>
        </p:spPr>
        <p:txBody>
          <a:bodyPr wrap="square" lIns="0" tIns="0" rIns="0" bIns="0" rtlCol="0" anchor="t"/>
          <a:lstStyle/>
          <a:p>
            <a:pPr indent="0" marL="0">
              <a:buNone/>
            </a:pPr>
            <a:r>
              <a:rPr lang="en-US" sz="1800" b="1" dirty="0">
                <a:solidFill>
                  <a:schemeClr val="bg1"/>
                </a:solidFill>
              </a:rPr>
              <a:t>Shriram APT</a:t>
            </a:r>
            <a:endParaRPr lang="en-US" sz="1800" dirty="0"/>
          </a:p>
        </p:txBody>
      </p:sp>
      <p:sp>
        <p:nvSpPr>
          <p:cNvPr id="8" name="Text 5"/>
          <p:cNvSpPr txBox="1"/>
          <p:nvPr/>
        </p:nvSpPr>
        <p:spPr>
          <a:xfrm>
            <a:off x="731520" y="5440680"/>
            <a:ext cx="2560320" cy="320040"/>
          </a:xfrm>
          <a:prstGeom prst="rect">
            <a:avLst/>
          </a:prstGeom>
          <a:noFill/>
          <a:ln/>
        </p:spPr>
        <p:txBody>
          <a:bodyPr wrap="square" lIns="0" tIns="0" rIns="0" bIns="0" rtlCol="0" anchor="t"/>
          <a:lstStyle/>
          <a:p>
            <a:pPr indent="0" marL="0">
              <a:buNone/>
            </a:pPr>
            <a:r>
              <a:rPr lang="en-US" sz="1400" dirty="0">
                <a:solidFill>
                  <a:schemeClr val="accent6"/>
                </a:solidFill>
              </a:rPr>
              <a:t>U24CS023</a:t>
            </a:r>
            <a:endParaRPr lang="en-US" sz="1400" dirty="0"/>
          </a:p>
        </p:txBody>
      </p:sp>
      <p:sp>
        <p:nvSpPr>
          <p:cNvPr id="9" name="Text 6"/>
          <p:cNvSpPr txBox="1"/>
          <p:nvPr/>
        </p:nvSpPr>
        <p:spPr>
          <a:xfrm>
            <a:off x="3474720" y="5074920"/>
            <a:ext cx="2560320" cy="365760"/>
          </a:xfrm>
          <a:prstGeom prst="rect">
            <a:avLst/>
          </a:prstGeom>
          <a:noFill/>
          <a:ln/>
        </p:spPr>
        <p:txBody>
          <a:bodyPr wrap="square" lIns="0" tIns="0" rIns="0" bIns="0" rtlCol="0" anchor="t"/>
          <a:lstStyle/>
          <a:p>
            <a:pPr indent="0" marL="0">
              <a:buNone/>
            </a:pPr>
            <a:r>
              <a:rPr lang="en-US" sz="1800" b="1" dirty="0">
                <a:solidFill>
                  <a:schemeClr val="bg1"/>
                </a:solidFill>
              </a:rPr>
              <a:t>Janav Rana</a:t>
            </a:r>
            <a:endParaRPr lang="en-US" sz="1800" dirty="0"/>
          </a:p>
        </p:txBody>
      </p:sp>
      <p:sp>
        <p:nvSpPr>
          <p:cNvPr id="10" name="Text 7"/>
          <p:cNvSpPr txBox="1"/>
          <p:nvPr/>
        </p:nvSpPr>
        <p:spPr>
          <a:xfrm>
            <a:off x="3474720" y="5440680"/>
            <a:ext cx="2560320" cy="320040"/>
          </a:xfrm>
          <a:prstGeom prst="rect">
            <a:avLst/>
          </a:prstGeom>
          <a:noFill/>
          <a:ln/>
        </p:spPr>
        <p:txBody>
          <a:bodyPr wrap="square" lIns="0" tIns="0" rIns="0" bIns="0" rtlCol="0" anchor="t"/>
          <a:lstStyle/>
          <a:p>
            <a:pPr indent="0" marL="0">
              <a:buNone/>
            </a:pPr>
            <a:r>
              <a:rPr lang="en-US" sz="1400" dirty="0">
                <a:solidFill>
                  <a:schemeClr val="accent6"/>
                </a:solidFill>
              </a:rPr>
              <a:t>U24CS039</a:t>
            </a:r>
            <a:endParaRPr lang="en-US" sz="1400" dirty="0"/>
          </a:p>
        </p:txBody>
      </p:sp>
      <p:sp>
        <p:nvSpPr>
          <p:cNvPr id="11" name="Text 8"/>
          <p:cNvSpPr txBox="1"/>
          <p:nvPr/>
        </p:nvSpPr>
        <p:spPr>
          <a:xfrm>
            <a:off x="6217920" y="5074920"/>
            <a:ext cx="2560320" cy="365760"/>
          </a:xfrm>
          <a:prstGeom prst="rect">
            <a:avLst/>
          </a:prstGeom>
          <a:noFill/>
          <a:ln/>
        </p:spPr>
        <p:txBody>
          <a:bodyPr wrap="square" lIns="0" tIns="0" rIns="0" bIns="0" rtlCol="0" anchor="t"/>
          <a:lstStyle/>
          <a:p>
            <a:pPr indent="0" marL="0">
              <a:buNone/>
            </a:pPr>
            <a:r>
              <a:rPr lang="en-US" sz="1800" b="1" dirty="0">
                <a:solidFill>
                  <a:schemeClr val="bg1"/>
                </a:solidFill>
              </a:rPr>
              <a:t>Rudra Patni</a:t>
            </a:r>
            <a:endParaRPr lang="en-US" sz="1800" dirty="0"/>
          </a:p>
        </p:txBody>
      </p:sp>
      <p:sp>
        <p:nvSpPr>
          <p:cNvPr id="12" name="Text 9"/>
          <p:cNvSpPr txBox="1"/>
          <p:nvPr/>
        </p:nvSpPr>
        <p:spPr>
          <a:xfrm>
            <a:off x="6217920" y="5440680"/>
            <a:ext cx="2560320" cy="320040"/>
          </a:xfrm>
          <a:prstGeom prst="rect">
            <a:avLst/>
          </a:prstGeom>
          <a:noFill/>
          <a:ln/>
        </p:spPr>
        <p:txBody>
          <a:bodyPr wrap="square" lIns="0" tIns="0" rIns="0" bIns="0" rtlCol="0" anchor="t"/>
          <a:lstStyle/>
          <a:p>
            <a:pPr indent="0" marL="0">
              <a:buNone/>
            </a:pPr>
            <a:r>
              <a:rPr lang="en-US" sz="1400" dirty="0">
                <a:solidFill>
                  <a:schemeClr val="accent6"/>
                </a:solidFill>
              </a:rPr>
              <a:t>U24CS074</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Investigators drown in documents, not answers</a:t>
            </a:r>
            <a:endParaRPr lang="en-US" sz="3400" dirty="0"/>
          </a:p>
        </p:txBody>
      </p:sp>
      <p:sp>
        <p:nvSpPr>
          <p:cNvPr id="3" name="problem card 1"/>
          <p:cNvSpPr/>
          <p:nvPr/>
        </p:nvSpPr>
        <p:spPr>
          <a:xfrm>
            <a:off x="548640" y="1463040"/>
            <a:ext cx="3474720" cy="2834640"/>
          </a:xfrm>
          <a:prstGeom prst="roundRect">
            <a:avLst>
              <a:gd name="adj" fmla="val 258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Who is lying? circle"/>
          <p:cNvSpPr/>
          <p:nvPr/>
        </p:nvSpPr>
        <p:spPr>
          <a:xfrm>
            <a:off x="868680" y="1783080"/>
            <a:ext cx="822960" cy="822960"/>
          </a:xfrm>
          <a:prstGeom prst="ellipse">
            <a:avLst/>
          </a:prstGeom>
          <a:solidFill>
            <a:schemeClr val="tx1"/>
          </a:solidFill>
          <a:ln w="12700">
            <a:solidFill>
              <a:schemeClr val="tx1"/>
            </a:solidFill>
            <a:prstDash val="solid"/>
          </a:ln>
        </p:spPr>
      </p:sp>
      <p:pic>
        <p:nvPicPr>
          <p:cNvPr id="5" name="Who is lying? icon" descr="Who is lying?">    </p:cNvPr>
          <p:cNvPicPr>
            <a:picLocks noChangeAspect="1"/>
          </p:cNvPicPr>
          <p:nvPr/>
        </p:nvPicPr>
        <p:blipFill>
          <a:blip r:embed="rId1"/>
          <a:stretch>
            <a:fillRect/>
          </a:stretch>
        </p:blipFill>
        <p:spPr>
          <a:xfrm>
            <a:off x="1066190" y="1980590"/>
            <a:ext cx="427939" cy="427939"/>
          </a:xfrm>
          <a:prstGeom prst="rect">
            <a:avLst/>
          </a:prstGeom>
        </p:spPr>
      </p:pic>
      <p:sp>
        <p:nvSpPr>
          <p:cNvPr id="6" name="Text 3"/>
          <p:cNvSpPr txBox="1"/>
          <p:nvPr/>
        </p:nvSpPr>
        <p:spPr>
          <a:xfrm>
            <a:off x="868680" y="278892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Who is lying?</a:t>
            </a:r>
            <a:endParaRPr lang="en-US" sz="2200" dirty="0"/>
          </a:p>
        </p:txBody>
      </p:sp>
      <p:sp>
        <p:nvSpPr>
          <p:cNvPr id="7" name="Text 4"/>
          <p:cNvSpPr txBox="1"/>
          <p:nvPr/>
        </p:nvSpPr>
        <p:spPr>
          <a:xfrm>
            <a:off x="868680" y="3291840"/>
            <a:ext cx="2834640" cy="1234440"/>
          </a:xfrm>
          <a:prstGeom prst="rect">
            <a:avLst/>
          </a:prstGeom>
          <a:noFill/>
          <a:ln/>
        </p:spPr>
        <p:txBody>
          <a:bodyPr wrap="square" lIns="0" tIns="0" rIns="0" bIns="0" rtlCol="0" anchor="t"/>
          <a:lstStyle/>
          <a:p>
            <a:pPr indent="0" marL="0">
              <a:buNone/>
            </a:pPr>
            <a:r>
              <a:rPr lang="en-US" sz="1500" dirty="0">
                <a:solidFill>
                  <a:schemeClr val="tx2"/>
                </a:solidFill>
              </a:rPr>
              <a:t>Witnesses misremember and suspects lie. Statements contradict each other and the records.</a:t>
            </a:r>
            <a:endParaRPr lang="en-US" sz="1500" dirty="0"/>
          </a:p>
        </p:txBody>
      </p:sp>
      <p:sp>
        <p:nvSpPr>
          <p:cNvPr id="8" name="problem card 2"/>
          <p:cNvSpPr/>
          <p:nvPr/>
        </p:nvSpPr>
        <p:spPr>
          <a:xfrm>
            <a:off x="4297680" y="1463040"/>
            <a:ext cx="3474720" cy="2834640"/>
          </a:xfrm>
          <a:prstGeom prst="roundRect">
            <a:avLst>
              <a:gd name="adj" fmla="val 258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What is proven? circle"/>
          <p:cNvSpPr/>
          <p:nvPr/>
        </p:nvSpPr>
        <p:spPr>
          <a:xfrm>
            <a:off x="4617720" y="1783080"/>
            <a:ext cx="822960" cy="822960"/>
          </a:xfrm>
          <a:prstGeom prst="ellipse">
            <a:avLst/>
          </a:prstGeom>
          <a:solidFill>
            <a:schemeClr val="tx1"/>
          </a:solidFill>
          <a:ln w="12700">
            <a:solidFill>
              <a:schemeClr val="tx1"/>
            </a:solidFill>
            <a:prstDash val="solid"/>
          </a:ln>
        </p:spPr>
      </p:sp>
      <p:pic>
        <p:nvPicPr>
          <p:cNvPr id="10" name="What is proven? icon" descr="What is proven?">    </p:cNvPr>
          <p:cNvPicPr>
            <a:picLocks noChangeAspect="1"/>
          </p:cNvPicPr>
          <p:nvPr/>
        </p:nvPicPr>
        <p:blipFill>
          <a:blip r:embed="rId2"/>
          <a:stretch>
            <a:fillRect/>
          </a:stretch>
        </p:blipFill>
        <p:spPr>
          <a:xfrm>
            <a:off x="4815230" y="1980590"/>
            <a:ext cx="427939" cy="427939"/>
          </a:xfrm>
          <a:prstGeom prst="rect">
            <a:avLst/>
          </a:prstGeom>
        </p:spPr>
      </p:pic>
      <p:sp>
        <p:nvSpPr>
          <p:cNvPr id="11" name="Text 7"/>
          <p:cNvSpPr txBox="1"/>
          <p:nvPr/>
        </p:nvSpPr>
        <p:spPr>
          <a:xfrm>
            <a:off x="4617720" y="278892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What is proven?</a:t>
            </a:r>
            <a:endParaRPr lang="en-US" sz="2200" dirty="0"/>
          </a:p>
        </p:txBody>
      </p:sp>
      <p:sp>
        <p:nvSpPr>
          <p:cNvPr id="12" name="Text 8"/>
          <p:cNvSpPr txBox="1"/>
          <p:nvPr/>
        </p:nvSpPr>
        <p:spPr>
          <a:xfrm>
            <a:off x="4617720" y="3291840"/>
            <a:ext cx="2834640" cy="1234440"/>
          </a:xfrm>
          <a:prstGeom prst="rect">
            <a:avLst/>
          </a:prstGeom>
          <a:noFill/>
          <a:ln/>
        </p:spPr>
        <p:txBody>
          <a:bodyPr wrap="square" lIns="0" tIns="0" rIns="0" bIns="0" rtlCol="0" anchor="t"/>
          <a:lstStyle/>
          <a:p>
            <a:pPr indent="0" marL="0">
              <a:buNone/>
            </a:pPr>
            <a:r>
              <a:rPr lang="en-US" sz="1500" dirty="0">
                <a:solidFill>
                  <a:schemeClr val="tx2"/>
                </a:solidFill>
              </a:rPr>
              <a:t>The proof is scattered across CCTV logs, door logs, phone records, emails and interviews.</a:t>
            </a:r>
            <a:endParaRPr lang="en-US" sz="1500" dirty="0"/>
          </a:p>
        </p:txBody>
      </p:sp>
      <p:sp>
        <p:nvSpPr>
          <p:cNvPr id="13" name="problem card 3"/>
          <p:cNvSpPr/>
          <p:nvPr/>
        </p:nvSpPr>
        <p:spPr>
          <a:xfrm>
            <a:off x="8046720" y="1463040"/>
            <a:ext cx="3474720" cy="2834640"/>
          </a:xfrm>
          <a:prstGeom prst="roundRect">
            <a:avLst>
              <a:gd name="adj" fmla="val 258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What is unknown? circle"/>
          <p:cNvSpPr/>
          <p:nvPr/>
        </p:nvSpPr>
        <p:spPr>
          <a:xfrm>
            <a:off x="8366760" y="1783080"/>
            <a:ext cx="822960" cy="822960"/>
          </a:xfrm>
          <a:prstGeom prst="ellipse">
            <a:avLst/>
          </a:prstGeom>
          <a:solidFill>
            <a:schemeClr val="tx1"/>
          </a:solidFill>
          <a:ln w="12700">
            <a:solidFill>
              <a:schemeClr val="tx1"/>
            </a:solidFill>
            <a:prstDash val="solid"/>
          </a:ln>
        </p:spPr>
      </p:sp>
      <p:pic>
        <p:nvPicPr>
          <p:cNvPr id="15" name="What is unknown? icon" descr="What is unknown?">    </p:cNvPr>
          <p:cNvPicPr>
            <a:picLocks noChangeAspect="1"/>
          </p:cNvPicPr>
          <p:nvPr/>
        </p:nvPicPr>
        <p:blipFill>
          <a:blip r:embed="rId3"/>
          <a:stretch>
            <a:fillRect/>
          </a:stretch>
        </p:blipFill>
        <p:spPr>
          <a:xfrm>
            <a:off x="8564270" y="1980590"/>
            <a:ext cx="427939" cy="427939"/>
          </a:xfrm>
          <a:prstGeom prst="rect">
            <a:avLst/>
          </a:prstGeom>
        </p:spPr>
      </p:pic>
      <p:sp>
        <p:nvSpPr>
          <p:cNvPr id="16" name="Text 11"/>
          <p:cNvSpPr txBox="1"/>
          <p:nvPr/>
        </p:nvSpPr>
        <p:spPr>
          <a:xfrm>
            <a:off x="8366760" y="278892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What is unknown?</a:t>
            </a:r>
            <a:endParaRPr lang="en-US" sz="2200" dirty="0"/>
          </a:p>
        </p:txBody>
      </p:sp>
      <p:sp>
        <p:nvSpPr>
          <p:cNvPr id="17" name="Text 12"/>
          <p:cNvSpPr txBox="1"/>
          <p:nvPr/>
        </p:nvSpPr>
        <p:spPr>
          <a:xfrm>
            <a:off x="8366760" y="3291840"/>
            <a:ext cx="2834640" cy="1234440"/>
          </a:xfrm>
          <a:prstGeom prst="rect">
            <a:avLst/>
          </a:prstGeom>
          <a:noFill/>
          <a:ln/>
        </p:spPr>
        <p:txBody>
          <a:bodyPr wrap="square" lIns="0" tIns="0" rIns="0" bIns="0" rtlCol="0" anchor="t"/>
          <a:lstStyle/>
          <a:p>
            <a:pPr indent="0" marL="0">
              <a:buNone/>
            </a:pPr>
            <a:r>
              <a:rPr lang="en-US" sz="1500" dirty="0">
                <a:solidFill>
                  <a:schemeClr val="tx2"/>
                </a:solidFill>
              </a:rPr>
              <a:t>A normal chatbot fills gaps with confident guesses. An investigator cannot afford that.</a:t>
            </a:r>
            <a:endParaRPr lang="en-US" sz="1500" dirty="0"/>
          </a:p>
        </p:txBody>
      </p:sp>
      <p:sp>
        <p:nvSpPr>
          <p:cNvPr id="18" name="Text 13"/>
          <p:cNvSpPr txBox="1"/>
          <p:nvPr/>
        </p:nvSpPr>
        <p:spPr>
          <a:xfrm>
            <a:off x="548640" y="4754880"/>
            <a:ext cx="11064240" cy="731520"/>
          </a:xfrm>
          <a:prstGeom prst="rect">
            <a:avLst/>
          </a:prstGeom>
          <a:noFill/>
          <a:ln/>
        </p:spPr>
        <p:txBody>
          <a:bodyPr wrap="square" lIns="0" tIns="0" rIns="0" bIns="0" rtlCol="0" anchor="t"/>
          <a:lstStyle/>
          <a:p>
            <a:pPr indent="0" marL="0">
              <a:buNone/>
            </a:pPr>
            <a:r>
              <a:rPr lang="en-US" sz="2000" i="1" dirty="0">
                <a:solidFill>
                  <a:schemeClr val="tx2"/>
                </a:solidFill>
              </a:rPr>
              <a:t>Most RAG demos treat conflicting and unanswerable questions as edge cases. In an investigation, they are the whole job.</a:t>
            </a:r>
            <a:endParaRPr lang="en-US" sz="2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Ask the case files. Get proof, not guesses</a:t>
            </a:r>
            <a:endParaRPr lang="en-US" sz="3400" dirty="0"/>
          </a:p>
        </p:txBody>
      </p:sp>
      <p:sp>
        <p:nvSpPr>
          <p:cNvPr id="3" name="example answer"/>
          <p:cNvSpPr/>
          <p:nvPr/>
        </p:nvSpPr>
        <p:spPr>
          <a:xfrm>
            <a:off x="548640" y="1417320"/>
            <a:ext cx="5943600" cy="4663440"/>
          </a:xfrm>
          <a:prstGeom prst="roundRect">
            <a:avLst>
              <a:gd name="adj" fmla="val 156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68680" y="1691640"/>
            <a:ext cx="5303520" cy="457200"/>
          </a:xfrm>
          <a:prstGeom prst="rect">
            <a:avLst/>
          </a:prstGeom>
          <a:noFill/>
          <a:ln/>
        </p:spPr>
        <p:txBody>
          <a:bodyPr wrap="square" lIns="0" tIns="0" rIns="0" bIns="0" rtlCol="0" anchor="t"/>
          <a:lstStyle/>
          <a:p>
            <a:pPr indent="0" marL="0">
              <a:buNone/>
            </a:pPr>
            <a:r>
              <a:rPr lang="en-US" sz="1600" b="1" dirty="0">
                <a:solidFill>
                  <a:schemeClr val="tx1"/>
                </a:solidFill>
              </a:rPr>
              <a:t>Q: Was the security desk staffed at around 01:30?</a:t>
            </a:r>
            <a:endParaRPr lang="en-US" sz="1600" dirty="0"/>
          </a:p>
        </p:txBody>
      </p:sp>
      <p:sp>
        <p:nvSpPr>
          <p:cNvPr id="5" name="verdict pill"/>
          <p:cNvSpPr/>
          <p:nvPr/>
        </p:nvSpPr>
        <p:spPr>
          <a:xfrm>
            <a:off x="868680" y="2240280"/>
            <a:ext cx="2834640" cy="411480"/>
          </a:xfrm>
          <a:prstGeom prst="roundRect">
            <a:avLst>
              <a:gd name="adj" fmla="val 44444"/>
            </a:avLst>
          </a:prstGeom>
          <a:solidFill>
            <a:schemeClr val="accent2"/>
          </a:solidFill>
          <a:ln w="12700">
            <a:solidFill>
              <a:schemeClr val="accent2"/>
            </a:solidFill>
            <a:prstDash val="solid"/>
          </a:ln>
        </p:spPr>
      </p:sp>
      <p:sp>
        <p:nvSpPr>
          <p:cNvPr id="6" name="Text 4"/>
          <p:cNvSpPr txBox="1"/>
          <p:nvPr/>
        </p:nvSpPr>
        <p:spPr>
          <a:xfrm>
            <a:off x="868680" y="2240280"/>
            <a:ext cx="2834640" cy="411480"/>
          </a:xfrm>
          <a:prstGeom prst="rect">
            <a:avLst/>
          </a:prstGeom>
          <a:noFill/>
          <a:ln/>
        </p:spPr>
        <p:txBody>
          <a:bodyPr wrap="square" lIns="0" tIns="0" rIns="0" bIns="0" rtlCol="0" anchor="ctr"/>
          <a:lstStyle/>
          <a:p>
            <a:pPr algn="ctr" indent="0" marL="0">
              <a:buNone/>
            </a:pPr>
            <a:r>
              <a:rPr lang="en-US" sz="1400" b="1" dirty="0">
                <a:solidFill>
                  <a:schemeClr val="bg1"/>
                </a:solidFill>
              </a:rPr>
              <a:t>CONFLICTING EVIDENCE</a:t>
            </a:r>
            <a:endParaRPr lang="en-US" sz="1400" dirty="0"/>
          </a:p>
        </p:txBody>
      </p:sp>
      <p:sp>
        <p:nvSpPr>
          <p:cNvPr id="7" name="Text 5"/>
          <p:cNvSpPr txBox="1"/>
          <p:nvPr/>
        </p:nvSpPr>
        <p:spPr>
          <a:xfrm>
            <a:off x="868680" y="2834640"/>
            <a:ext cx="5303520" cy="1280160"/>
          </a:xfrm>
          <a:prstGeom prst="rect">
            <a:avLst/>
          </a:prstGeom>
          <a:noFill/>
          <a:ln/>
        </p:spPr>
        <p:txBody>
          <a:bodyPr wrap="square" lIns="0" tIns="0" rIns="0" bIns="0" rtlCol="0" anchor="t"/>
          <a:lstStyle/>
          <a:p>
            <a:pPr indent="0" marL="0">
              <a:buNone/>
            </a:pPr>
            <a:r>
              <a:rPr lang="en-US" sz="1600" dirty="0">
                <a:solidFill>
                  <a:schemeClr val="tx1"/>
                </a:solidFill>
              </a:rPr>
              <a:t>The guard says he never left the desk </a:t>
            </a:r>
            <a:pPr indent="0" marL="0">
              <a:buNone/>
            </a:pPr>
            <a:r>
              <a:rPr lang="en-US" sz="1600" b="1" dirty="0">
                <a:solidFill>
                  <a:schemeClr val="accent3"/>
                </a:solidFill>
              </a:rPr>
              <a:t>STMT-005</a:t>
            </a:r>
            <a:pPr indent="0" marL="0">
              <a:buNone/>
            </a:pPr>
            <a:r>
              <a:rPr lang="en-US" sz="1600" dirty="0">
                <a:solidFill>
                  <a:schemeClr val="tx1"/>
                </a:solidFill>
              </a:rPr>
              <a:t>, but CCTV shows him walking out at 01:24:28 </a:t>
            </a:r>
            <a:pPr indent="0" marL="0">
              <a:buNone/>
            </a:pPr>
            <a:r>
              <a:rPr lang="en-US" sz="1600" b="1" dirty="0">
                <a:solidFill>
                  <a:schemeClr val="accent3"/>
                </a:solidFill>
              </a:rPr>
              <a:t>CCTV-001</a:t>
            </a:r>
            <a:pPr indent="0" marL="0">
              <a:buNone/>
            </a:pPr>
            <a:r>
              <a:rPr lang="en-US" sz="1600" dirty="0">
                <a:solidFill>
                  <a:schemeClr val="tx1"/>
                </a:solidFill>
              </a:rPr>
              <a:t> and his phone records a 27-minute call </a:t>
            </a:r>
            <a:pPr indent="0" marL="0">
              <a:buNone/>
            </a:pPr>
            <a:r>
              <a:rPr lang="en-US" sz="1600" b="1" dirty="0">
                <a:solidFill>
                  <a:schemeClr val="accent3"/>
                </a:solidFill>
              </a:rPr>
              <a:t>PHONE-002</a:t>
            </a:r>
            <a:pPr indent="0" marL="0">
              <a:buNone/>
            </a:pPr>
            <a:r>
              <a:rPr lang="en-US" sz="1600" dirty="0">
                <a:solidFill>
                  <a:schemeClr val="tx1"/>
                </a:solidFill>
              </a:rPr>
              <a:t>.</a:t>
            </a:r>
            <a:endParaRPr lang="en-US" sz="1600" dirty="0"/>
          </a:p>
        </p:txBody>
      </p:sp>
      <p:sp>
        <p:nvSpPr>
          <p:cNvPr id="8" name="highlighted quote"/>
          <p:cNvSpPr/>
          <p:nvPr/>
        </p:nvSpPr>
        <p:spPr>
          <a:xfrm>
            <a:off x="868680" y="4251960"/>
            <a:ext cx="5303520" cy="502920"/>
          </a:xfrm>
          <a:prstGeom prst="rect">
            <a:avLst/>
          </a:prstGeom>
          <a:solidFill>
            <a:schemeClr val="accent1"/>
          </a:solidFill>
          <a:ln w="12700">
            <a:solidFill>
              <a:schemeClr val="accent1"/>
            </a:solidFill>
            <a:prstDash val="solid"/>
          </a:ln>
        </p:spPr>
      </p:sp>
      <p:sp>
        <p:nvSpPr>
          <p:cNvPr id="9" name="Text 7"/>
          <p:cNvSpPr txBox="1"/>
          <p:nvPr/>
        </p:nvSpPr>
        <p:spPr>
          <a:xfrm>
            <a:off x="960120" y="4251960"/>
            <a:ext cx="5120640" cy="50292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01:24:28 | CAM-01 | security officer stands, phone to ear, exits DOOR-M1</a:t>
            </a:r>
            <a:endParaRPr lang="en-US" sz="1400" dirty="0"/>
          </a:p>
        </p:txBody>
      </p:sp>
      <p:sp>
        <p:nvSpPr>
          <p:cNvPr id="10" name="Text 8"/>
          <p:cNvSpPr txBox="1"/>
          <p:nvPr/>
        </p:nvSpPr>
        <p:spPr>
          <a:xfrm>
            <a:off x="868680" y="4937760"/>
            <a:ext cx="5303520" cy="822960"/>
          </a:xfrm>
          <a:prstGeom prst="rect">
            <a:avLst/>
          </a:prstGeom>
          <a:noFill/>
          <a:ln/>
        </p:spPr>
        <p:txBody>
          <a:bodyPr wrap="square" lIns="0" tIns="0" rIns="0" bIns="0" rtlCol="0" anchor="t"/>
          <a:lstStyle/>
          <a:p>
            <a:pPr indent="0" marL="0">
              <a:buNone/>
            </a:pPr>
            <a:r>
              <a:rPr lang="en-US" sz="1400" i="1" dirty="0">
                <a:solidFill>
                  <a:schemeClr val="tx2"/>
                </a:solidFill>
              </a:rPr>
              <a:t>Click any source: the original document opens with the quote highlighted.</a:t>
            </a:r>
            <a:endParaRPr lang="en-US" sz="1400" dirty="0"/>
          </a:p>
        </p:txBody>
      </p:sp>
      <p:sp>
        <p:nvSpPr>
          <p:cNvPr id="11" name="Answered circle"/>
          <p:cNvSpPr/>
          <p:nvPr/>
        </p:nvSpPr>
        <p:spPr>
          <a:xfrm>
            <a:off x="6903720" y="1463040"/>
            <a:ext cx="685800" cy="685800"/>
          </a:xfrm>
          <a:prstGeom prst="ellipse">
            <a:avLst/>
          </a:prstGeom>
          <a:solidFill>
            <a:schemeClr val="accent4"/>
          </a:solidFill>
          <a:ln w="12700">
            <a:solidFill>
              <a:schemeClr val="accent4"/>
            </a:solidFill>
            <a:prstDash val="solid"/>
          </a:ln>
        </p:spPr>
      </p:sp>
      <p:pic>
        <p:nvPicPr>
          <p:cNvPr id="12" name="Answered icon" descr="Answered">    </p:cNvPr>
          <p:cNvPicPr>
            <a:picLocks noChangeAspect="1"/>
          </p:cNvPicPr>
          <p:nvPr/>
        </p:nvPicPr>
        <p:blipFill>
          <a:blip r:embed="rId1"/>
          <a:stretch>
            <a:fillRect/>
          </a:stretch>
        </p:blipFill>
        <p:spPr>
          <a:xfrm>
            <a:off x="7068312" y="1627632"/>
            <a:ext cx="356616" cy="356616"/>
          </a:xfrm>
          <a:prstGeom prst="rect">
            <a:avLst/>
          </a:prstGeom>
        </p:spPr>
      </p:pic>
      <p:sp>
        <p:nvSpPr>
          <p:cNvPr id="13" name="Text 10"/>
          <p:cNvSpPr txBox="1"/>
          <p:nvPr/>
        </p:nvSpPr>
        <p:spPr>
          <a:xfrm>
            <a:off x="7772400" y="1444752"/>
            <a:ext cx="3840480" cy="365760"/>
          </a:xfrm>
          <a:prstGeom prst="rect">
            <a:avLst/>
          </a:prstGeom>
          <a:noFill/>
          <a:ln/>
        </p:spPr>
        <p:txBody>
          <a:bodyPr wrap="square" lIns="0" tIns="0" rIns="0" bIns="0" rtlCol="0" anchor="t"/>
          <a:lstStyle/>
          <a:p>
            <a:pPr indent="0" marL="0">
              <a:buNone/>
            </a:pPr>
            <a:r>
              <a:rPr lang="en-US" sz="1800" b="1" dirty="0">
                <a:solidFill>
                  <a:schemeClr val="tx1"/>
                </a:solidFill>
              </a:rPr>
              <a:t>Answered</a:t>
            </a:r>
            <a:endParaRPr lang="en-US" sz="1800" dirty="0"/>
          </a:p>
        </p:txBody>
      </p:sp>
      <p:sp>
        <p:nvSpPr>
          <p:cNvPr id="14" name="Text 11"/>
          <p:cNvSpPr txBox="1"/>
          <p:nvPr/>
        </p:nvSpPr>
        <p:spPr>
          <a:xfrm>
            <a:off x="7772400" y="1828800"/>
            <a:ext cx="3840480" cy="685800"/>
          </a:xfrm>
          <a:prstGeom prst="rect">
            <a:avLst/>
          </a:prstGeom>
          <a:noFill/>
          <a:ln/>
        </p:spPr>
        <p:txBody>
          <a:bodyPr wrap="square" lIns="0" tIns="0" rIns="0" bIns="0" rtlCol="0" anchor="t"/>
          <a:lstStyle/>
          <a:p>
            <a:pPr indent="0" marL="0">
              <a:buNone/>
            </a:pPr>
            <a:r>
              <a:rPr lang="en-US" sz="1400" dirty="0">
                <a:solidFill>
                  <a:schemeClr val="tx2"/>
                </a:solidFill>
              </a:rPr>
              <a:t>The case files answer it, every claim cited</a:t>
            </a:r>
            <a:endParaRPr lang="en-US" sz="1400" dirty="0"/>
          </a:p>
        </p:txBody>
      </p:sp>
      <p:sp>
        <p:nvSpPr>
          <p:cNvPr id="15" name="Conflicting evidence circle"/>
          <p:cNvSpPr/>
          <p:nvPr/>
        </p:nvSpPr>
        <p:spPr>
          <a:xfrm>
            <a:off x="6903720" y="2624328"/>
            <a:ext cx="685800" cy="685800"/>
          </a:xfrm>
          <a:prstGeom prst="ellipse">
            <a:avLst/>
          </a:prstGeom>
          <a:solidFill>
            <a:schemeClr val="accent2"/>
          </a:solidFill>
          <a:ln w="12700">
            <a:solidFill>
              <a:schemeClr val="accent2"/>
            </a:solidFill>
            <a:prstDash val="solid"/>
          </a:ln>
        </p:spPr>
      </p:sp>
      <p:pic>
        <p:nvPicPr>
          <p:cNvPr id="16" name="Conflicting evidence icon" descr="Conflicting evidence">    </p:cNvPr>
          <p:cNvPicPr>
            <a:picLocks noChangeAspect="1"/>
          </p:cNvPicPr>
          <p:nvPr/>
        </p:nvPicPr>
        <p:blipFill>
          <a:blip r:embed="rId2"/>
          <a:stretch>
            <a:fillRect/>
          </a:stretch>
        </p:blipFill>
        <p:spPr>
          <a:xfrm>
            <a:off x="7068312" y="2788920"/>
            <a:ext cx="356616" cy="356616"/>
          </a:xfrm>
          <a:prstGeom prst="rect">
            <a:avLst/>
          </a:prstGeom>
        </p:spPr>
      </p:pic>
      <p:sp>
        <p:nvSpPr>
          <p:cNvPr id="17" name="Text 13"/>
          <p:cNvSpPr txBox="1"/>
          <p:nvPr/>
        </p:nvSpPr>
        <p:spPr>
          <a:xfrm>
            <a:off x="7772400" y="2606040"/>
            <a:ext cx="3840480" cy="365760"/>
          </a:xfrm>
          <a:prstGeom prst="rect">
            <a:avLst/>
          </a:prstGeom>
          <a:noFill/>
          <a:ln/>
        </p:spPr>
        <p:txBody>
          <a:bodyPr wrap="square" lIns="0" tIns="0" rIns="0" bIns="0" rtlCol="0" anchor="t"/>
          <a:lstStyle/>
          <a:p>
            <a:pPr indent="0" marL="0">
              <a:buNone/>
            </a:pPr>
            <a:r>
              <a:rPr lang="en-US" sz="1800" b="1" dirty="0">
                <a:solidFill>
                  <a:schemeClr val="tx1"/>
                </a:solidFill>
              </a:rPr>
              <a:t>Conflicting evidence</a:t>
            </a:r>
            <a:endParaRPr lang="en-US" sz="1800" dirty="0"/>
          </a:p>
        </p:txBody>
      </p:sp>
      <p:sp>
        <p:nvSpPr>
          <p:cNvPr id="18" name="Text 14"/>
          <p:cNvSpPr txBox="1"/>
          <p:nvPr/>
        </p:nvSpPr>
        <p:spPr>
          <a:xfrm>
            <a:off x="7772400" y="2990088"/>
            <a:ext cx="3840480" cy="685800"/>
          </a:xfrm>
          <a:prstGeom prst="rect">
            <a:avLst/>
          </a:prstGeom>
          <a:noFill/>
          <a:ln/>
        </p:spPr>
        <p:txBody>
          <a:bodyPr wrap="square" lIns="0" tIns="0" rIns="0" bIns="0" rtlCol="0" anchor="t"/>
          <a:lstStyle/>
          <a:p>
            <a:pPr indent="0" marL="0">
              <a:buNone/>
            </a:pPr>
            <a:r>
              <a:rPr lang="en-US" sz="1400" dirty="0">
                <a:solidFill>
                  <a:schemeClr val="tx2"/>
                </a:solidFill>
              </a:rPr>
              <a:t>Sources disagree: both sides shown, with which one the records support</a:t>
            </a:r>
            <a:endParaRPr lang="en-US" sz="1400" dirty="0"/>
          </a:p>
        </p:txBody>
      </p:sp>
      <p:sp>
        <p:nvSpPr>
          <p:cNvPr id="19" name="Partly answered circle"/>
          <p:cNvSpPr/>
          <p:nvPr/>
        </p:nvSpPr>
        <p:spPr>
          <a:xfrm>
            <a:off x="6903720" y="3785616"/>
            <a:ext cx="685800" cy="685800"/>
          </a:xfrm>
          <a:prstGeom prst="ellipse">
            <a:avLst/>
          </a:prstGeom>
          <a:solidFill>
            <a:schemeClr val="accent1"/>
          </a:solidFill>
          <a:ln w="12700">
            <a:solidFill>
              <a:schemeClr val="accent1"/>
            </a:solidFill>
            <a:prstDash val="solid"/>
          </a:ln>
        </p:spPr>
      </p:sp>
      <p:pic>
        <p:nvPicPr>
          <p:cNvPr id="20" name="Partly answered icon" descr="Partly answered">    </p:cNvPr>
          <p:cNvPicPr>
            <a:picLocks noChangeAspect="1"/>
          </p:cNvPicPr>
          <p:nvPr/>
        </p:nvPicPr>
        <p:blipFill>
          <a:blip r:embed="rId3"/>
          <a:stretch>
            <a:fillRect/>
          </a:stretch>
        </p:blipFill>
        <p:spPr>
          <a:xfrm>
            <a:off x="7068312" y="3950208"/>
            <a:ext cx="356616" cy="356616"/>
          </a:xfrm>
          <a:prstGeom prst="rect">
            <a:avLst/>
          </a:prstGeom>
        </p:spPr>
      </p:pic>
      <p:sp>
        <p:nvSpPr>
          <p:cNvPr id="21" name="Text 16"/>
          <p:cNvSpPr txBox="1"/>
          <p:nvPr/>
        </p:nvSpPr>
        <p:spPr>
          <a:xfrm>
            <a:off x="7772400" y="3767328"/>
            <a:ext cx="3840480" cy="365760"/>
          </a:xfrm>
          <a:prstGeom prst="rect">
            <a:avLst/>
          </a:prstGeom>
          <a:noFill/>
          <a:ln/>
        </p:spPr>
        <p:txBody>
          <a:bodyPr wrap="square" lIns="0" tIns="0" rIns="0" bIns="0" rtlCol="0" anchor="t"/>
          <a:lstStyle/>
          <a:p>
            <a:pPr indent="0" marL="0">
              <a:buNone/>
            </a:pPr>
            <a:r>
              <a:rPr lang="en-US" sz="1800" b="1" dirty="0">
                <a:solidFill>
                  <a:schemeClr val="tx1"/>
                </a:solidFill>
              </a:rPr>
              <a:t>Partly answered</a:t>
            </a:r>
            <a:endParaRPr lang="en-US" sz="1800" dirty="0"/>
          </a:p>
        </p:txBody>
      </p:sp>
      <p:sp>
        <p:nvSpPr>
          <p:cNvPr id="22" name="Text 17"/>
          <p:cNvSpPr txBox="1"/>
          <p:nvPr/>
        </p:nvSpPr>
        <p:spPr>
          <a:xfrm>
            <a:off x="7772400" y="4151376"/>
            <a:ext cx="3840480" cy="685800"/>
          </a:xfrm>
          <a:prstGeom prst="rect">
            <a:avLst/>
          </a:prstGeom>
          <a:noFill/>
          <a:ln/>
        </p:spPr>
        <p:txBody>
          <a:bodyPr wrap="square" lIns="0" tIns="0" rIns="0" bIns="0" rtlCol="0" anchor="t"/>
          <a:lstStyle/>
          <a:p>
            <a:pPr indent="0" marL="0">
              <a:buNone/>
            </a:pPr>
            <a:r>
              <a:rPr lang="en-US" sz="1400" dirty="0">
                <a:solidFill>
                  <a:schemeClr val="tx2"/>
                </a:solidFill>
              </a:rPr>
              <a:t>What is known, plus a list of what is missing</a:t>
            </a:r>
            <a:endParaRPr lang="en-US" sz="1400" dirty="0"/>
          </a:p>
        </p:txBody>
      </p:sp>
      <p:sp>
        <p:nvSpPr>
          <p:cNvPr id="23" name="Not in the case files circle"/>
          <p:cNvSpPr/>
          <p:nvPr/>
        </p:nvSpPr>
        <p:spPr>
          <a:xfrm>
            <a:off x="6903720" y="4946904"/>
            <a:ext cx="685800" cy="685800"/>
          </a:xfrm>
          <a:prstGeom prst="ellipse">
            <a:avLst/>
          </a:prstGeom>
          <a:solidFill>
            <a:schemeClr val="accent6"/>
          </a:solidFill>
          <a:ln w="12700">
            <a:solidFill>
              <a:schemeClr val="accent6"/>
            </a:solidFill>
            <a:prstDash val="solid"/>
          </a:ln>
        </p:spPr>
      </p:sp>
      <p:pic>
        <p:nvPicPr>
          <p:cNvPr id="24" name="Not in the case files icon" descr="Not in the case files">    </p:cNvPr>
          <p:cNvPicPr>
            <a:picLocks noChangeAspect="1"/>
          </p:cNvPicPr>
          <p:nvPr/>
        </p:nvPicPr>
        <p:blipFill>
          <a:blip r:embed="rId4"/>
          <a:stretch>
            <a:fillRect/>
          </a:stretch>
        </p:blipFill>
        <p:spPr>
          <a:xfrm>
            <a:off x="7068312" y="5111496"/>
            <a:ext cx="356616" cy="356616"/>
          </a:xfrm>
          <a:prstGeom prst="rect">
            <a:avLst/>
          </a:prstGeom>
        </p:spPr>
      </p:pic>
      <p:sp>
        <p:nvSpPr>
          <p:cNvPr id="25" name="Text 19"/>
          <p:cNvSpPr txBox="1"/>
          <p:nvPr/>
        </p:nvSpPr>
        <p:spPr>
          <a:xfrm>
            <a:off x="7772400" y="4928616"/>
            <a:ext cx="3840480" cy="365760"/>
          </a:xfrm>
          <a:prstGeom prst="rect">
            <a:avLst/>
          </a:prstGeom>
          <a:noFill/>
          <a:ln/>
        </p:spPr>
        <p:txBody>
          <a:bodyPr wrap="square" lIns="0" tIns="0" rIns="0" bIns="0" rtlCol="0" anchor="t"/>
          <a:lstStyle/>
          <a:p>
            <a:pPr indent="0" marL="0">
              <a:buNone/>
            </a:pPr>
            <a:r>
              <a:rPr lang="en-US" sz="1800" b="1" dirty="0">
                <a:solidFill>
                  <a:schemeClr val="tx1"/>
                </a:solidFill>
              </a:rPr>
              <a:t>Not in the case files</a:t>
            </a:r>
            <a:endParaRPr lang="en-US" sz="1800" dirty="0"/>
          </a:p>
        </p:txBody>
      </p:sp>
      <p:sp>
        <p:nvSpPr>
          <p:cNvPr id="26" name="Text 20"/>
          <p:cNvSpPr txBox="1"/>
          <p:nvPr/>
        </p:nvSpPr>
        <p:spPr>
          <a:xfrm>
            <a:off x="7772400" y="5312664"/>
            <a:ext cx="3840480" cy="685800"/>
          </a:xfrm>
          <a:prstGeom prst="rect">
            <a:avLst/>
          </a:prstGeom>
          <a:noFill/>
          <a:ln/>
        </p:spPr>
        <p:txBody>
          <a:bodyPr wrap="square" lIns="0" tIns="0" rIns="0" bIns="0" rtlCol="0" anchor="t"/>
          <a:lstStyle/>
          <a:p>
            <a:pPr indent="0" marL="0">
              <a:buNone/>
            </a:pPr>
            <a:r>
              <a:rPr lang="en-US" sz="1400" dirty="0">
                <a:solidFill>
                  <a:schemeClr val="tx2"/>
                </a:solidFill>
              </a:rPr>
              <a:t>Says so instead of guessing</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The Midnight Merge: a case built to test honesty</a:t>
            </a:r>
            <a:endParaRPr lang="en-US" sz="3400" dirty="0"/>
          </a:p>
        </p:txBody>
      </p:sp>
      <p:sp>
        <p:nvSpPr>
          <p:cNvPr id="3" name="Text 1"/>
          <p:cNvSpPr txBox="1"/>
          <p:nvPr/>
        </p:nvSpPr>
        <p:spPr>
          <a:xfrm>
            <a:off x="548640" y="1188720"/>
            <a:ext cx="11064240" cy="457200"/>
          </a:xfrm>
          <a:prstGeom prst="rect">
            <a:avLst/>
          </a:prstGeom>
          <a:noFill/>
          <a:ln/>
        </p:spPr>
        <p:txBody>
          <a:bodyPr wrap="square" lIns="0" tIns="0" rIns="0" bIns="0" rtlCol="0" anchor="t"/>
          <a:lstStyle/>
          <a:p>
            <a:pPr indent="0" marL="0">
              <a:buNone/>
            </a:pPr>
            <a:r>
              <a:rPr lang="en-US" sz="1600" dirty="0">
                <a:solidFill>
                  <a:schemeClr val="tx2"/>
                </a:solidFill>
              </a:rPr>
              <a:t>A fictional theft at a 24-hour hackathon in Dublin: a prototype and the only copy of its code vanish overnight.</a:t>
            </a:r>
            <a:endParaRPr lang="en-US" sz="1600" dirty="0"/>
          </a:p>
        </p:txBody>
      </p:sp>
      <p:sp>
        <p:nvSpPr>
          <p:cNvPr id="4" name="stat documents"/>
          <p:cNvSpPr/>
          <p:nvPr/>
        </p:nvSpPr>
        <p:spPr>
          <a:xfrm>
            <a:off x="548640" y="1828800"/>
            <a:ext cx="2606040" cy="1737360"/>
          </a:xfrm>
          <a:prstGeom prst="roundRect">
            <a:avLst>
              <a:gd name="adj" fmla="val 4211"/>
            </a:avLst>
          </a:prstGeom>
          <a:solidFill>
            <a:schemeClr val="tx1"/>
          </a:solidFill>
          <a:ln w="12700">
            <a:solidFill>
              <a:schemeClr val="tx1"/>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965960"/>
            <a:ext cx="210312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40</a:t>
            </a:r>
            <a:endParaRPr lang="en-US" sz="5400" dirty="0"/>
          </a:p>
        </p:txBody>
      </p:sp>
      <p:sp>
        <p:nvSpPr>
          <p:cNvPr id="6" name="Text 4"/>
          <p:cNvSpPr txBox="1"/>
          <p:nvPr/>
        </p:nvSpPr>
        <p:spPr>
          <a:xfrm>
            <a:off x="822960" y="2880360"/>
            <a:ext cx="2194560" cy="548640"/>
          </a:xfrm>
          <a:prstGeom prst="rect">
            <a:avLst/>
          </a:prstGeom>
          <a:noFill/>
          <a:ln/>
        </p:spPr>
        <p:txBody>
          <a:bodyPr wrap="square" lIns="0" tIns="0" rIns="0" bIns="0" rtlCol="0" anchor="t"/>
          <a:lstStyle/>
          <a:p>
            <a:pPr indent="0" marL="0">
              <a:buNone/>
            </a:pPr>
            <a:r>
              <a:rPr lang="en-US" sz="1400" dirty="0">
                <a:solidFill>
                  <a:schemeClr val="bg1"/>
                </a:solidFill>
              </a:rPr>
              <a:t>documents</a:t>
            </a:r>
            <a:endParaRPr lang="en-US" sz="1400" dirty="0"/>
          </a:p>
        </p:txBody>
      </p:sp>
      <p:sp>
        <p:nvSpPr>
          <p:cNvPr id="7" name="stat document types"/>
          <p:cNvSpPr/>
          <p:nvPr/>
        </p:nvSpPr>
        <p:spPr>
          <a:xfrm>
            <a:off x="3360420" y="1828800"/>
            <a:ext cx="2606040" cy="1737360"/>
          </a:xfrm>
          <a:prstGeom prst="roundRect">
            <a:avLst>
              <a:gd name="adj" fmla="val 4211"/>
            </a:avLst>
          </a:prstGeom>
          <a:solidFill>
            <a:schemeClr val="tx1"/>
          </a:solidFill>
          <a:ln w="12700">
            <a:solidFill>
              <a:schemeClr val="tx1"/>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3634740" y="1965960"/>
            <a:ext cx="210312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10</a:t>
            </a:r>
            <a:endParaRPr lang="en-US" sz="5400" dirty="0"/>
          </a:p>
        </p:txBody>
      </p:sp>
      <p:sp>
        <p:nvSpPr>
          <p:cNvPr id="9" name="Text 7"/>
          <p:cNvSpPr txBox="1"/>
          <p:nvPr/>
        </p:nvSpPr>
        <p:spPr>
          <a:xfrm>
            <a:off x="3634740" y="2880360"/>
            <a:ext cx="2194560" cy="548640"/>
          </a:xfrm>
          <a:prstGeom prst="rect">
            <a:avLst/>
          </a:prstGeom>
          <a:noFill/>
          <a:ln/>
        </p:spPr>
        <p:txBody>
          <a:bodyPr wrap="square" lIns="0" tIns="0" rIns="0" bIns="0" rtlCol="0" anchor="t"/>
          <a:lstStyle/>
          <a:p>
            <a:pPr indent="0" marL="0">
              <a:buNone/>
            </a:pPr>
            <a:r>
              <a:rPr lang="en-US" sz="1400" dirty="0">
                <a:solidFill>
                  <a:schemeClr val="bg1"/>
                </a:solidFill>
              </a:rPr>
              <a:t>document types</a:t>
            </a:r>
            <a:endParaRPr lang="en-US" sz="1400" dirty="0"/>
          </a:p>
        </p:txBody>
      </p:sp>
      <p:sp>
        <p:nvSpPr>
          <p:cNvPr id="10" name="stat searchable chunks"/>
          <p:cNvSpPr/>
          <p:nvPr/>
        </p:nvSpPr>
        <p:spPr>
          <a:xfrm>
            <a:off x="6172200" y="1828800"/>
            <a:ext cx="2606040" cy="1737360"/>
          </a:xfrm>
          <a:prstGeom prst="roundRect">
            <a:avLst>
              <a:gd name="adj" fmla="val 4211"/>
            </a:avLst>
          </a:prstGeom>
          <a:solidFill>
            <a:schemeClr val="tx1"/>
          </a:solidFill>
          <a:ln w="12700">
            <a:solidFill>
              <a:schemeClr val="tx1"/>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6446520" y="1965960"/>
            <a:ext cx="210312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88</a:t>
            </a:r>
            <a:endParaRPr lang="en-US" sz="5400" dirty="0"/>
          </a:p>
        </p:txBody>
      </p:sp>
      <p:sp>
        <p:nvSpPr>
          <p:cNvPr id="12" name="Text 10"/>
          <p:cNvSpPr txBox="1"/>
          <p:nvPr/>
        </p:nvSpPr>
        <p:spPr>
          <a:xfrm>
            <a:off x="6446520" y="2880360"/>
            <a:ext cx="2194560" cy="548640"/>
          </a:xfrm>
          <a:prstGeom prst="rect">
            <a:avLst/>
          </a:prstGeom>
          <a:noFill/>
          <a:ln/>
        </p:spPr>
        <p:txBody>
          <a:bodyPr wrap="square" lIns="0" tIns="0" rIns="0" bIns="0" rtlCol="0" anchor="t"/>
          <a:lstStyle/>
          <a:p>
            <a:pPr indent="0" marL="0">
              <a:buNone/>
            </a:pPr>
            <a:r>
              <a:rPr lang="en-US" sz="1400" dirty="0">
                <a:solidFill>
                  <a:schemeClr val="bg1"/>
                </a:solidFill>
              </a:rPr>
              <a:t>searchable chunks</a:t>
            </a:r>
            <a:endParaRPr lang="en-US" sz="1400" dirty="0"/>
          </a:p>
        </p:txBody>
      </p:sp>
      <p:sp>
        <p:nvSpPr>
          <p:cNvPr id="13" name="stat test questions with expected sources"/>
          <p:cNvSpPr/>
          <p:nvPr/>
        </p:nvSpPr>
        <p:spPr>
          <a:xfrm>
            <a:off x="8983980" y="1828800"/>
            <a:ext cx="2606040" cy="1737360"/>
          </a:xfrm>
          <a:prstGeom prst="roundRect">
            <a:avLst>
              <a:gd name="adj" fmla="val 4211"/>
            </a:avLst>
          </a:prstGeom>
          <a:solidFill>
            <a:schemeClr val="tx1"/>
          </a:solidFill>
          <a:ln w="12700">
            <a:solidFill>
              <a:schemeClr val="tx1"/>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9258300" y="1965960"/>
            <a:ext cx="210312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20</a:t>
            </a:r>
            <a:endParaRPr lang="en-US" sz="5400" dirty="0"/>
          </a:p>
        </p:txBody>
      </p:sp>
      <p:sp>
        <p:nvSpPr>
          <p:cNvPr id="15" name="Text 13"/>
          <p:cNvSpPr txBox="1"/>
          <p:nvPr/>
        </p:nvSpPr>
        <p:spPr>
          <a:xfrm>
            <a:off x="9258300" y="2880360"/>
            <a:ext cx="2194560" cy="548640"/>
          </a:xfrm>
          <a:prstGeom prst="rect">
            <a:avLst/>
          </a:prstGeom>
          <a:noFill/>
          <a:ln/>
        </p:spPr>
        <p:txBody>
          <a:bodyPr wrap="square" lIns="0" tIns="0" rIns="0" bIns="0" rtlCol="0" anchor="t"/>
          <a:lstStyle/>
          <a:p>
            <a:pPr indent="0" marL="0">
              <a:buNone/>
            </a:pPr>
            <a:r>
              <a:rPr lang="en-US" sz="1400" dirty="0">
                <a:solidFill>
                  <a:schemeClr val="bg1"/>
                </a:solidFill>
              </a:rPr>
              <a:t>test questions with expected sources</a:t>
            </a:r>
            <a:endParaRPr lang="en-US" sz="1400" dirty="0"/>
          </a:p>
        </p:txBody>
      </p:sp>
      <p:sp>
        <p:nvSpPr>
          <p:cNvPr id="16" name="3 contradictions circle"/>
          <p:cNvSpPr/>
          <p:nvPr/>
        </p:nvSpPr>
        <p:spPr>
          <a:xfrm>
            <a:off x="548640" y="3977640"/>
            <a:ext cx="640080" cy="640080"/>
          </a:xfrm>
          <a:prstGeom prst="ellipse">
            <a:avLst/>
          </a:prstGeom>
          <a:solidFill>
            <a:schemeClr val="accent1"/>
          </a:solidFill>
          <a:ln w="12700">
            <a:solidFill>
              <a:schemeClr val="accent1"/>
            </a:solidFill>
            <a:prstDash val="solid"/>
          </a:ln>
        </p:spPr>
      </p:sp>
      <p:pic>
        <p:nvPicPr>
          <p:cNvPr id="17" name="3 contradictions icon" descr="3 contradictions">    </p:cNvPr>
          <p:cNvPicPr>
            <a:picLocks noChangeAspect="1"/>
          </p:cNvPicPr>
          <p:nvPr/>
        </p:nvPicPr>
        <p:blipFill>
          <a:blip r:embed="rId1"/>
          <a:stretch>
            <a:fillRect/>
          </a:stretch>
        </p:blipFill>
        <p:spPr>
          <a:xfrm>
            <a:off x="702259" y="4131259"/>
            <a:ext cx="332842" cy="332842"/>
          </a:xfrm>
          <a:prstGeom prst="rect">
            <a:avLst/>
          </a:prstGeom>
        </p:spPr>
      </p:pic>
      <p:sp>
        <p:nvSpPr>
          <p:cNvPr id="18" name="Text 15"/>
          <p:cNvSpPr txBox="1"/>
          <p:nvPr/>
        </p:nvSpPr>
        <p:spPr>
          <a:xfrm>
            <a:off x="548640" y="4709160"/>
            <a:ext cx="2103120" cy="365760"/>
          </a:xfrm>
          <a:prstGeom prst="rect">
            <a:avLst/>
          </a:prstGeom>
          <a:noFill/>
          <a:ln/>
        </p:spPr>
        <p:txBody>
          <a:bodyPr wrap="square" lIns="0" tIns="0" rIns="0" bIns="0" rtlCol="0" anchor="t"/>
          <a:lstStyle/>
          <a:p>
            <a:pPr indent="0" marL="0">
              <a:buNone/>
            </a:pPr>
            <a:r>
              <a:rPr lang="en-US" sz="1600" b="1" dirty="0">
                <a:solidFill>
                  <a:schemeClr val="tx1"/>
                </a:solidFill>
              </a:rPr>
              <a:t>3 contradictions</a:t>
            </a:r>
            <a:endParaRPr lang="en-US" sz="1600" dirty="0"/>
          </a:p>
        </p:txBody>
      </p:sp>
      <p:sp>
        <p:nvSpPr>
          <p:cNvPr id="19" name="Text 16"/>
          <p:cNvSpPr txBox="1"/>
          <p:nvPr/>
        </p:nvSpPr>
        <p:spPr>
          <a:xfrm>
            <a:off x="548640" y="5074920"/>
            <a:ext cx="2103120" cy="731520"/>
          </a:xfrm>
          <a:prstGeom prst="rect">
            <a:avLst/>
          </a:prstGeom>
          <a:noFill/>
          <a:ln/>
        </p:spPr>
        <p:txBody>
          <a:bodyPr wrap="square" lIns="0" tIns="0" rIns="0" bIns="0" rtlCol="0" anchor="t"/>
          <a:lstStyle/>
          <a:p>
            <a:pPr indent="0" marL="0">
              <a:buNone/>
            </a:pPr>
            <a:r>
              <a:rPr lang="en-US" sz="1400" dirty="0">
                <a:solidFill>
                  <a:schemeClr val="tx2"/>
                </a:solidFill>
              </a:rPr>
              <a:t>between witnesses</a:t>
            </a:r>
            <a:endParaRPr lang="en-US" sz="1400" dirty="0"/>
          </a:p>
        </p:txBody>
      </p:sp>
      <p:sp>
        <p:nvSpPr>
          <p:cNvPr id="20" name="1 lie circle"/>
          <p:cNvSpPr/>
          <p:nvPr/>
        </p:nvSpPr>
        <p:spPr>
          <a:xfrm>
            <a:off x="2798064" y="3977640"/>
            <a:ext cx="640080" cy="640080"/>
          </a:xfrm>
          <a:prstGeom prst="ellipse">
            <a:avLst/>
          </a:prstGeom>
          <a:solidFill>
            <a:schemeClr val="accent1"/>
          </a:solidFill>
          <a:ln w="12700">
            <a:solidFill>
              <a:schemeClr val="accent1"/>
            </a:solidFill>
            <a:prstDash val="solid"/>
          </a:ln>
        </p:spPr>
      </p:sp>
      <p:pic>
        <p:nvPicPr>
          <p:cNvPr id="21" name="1 lie icon" descr="1 lie">    </p:cNvPr>
          <p:cNvPicPr>
            <a:picLocks noChangeAspect="1"/>
          </p:cNvPicPr>
          <p:nvPr/>
        </p:nvPicPr>
        <p:blipFill>
          <a:blip r:embed="rId2"/>
          <a:stretch>
            <a:fillRect/>
          </a:stretch>
        </p:blipFill>
        <p:spPr>
          <a:xfrm>
            <a:off x="2951683" y="4131259"/>
            <a:ext cx="332842" cy="332842"/>
          </a:xfrm>
          <a:prstGeom prst="rect">
            <a:avLst/>
          </a:prstGeom>
        </p:spPr>
      </p:pic>
      <p:sp>
        <p:nvSpPr>
          <p:cNvPr id="22" name="Text 18"/>
          <p:cNvSpPr txBox="1"/>
          <p:nvPr/>
        </p:nvSpPr>
        <p:spPr>
          <a:xfrm>
            <a:off x="2798064" y="4709160"/>
            <a:ext cx="2103120" cy="365760"/>
          </a:xfrm>
          <a:prstGeom prst="rect">
            <a:avLst/>
          </a:prstGeom>
          <a:noFill/>
          <a:ln/>
        </p:spPr>
        <p:txBody>
          <a:bodyPr wrap="square" lIns="0" tIns="0" rIns="0" bIns="0" rtlCol="0" anchor="t"/>
          <a:lstStyle/>
          <a:p>
            <a:pPr indent="0" marL="0">
              <a:buNone/>
            </a:pPr>
            <a:r>
              <a:rPr lang="en-US" sz="1600" b="1" dirty="0">
                <a:solidFill>
                  <a:schemeClr val="tx1"/>
                </a:solidFill>
              </a:rPr>
              <a:t>1 lie</a:t>
            </a:r>
            <a:endParaRPr lang="en-US" sz="1600" dirty="0"/>
          </a:p>
        </p:txBody>
      </p:sp>
      <p:sp>
        <p:nvSpPr>
          <p:cNvPr id="23" name="Text 19"/>
          <p:cNvSpPr txBox="1"/>
          <p:nvPr/>
        </p:nvSpPr>
        <p:spPr>
          <a:xfrm>
            <a:off x="2798064" y="5074920"/>
            <a:ext cx="2103120" cy="731520"/>
          </a:xfrm>
          <a:prstGeom prst="rect">
            <a:avLst/>
          </a:prstGeom>
          <a:noFill/>
          <a:ln/>
        </p:spPr>
        <p:txBody>
          <a:bodyPr wrap="square" lIns="0" tIns="0" rIns="0" bIns="0" rtlCol="0" anchor="t"/>
          <a:lstStyle/>
          <a:p>
            <a:pPr indent="0" marL="0">
              <a:buNone/>
            </a:pPr>
            <a:r>
              <a:rPr lang="en-US" sz="1400" dirty="0">
                <a:solidFill>
                  <a:schemeClr val="tx2"/>
                </a:solidFill>
              </a:rPr>
              <a:t>only CCTV + door logs disprove together</a:t>
            </a:r>
            <a:endParaRPr lang="en-US" sz="1400" dirty="0"/>
          </a:p>
        </p:txBody>
      </p:sp>
      <p:sp>
        <p:nvSpPr>
          <p:cNvPr id="24" name="2 red herrings circle"/>
          <p:cNvSpPr/>
          <p:nvPr/>
        </p:nvSpPr>
        <p:spPr>
          <a:xfrm>
            <a:off x="5047488" y="3977640"/>
            <a:ext cx="640080" cy="640080"/>
          </a:xfrm>
          <a:prstGeom prst="ellipse">
            <a:avLst/>
          </a:prstGeom>
          <a:solidFill>
            <a:schemeClr val="accent1"/>
          </a:solidFill>
          <a:ln w="12700">
            <a:solidFill>
              <a:schemeClr val="accent1"/>
            </a:solidFill>
            <a:prstDash val="solid"/>
          </a:ln>
        </p:spPr>
      </p:sp>
      <p:pic>
        <p:nvPicPr>
          <p:cNvPr id="25" name="2 red herrings icon" descr="2 red herrings">    </p:cNvPr>
          <p:cNvPicPr>
            <a:picLocks noChangeAspect="1"/>
          </p:cNvPicPr>
          <p:nvPr/>
        </p:nvPicPr>
        <p:blipFill>
          <a:blip r:embed="rId3"/>
          <a:stretch>
            <a:fillRect/>
          </a:stretch>
        </p:blipFill>
        <p:spPr>
          <a:xfrm>
            <a:off x="5201107" y="4131259"/>
            <a:ext cx="332842" cy="332842"/>
          </a:xfrm>
          <a:prstGeom prst="rect">
            <a:avLst/>
          </a:prstGeom>
        </p:spPr>
      </p:pic>
      <p:sp>
        <p:nvSpPr>
          <p:cNvPr id="26" name="Text 21"/>
          <p:cNvSpPr txBox="1"/>
          <p:nvPr/>
        </p:nvSpPr>
        <p:spPr>
          <a:xfrm>
            <a:off x="5047488" y="4709160"/>
            <a:ext cx="2103120" cy="365760"/>
          </a:xfrm>
          <a:prstGeom prst="rect">
            <a:avLst/>
          </a:prstGeom>
          <a:noFill/>
          <a:ln/>
        </p:spPr>
        <p:txBody>
          <a:bodyPr wrap="square" lIns="0" tIns="0" rIns="0" bIns="0" rtlCol="0" anchor="t"/>
          <a:lstStyle/>
          <a:p>
            <a:pPr indent="0" marL="0">
              <a:buNone/>
            </a:pPr>
            <a:r>
              <a:rPr lang="en-US" sz="1600" b="1" dirty="0">
                <a:solidFill>
                  <a:schemeClr val="tx1"/>
                </a:solidFill>
              </a:rPr>
              <a:t>2 red herrings</a:t>
            </a:r>
            <a:endParaRPr lang="en-US" sz="1600" dirty="0"/>
          </a:p>
        </p:txBody>
      </p:sp>
      <p:sp>
        <p:nvSpPr>
          <p:cNvPr id="27" name="Text 22"/>
          <p:cNvSpPr txBox="1"/>
          <p:nvPr/>
        </p:nvSpPr>
        <p:spPr>
          <a:xfrm>
            <a:off x="5047488" y="5074920"/>
            <a:ext cx="2103120" cy="731520"/>
          </a:xfrm>
          <a:prstGeom prst="rect">
            <a:avLst/>
          </a:prstGeom>
          <a:noFill/>
          <a:ln/>
        </p:spPr>
        <p:txBody>
          <a:bodyPr wrap="square" lIns="0" tIns="0" rIns="0" bIns="0" rtlCol="0" anchor="t"/>
          <a:lstStyle/>
          <a:p>
            <a:pPr indent="0" marL="0">
              <a:buNone/>
            </a:pPr>
            <a:r>
              <a:rPr lang="en-US" sz="1400" dirty="0">
                <a:solidFill>
                  <a:schemeClr val="tx2"/>
                </a:solidFill>
              </a:rPr>
              <a:t>suspicious but innocent</a:t>
            </a:r>
            <a:endParaRPr lang="en-US" sz="1400" dirty="0"/>
          </a:p>
        </p:txBody>
      </p:sp>
      <p:sp>
        <p:nvSpPr>
          <p:cNvPr id="28" name="3 facts circle"/>
          <p:cNvSpPr/>
          <p:nvPr/>
        </p:nvSpPr>
        <p:spPr>
          <a:xfrm>
            <a:off x="7296912" y="3977640"/>
            <a:ext cx="640080" cy="640080"/>
          </a:xfrm>
          <a:prstGeom prst="ellipse">
            <a:avLst/>
          </a:prstGeom>
          <a:solidFill>
            <a:schemeClr val="accent1"/>
          </a:solidFill>
          <a:ln w="12700">
            <a:solidFill>
              <a:schemeClr val="accent1"/>
            </a:solidFill>
            <a:prstDash val="solid"/>
          </a:ln>
        </p:spPr>
      </p:sp>
      <p:pic>
        <p:nvPicPr>
          <p:cNvPr id="29" name="3 facts icon" descr="3 facts">    </p:cNvPr>
          <p:cNvPicPr>
            <a:picLocks noChangeAspect="1"/>
          </p:cNvPicPr>
          <p:nvPr/>
        </p:nvPicPr>
        <p:blipFill>
          <a:blip r:embed="rId4"/>
          <a:stretch>
            <a:fillRect/>
          </a:stretch>
        </p:blipFill>
        <p:spPr>
          <a:xfrm>
            <a:off x="7450531" y="4131259"/>
            <a:ext cx="332842" cy="332842"/>
          </a:xfrm>
          <a:prstGeom prst="rect">
            <a:avLst/>
          </a:prstGeom>
        </p:spPr>
      </p:pic>
      <p:sp>
        <p:nvSpPr>
          <p:cNvPr id="30" name="Text 24"/>
          <p:cNvSpPr txBox="1"/>
          <p:nvPr/>
        </p:nvSpPr>
        <p:spPr>
          <a:xfrm>
            <a:off x="7296912" y="4709160"/>
            <a:ext cx="2103120" cy="365760"/>
          </a:xfrm>
          <a:prstGeom prst="rect">
            <a:avLst/>
          </a:prstGeom>
          <a:noFill/>
          <a:ln/>
        </p:spPr>
        <p:txBody>
          <a:bodyPr wrap="square" lIns="0" tIns="0" rIns="0" bIns="0" rtlCol="0" anchor="t"/>
          <a:lstStyle/>
          <a:p>
            <a:pPr indent="0" marL="0">
              <a:buNone/>
            </a:pPr>
            <a:r>
              <a:rPr lang="en-US" sz="1600" b="1" dirty="0">
                <a:solidFill>
                  <a:schemeClr val="tx1"/>
                </a:solidFill>
              </a:rPr>
              <a:t>3 facts</a:t>
            </a:r>
            <a:endParaRPr lang="en-US" sz="1600" dirty="0"/>
          </a:p>
        </p:txBody>
      </p:sp>
      <p:sp>
        <p:nvSpPr>
          <p:cNvPr id="31" name="Text 25"/>
          <p:cNvSpPr txBox="1"/>
          <p:nvPr/>
        </p:nvSpPr>
        <p:spPr>
          <a:xfrm>
            <a:off x="7296912" y="5074920"/>
            <a:ext cx="2103120" cy="731520"/>
          </a:xfrm>
          <a:prstGeom prst="rect">
            <a:avLst/>
          </a:prstGeom>
          <a:noFill/>
          <a:ln/>
        </p:spPr>
        <p:txBody>
          <a:bodyPr wrap="square" lIns="0" tIns="0" rIns="0" bIns="0" rtlCol="0" anchor="t"/>
          <a:lstStyle/>
          <a:p>
            <a:pPr indent="0" marL="0">
              <a:buNone/>
            </a:pPr>
            <a:r>
              <a:rPr lang="en-US" sz="1400" dirty="0">
                <a:solidFill>
                  <a:schemeClr val="tx2"/>
                </a:solidFill>
              </a:rPr>
              <a:t>recorded nowhere: must be refused</a:t>
            </a:r>
            <a:endParaRPr lang="en-US" sz="1400" dirty="0"/>
          </a:p>
        </p:txBody>
      </p:sp>
      <p:sp>
        <p:nvSpPr>
          <p:cNvPr id="32" name="15+ exact codes circle"/>
          <p:cNvSpPr/>
          <p:nvPr/>
        </p:nvSpPr>
        <p:spPr>
          <a:xfrm>
            <a:off x="9546336" y="3977640"/>
            <a:ext cx="640080" cy="640080"/>
          </a:xfrm>
          <a:prstGeom prst="ellipse">
            <a:avLst/>
          </a:prstGeom>
          <a:solidFill>
            <a:schemeClr val="accent1"/>
          </a:solidFill>
          <a:ln w="12700">
            <a:solidFill>
              <a:schemeClr val="accent1"/>
            </a:solidFill>
            <a:prstDash val="solid"/>
          </a:ln>
        </p:spPr>
      </p:sp>
      <p:pic>
        <p:nvPicPr>
          <p:cNvPr id="33" name="15+ exact codes icon" descr="15+ exact codes">    </p:cNvPr>
          <p:cNvPicPr>
            <a:picLocks noChangeAspect="1"/>
          </p:cNvPicPr>
          <p:nvPr/>
        </p:nvPicPr>
        <p:blipFill>
          <a:blip r:embed="rId5"/>
          <a:stretch>
            <a:fillRect/>
          </a:stretch>
        </p:blipFill>
        <p:spPr>
          <a:xfrm>
            <a:off x="9699955" y="4131259"/>
            <a:ext cx="332842" cy="332842"/>
          </a:xfrm>
          <a:prstGeom prst="rect">
            <a:avLst/>
          </a:prstGeom>
        </p:spPr>
      </p:pic>
      <p:sp>
        <p:nvSpPr>
          <p:cNvPr id="34" name="Text 27"/>
          <p:cNvSpPr txBox="1"/>
          <p:nvPr/>
        </p:nvSpPr>
        <p:spPr>
          <a:xfrm>
            <a:off x="9546336" y="4709160"/>
            <a:ext cx="2103120" cy="365760"/>
          </a:xfrm>
          <a:prstGeom prst="rect">
            <a:avLst/>
          </a:prstGeom>
          <a:noFill/>
          <a:ln/>
        </p:spPr>
        <p:txBody>
          <a:bodyPr wrap="square" lIns="0" tIns="0" rIns="0" bIns="0" rtlCol="0" anchor="t"/>
          <a:lstStyle/>
          <a:p>
            <a:pPr indent="0" marL="0">
              <a:buNone/>
            </a:pPr>
            <a:r>
              <a:rPr lang="en-US" sz="1600" b="1" dirty="0">
                <a:solidFill>
                  <a:schemeClr val="tx1"/>
                </a:solidFill>
              </a:rPr>
              <a:t>15+ exact codes</a:t>
            </a:r>
            <a:endParaRPr lang="en-US" sz="1600" dirty="0"/>
          </a:p>
        </p:txBody>
      </p:sp>
      <p:sp>
        <p:nvSpPr>
          <p:cNvPr id="35" name="Text 28"/>
          <p:cNvSpPr txBox="1"/>
          <p:nvPr/>
        </p:nvSpPr>
        <p:spPr>
          <a:xfrm>
            <a:off x="9546336" y="5074920"/>
            <a:ext cx="2103120" cy="731520"/>
          </a:xfrm>
          <a:prstGeom prst="rect">
            <a:avLst/>
          </a:prstGeom>
          <a:noFill/>
          <a:ln/>
        </p:spPr>
        <p:txBody>
          <a:bodyPr wrap="square" lIns="0" tIns="0" rIns="0" bIns="0" rtlCol="0" anchor="t"/>
          <a:lstStyle/>
          <a:p>
            <a:pPr indent="0" marL="0">
              <a:buNone/>
            </a:pPr>
            <a:r>
              <a:rPr lang="en-US" sz="1400" dirty="0">
                <a:solidFill>
                  <a:schemeClr val="tx2"/>
                </a:solidFill>
              </a:rPr>
              <a:t>badges, plates, receipts</a:t>
            </a:r>
            <a:endParaRPr lang="en-US" sz="1400" dirty="0"/>
          </a:p>
        </p:txBody>
      </p:sp>
      <p:sp>
        <p:nvSpPr>
          <p:cNvPr id="36" name="Text 29"/>
          <p:cNvSpPr txBox="1"/>
          <p:nvPr/>
        </p:nvSpPr>
        <p:spPr>
          <a:xfrm>
            <a:off x="548640" y="5852160"/>
            <a:ext cx="11064240" cy="365760"/>
          </a:xfrm>
          <a:prstGeom prst="rect">
            <a:avLst/>
          </a:prstGeom>
          <a:noFill/>
          <a:ln/>
        </p:spPr>
        <p:txBody>
          <a:bodyPr wrap="square" lIns="0" tIns="0" rIns="0" bIns="0" rtlCol="0" anchor="t"/>
          <a:lstStyle/>
          <a:p>
            <a:pPr indent="0" marL="0">
              <a:buNone/>
            </a:pPr>
            <a:r>
              <a:rPr lang="en-US" sz="1400" i="1" dirty="0">
                <a:solidFill>
                  <a:schemeClr val="tx2"/>
                </a:solidFill>
              </a:rPr>
              <a:t>A hidden answer key, never imported into the app, lets us measure whether the app finds the truth.</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From question to verified answer in five steps</a:t>
            </a:r>
            <a:endParaRPr lang="en-US" sz="3400" dirty="0"/>
          </a:p>
        </p:txBody>
      </p:sp>
      <p:sp>
        <p:nvSpPr>
          <p:cNvPr id="3" name="step 1"/>
          <p:cNvSpPr/>
          <p:nvPr/>
        </p:nvSpPr>
        <p:spPr>
          <a:xfrm>
            <a:off x="1143000" y="1508760"/>
            <a:ext cx="822960" cy="822960"/>
          </a:xfrm>
          <a:prstGeom prst="ellipse">
            <a:avLst/>
          </a:prstGeom>
          <a:solidFill>
            <a:schemeClr val="tx1"/>
          </a:solidFill>
          <a:ln w="12700">
            <a:solidFill>
              <a:schemeClr val="tx1"/>
            </a:solidFill>
            <a:prstDash val="solid"/>
          </a:ln>
        </p:spPr>
      </p:sp>
      <p:sp>
        <p:nvSpPr>
          <p:cNvPr id="4" name="Text 2"/>
          <p:cNvSpPr txBox="1"/>
          <p:nvPr/>
        </p:nvSpPr>
        <p:spPr>
          <a:xfrm>
            <a:off x="1143000" y="1508760"/>
            <a:ext cx="822960" cy="82296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1</a:t>
            </a:r>
            <a:endParaRPr lang="en-US" sz="3000" dirty="0"/>
          </a:p>
        </p:txBody>
      </p:sp>
      <p:sp>
        <p:nvSpPr>
          <p:cNvPr id="5" name="arrow 1"/>
          <p:cNvSpPr/>
          <p:nvPr/>
        </p:nvSpPr>
        <p:spPr>
          <a:xfrm>
            <a:off x="2057400" y="1920240"/>
            <a:ext cx="1371600" cy="0"/>
          </a:xfrm>
          <a:prstGeom prst="line">
            <a:avLst/>
          </a:prstGeom>
          <a:noFill/>
          <a:ln w="25400">
            <a:solidFill>
              <a:schemeClr val="accent6"/>
            </a:solidFill>
            <a:prstDash val="solid"/>
            <a:tailEnd type="triangle"/>
          </a:ln>
        </p:spPr>
      </p:sp>
      <p:sp>
        <p:nvSpPr>
          <p:cNvPr id="6" name="Text 4"/>
          <p:cNvSpPr txBox="1"/>
          <p:nvPr/>
        </p:nvSpPr>
        <p:spPr>
          <a:xfrm>
            <a:off x="548640" y="2514600"/>
            <a:ext cx="2011680" cy="411480"/>
          </a:xfrm>
          <a:prstGeom prst="rect">
            <a:avLst/>
          </a:prstGeom>
          <a:noFill/>
          <a:ln/>
        </p:spPr>
        <p:txBody>
          <a:bodyPr wrap="square" lIns="0" tIns="0" rIns="0" bIns="0" rtlCol="0" anchor="t"/>
          <a:lstStyle/>
          <a:p>
            <a:pPr algn="ctr" indent="0" marL="0">
              <a:buNone/>
            </a:pPr>
            <a:r>
              <a:rPr lang="en-US" sz="2000" b="1" dirty="0">
                <a:solidFill>
                  <a:schemeClr val="tx1"/>
                </a:solidFill>
              </a:rPr>
              <a:t>Search</a:t>
            </a:r>
            <a:endParaRPr lang="en-US" sz="2000" dirty="0"/>
          </a:p>
        </p:txBody>
      </p:sp>
      <p:sp>
        <p:nvSpPr>
          <p:cNvPr id="7" name="Text 5"/>
          <p:cNvSpPr txBox="1"/>
          <p:nvPr/>
        </p:nvSpPr>
        <p:spPr>
          <a:xfrm>
            <a:off x="548640" y="2971800"/>
            <a:ext cx="2011680" cy="1188720"/>
          </a:xfrm>
          <a:prstGeom prst="rect">
            <a:avLst/>
          </a:prstGeom>
          <a:noFill/>
          <a:ln/>
        </p:spPr>
        <p:txBody>
          <a:bodyPr wrap="square" lIns="0" tIns="0" rIns="0" bIns="0" rtlCol="0" anchor="t"/>
          <a:lstStyle/>
          <a:p>
            <a:pPr algn="ctr" indent="0" marL="0">
              <a:buNone/>
            </a:pPr>
            <a:r>
              <a:rPr lang="en-US" sz="1400" dirty="0">
                <a:solidFill>
                  <a:schemeClr val="tx2"/>
                </a:solidFill>
              </a:rPr>
              <a:t>Hybrid search: meaning + exact words, top 10 sources</a:t>
            </a:r>
            <a:endParaRPr lang="en-US" sz="1400" dirty="0"/>
          </a:p>
        </p:txBody>
      </p:sp>
      <p:sp>
        <p:nvSpPr>
          <p:cNvPr id="8" name="step 2"/>
          <p:cNvSpPr/>
          <p:nvPr/>
        </p:nvSpPr>
        <p:spPr>
          <a:xfrm>
            <a:off x="3429000" y="1508760"/>
            <a:ext cx="822960" cy="822960"/>
          </a:xfrm>
          <a:prstGeom prst="ellipse">
            <a:avLst/>
          </a:prstGeom>
          <a:solidFill>
            <a:schemeClr val="tx1"/>
          </a:solidFill>
          <a:ln w="12700">
            <a:solidFill>
              <a:schemeClr val="tx1"/>
            </a:solidFill>
            <a:prstDash val="solid"/>
          </a:ln>
        </p:spPr>
      </p:sp>
      <p:sp>
        <p:nvSpPr>
          <p:cNvPr id="9" name="Text 7"/>
          <p:cNvSpPr txBox="1"/>
          <p:nvPr/>
        </p:nvSpPr>
        <p:spPr>
          <a:xfrm>
            <a:off x="3429000" y="1508760"/>
            <a:ext cx="822960" cy="82296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2</a:t>
            </a:r>
            <a:endParaRPr lang="en-US" sz="3000" dirty="0"/>
          </a:p>
        </p:txBody>
      </p:sp>
      <p:sp>
        <p:nvSpPr>
          <p:cNvPr id="10" name="arrow 2"/>
          <p:cNvSpPr/>
          <p:nvPr/>
        </p:nvSpPr>
        <p:spPr>
          <a:xfrm>
            <a:off x="4343400" y="1920240"/>
            <a:ext cx="1371600" cy="0"/>
          </a:xfrm>
          <a:prstGeom prst="line">
            <a:avLst/>
          </a:prstGeom>
          <a:noFill/>
          <a:ln w="25400">
            <a:solidFill>
              <a:schemeClr val="accent6"/>
            </a:solidFill>
            <a:prstDash val="solid"/>
            <a:tailEnd type="triangle"/>
          </a:ln>
        </p:spPr>
      </p:sp>
      <p:sp>
        <p:nvSpPr>
          <p:cNvPr id="11" name="Text 9"/>
          <p:cNvSpPr txBox="1"/>
          <p:nvPr/>
        </p:nvSpPr>
        <p:spPr>
          <a:xfrm>
            <a:off x="2834640" y="2514600"/>
            <a:ext cx="2011680" cy="411480"/>
          </a:xfrm>
          <a:prstGeom prst="rect">
            <a:avLst/>
          </a:prstGeom>
          <a:noFill/>
          <a:ln/>
        </p:spPr>
        <p:txBody>
          <a:bodyPr wrap="square" lIns="0" tIns="0" rIns="0" bIns="0" rtlCol="0" anchor="t"/>
          <a:lstStyle/>
          <a:p>
            <a:pPr algn="ctr" indent="0" marL="0">
              <a:buNone/>
            </a:pPr>
            <a:r>
              <a:rPr lang="en-US" sz="2000" b="1" dirty="0">
                <a:solidFill>
                  <a:schemeClr val="tx1"/>
                </a:solidFill>
              </a:rPr>
              <a:t>Investigate</a:t>
            </a:r>
            <a:endParaRPr lang="en-US" sz="2000" dirty="0"/>
          </a:p>
        </p:txBody>
      </p:sp>
      <p:sp>
        <p:nvSpPr>
          <p:cNvPr id="12" name="Text 10"/>
          <p:cNvSpPr txBox="1"/>
          <p:nvPr/>
        </p:nvSpPr>
        <p:spPr>
          <a:xfrm>
            <a:off x="2834640" y="2971800"/>
            <a:ext cx="2011680" cy="1188720"/>
          </a:xfrm>
          <a:prstGeom prst="rect">
            <a:avLst/>
          </a:prstGeom>
          <a:noFill/>
          <a:ln/>
        </p:spPr>
        <p:txBody>
          <a:bodyPr wrap="square" lIns="0" tIns="0" rIns="0" bIns="0" rtlCol="0" anchor="t"/>
          <a:lstStyle/>
          <a:p>
            <a:pPr algn="ctr" indent="0" marL="0">
              <a:buNone/>
            </a:pPr>
            <a:r>
              <a:rPr lang="en-US" sz="1400" dirty="0">
                <a:solidFill>
                  <a:schemeClr val="tx2"/>
                </a:solidFill>
              </a:rPr>
              <a:t>AI spots codes like HB-9042 and runs follow-up searches</a:t>
            </a:r>
            <a:endParaRPr lang="en-US" sz="1400" dirty="0"/>
          </a:p>
        </p:txBody>
      </p:sp>
      <p:sp>
        <p:nvSpPr>
          <p:cNvPr id="13" name="step 3"/>
          <p:cNvSpPr/>
          <p:nvPr/>
        </p:nvSpPr>
        <p:spPr>
          <a:xfrm>
            <a:off x="5715000" y="1508760"/>
            <a:ext cx="822960" cy="822960"/>
          </a:xfrm>
          <a:prstGeom prst="ellipse">
            <a:avLst/>
          </a:prstGeom>
          <a:solidFill>
            <a:schemeClr val="tx1"/>
          </a:solidFill>
          <a:ln w="12700">
            <a:solidFill>
              <a:schemeClr val="tx1"/>
            </a:solidFill>
            <a:prstDash val="solid"/>
          </a:ln>
        </p:spPr>
      </p:sp>
      <p:sp>
        <p:nvSpPr>
          <p:cNvPr id="14" name="Text 12"/>
          <p:cNvSpPr txBox="1"/>
          <p:nvPr/>
        </p:nvSpPr>
        <p:spPr>
          <a:xfrm>
            <a:off x="5715000" y="1508760"/>
            <a:ext cx="822960" cy="82296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3</a:t>
            </a:r>
            <a:endParaRPr lang="en-US" sz="3000" dirty="0"/>
          </a:p>
        </p:txBody>
      </p:sp>
      <p:sp>
        <p:nvSpPr>
          <p:cNvPr id="15" name="arrow 3"/>
          <p:cNvSpPr/>
          <p:nvPr/>
        </p:nvSpPr>
        <p:spPr>
          <a:xfrm>
            <a:off x="6629400" y="1920240"/>
            <a:ext cx="1371600" cy="0"/>
          </a:xfrm>
          <a:prstGeom prst="line">
            <a:avLst/>
          </a:prstGeom>
          <a:noFill/>
          <a:ln w="25400">
            <a:solidFill>
              <a:schemeClr val="accent6"/>
            </a:solidFill>
            <a:prstDash val="solid"/>
            <a:tailEnd type="triangle"/>
          </a:ln>
        </p:spPr>
      </p:sp>
      <p:sp>
        <p:nvSpPr>
          <p:cNvPr id="16" name="Text 14"/>
          <p:cNvSpPr txBox="1"/>
          <p:nvPr/>
        </p:nvSpPr>
        <p:spPr>
          <a:xfrm>
            <a:off x="5120640" y="2514600"/>
            <a:ext cx="2011680" cy="411480"/>
          </a:xfrm>
          <a:prstGeom prst="rect">
            <a:avLst/>
          </a:prstGeom>
          <a:noFill/>
          <a:ln/>
        </p:spPr>
        <p:txBody>
          <a:bodyPr wrap="square" lIns="0" tIns="0" rIns="0" bIns="0" rtlCol="0" anchor="t"/>
          <a:lstStyle/>
          <a:p>
            <a:pPr algn="ctr" indent="0" marL="0">
              <a:buNone/>
            </a:pPr>
            <a:r>
              <a:rPr lang="en-US" sz="2000" b="1" dirty="0">
                <a:solidFill>
                  <a:schemeClr val="tx1"/>
                </a:solidFill>
              </a:rPr>
              <a:t>Answer</a:t>
            </a:r>
            <a:endParaRPr lang="en-US" sz="2000" dirty="0"/>
          </a:p>
        </p:txBody>
      </p:sp>
      <p:sp>
        <p:nvSpPr>
          <p:cNvPr id="17" name="Text 15"/>
          <p:cNvSpPr txBox="1"/>
          <p:nvPr/>
        </p:nvSpPr>
        <p:spPr>
          <a:xfrm>
            <a:off x="5120640" y="2971800"/>
            <a:ext cx="2011680" cy="1188720"/>
          </a:xfrm>
          <a:prstGeom prst="rect">
            <a:avLst/>
          </a:prstGeom>
          <a:noFill/>
          <a:ln/>
        </p:spPr>
        <p:txBody>
          <a:bodyPr wrap="square" lIns="0" tIns="0" rIns="0" bIns="0" rtlCol="0" anchor="t"/>
          <a:lstStyle/>
          <a:p>
            <a:pPr algn="ctr" indent="0" marL="0">
              <a:buNone/>
            </a:pPr>
            <a:r>
              <a:rPr lang="en-US" sz="1400" dirty="0">
                <a:solidFill>
                  <a:schemeClr val="tx2"/>
                </a:solidFill>
              </a:rPr>
              <a:t>AI writes ONLY from the evidence, citing every claim</a:t>
            </a:r>
            <a:endParaRPr lang="en-US" sz="1400" dirty="0"/>
          </a:p>
        </p:txBody>
      </p:sp>
      <p:sp>
        <p:nvSpPr>
          <p:cNvPr id="18" name="step 4"/>
          <p:cNvSpPr/>
          <p:nvPr/>
        </p:nvSpPr>
        <p:spPr>
          <a:xfrm>
            <a:off x="8001000" y="1508760"/>
            <a:ext cx="822960" cy="822960"/>
          </a:xfrm>
          <a:prstGeom prst="ellipse">
            <a:avLst/>
          </a:prstGeom>
          <a:solidFill>
            <a:schemeClr val="accent1"/>
          </a:solidFill>
          <a:ln w="12700">
            <a:solidFill>
              <a:schemeClr val="accent1"/>
            </a:solidFill>
            <a:prstDash val="solid"/>
          </a:ln>
        </p:spPr>
      </p:sp>
      <p:sp>
        <p:nvSpPr>
          <p:cNvPr id="19" name="Text 17"/>
          <p:cNvSpPr txBox="1"/>
          <p:nvPr/>
        </p:nvSpPr>
        <p:spPr>
          <a:xfrm>
            <a:off x="8001000" y="1508760"/>
            <a:ext cx="82296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4</a:t>
            </a:r>
            <a:endParaRPr lang="en-US" sz="3000" dirty="0"/>
          </a:p>
        </p:txBody>
      </p:sp>
      <p:sp>
        <p:nvSpPr>
          <p:cNvPr id="20" name="arrow 4"/>
          <p:cNvSpPr/>
          <p:nvPr/>
        </p:nvSpPr>
        <p:spPr>
          <a:xfrm>
            <a:off x="8915400" y="1920240"/>
            <a:ext cx="1371600" cy="0"/>
          </a:xfrm>
          <a:prstGeom prst="line">
            <a:avLst/>
          </a:prstGeom>
          <a:noFill/>
          <a:ln w="25400">
            <a:solidFill>
              <a:schemeClr val="accent6"/>
            </a:solidFill>
            <a:prstDash val="solid"/>
            <a:tailEnd type="triangle"/>
          </a:ln>
        </p:spPr>
      </p:sp>
      <p:sp>
        <p:nvSpPr>
          <p:cNvPr id="21" name="Text 19"/>
          <p:cNvSpPr txBox="1"/>
          <p:nvPr/>
        </p:nvSpPr>
        <p:spPr>
          <a:xfrm>
            <a:off x="7406640" y="2514600"/>
            <a:ext cx="2011680" cy="411480"/>
          </a:xfrm>
          <a:prstGeom prst="rect">
            <a:avLst/>
          </a:prstGeom>
          <a:noFill/>
          <a:ln/>
        </p:spPr>
        <p:txBody>
          <a:bodyPr wrap="square" lIns="0" tIns="0" rIns="0" bIns="0" rtlCol="0" anchor="t"/>
          <a:lstStyle/>
          <a:p>
            <a:pPr algn="ctr" indent="0" marL="0">
              <a:buNone/>
            </a:pPr>
            <a:r>
              <a:rPr lang="en-US" sz="2000" b="1" dirty="0">
                <a:solidFill>
                  <a:schemeClr val="tx1"/>
                </a:solidFill>
              </a:rPr>
              <a:t>Verify</a:t>
            </a:r>
            <a:endParaRPr lang="en-US" sz="2000" dirty="0"/>
          </a:p>
        </p:txBody>
      </p:sp>
      <p:sp>
        <p:nvSpPr>
          <p:cNvPr id="22" name="Text 20"/>
          <p:cNvSpPr txBox="1"/>
          <p:nvPr/>
        </p:nvSpPr>
        <p:spPr>
          <a:xfrm>
            <a:off x="7406640" y="2971800"/>
            <a:ext cx="2011680" cy="1188720"/>
          </a:xfrm>
          <a:prstGeom prst="rect">
            <a:avLst/>
          </a:prstGeom>
          <a:noFill/>
          <a:ln/>
        </p:spPr>
        <p:txBody>
          <a:bodyPr wrap="square" lIns="0" tIns="0" rIns="0" bIns="0" rtlCol="0" anchor="t"/>
          <a:lstStyle/>
          <a:p>
            <a:pPr algn="ctr" indent="0" marL="0">
              <a:buNone/>
            </a:pPr>
            <a:r>
              <a:rPr lang="en-US" sz="1400" dirty="0">
                <a:solidFill>
                  <a:schemeClr val="tx2"/>
                </a:solidFill>
              </a:rPr>
              <a:t>Code checks every quote word-for-word in the source</a:t>
            </a:r>
            <a:endParaRPr lang="en-US" sz="1400" dirty="0"/>
          </a:p>
        </p:txBody>
      </p:sp>
      <p:sp>
        <p:nvSpPr>
          <p:cNvPr id="23" name="step 5"/>
          <p:cNvSpPr/>
          <p:nvPr/>
        </p:nvSpPr>
        <p:spPr>
          <a:xfrm>
            <a:off x="10287000" y="1508760"/>
            <a:ext cx="822960" cy="822960"/>
          </a:xfrm>
          <a:prstGeom prst="ellipse">
            <a:avLst/>
          </a:prstGeom>
          <a:solidFill>
            <a:schemeClr val="accent1"/>
          </a:solidFill>
          <a:ln w="12700">
            <a:solidFill>
              <a:schemeClr val="accent1"/>
            </a:solidFill>
            <a:prstDash val="solid"/>
          </a:ln>
        </p:spPr>
      </p:sp>
      <p:sp>
        <p:nvSpPr>
          <p:cNvPr id="24" name="Text 22"/>
          <p:cNvSpPr txBox="1"/>
          <p:nvPr/>
        </p:nvSpPr>
        <p:spPr>
          <a:xfrm>
            <a:off x="10287000" y="1508760"/>
            <a:ext cx="82296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5</a:t>
            </a:r>
            <a:endParaRPr lang="en-US" sz="3000" dirty="0"/>
          </a:p>
        </p:txBody>
      </p:sp>
      <p:sp>
        <p:nvSpPr>
          <p:cNvPr id="25" name="Text 23"/>
          <p:cNvSpPr txBox="1"/>
          <p:nvPr/>
        </p:nvSpPr>
        <p:spPr>
          <a:xfrm>
            <a:off x="9692640" y="2514600"/>
            <a:ext cx="2011680" cy="411480"/>
          </a:xfrm>
          <a:prstGeom prst="rect">
            <a:avLst/>
          </a:prstGeom>
          <a:noFill/>
          <a:ln/>
        </p:spPr>
        <p:txBody>
          <a:bodyPr wrap="square" lIns="0" tIns="0" rIns="0" bIns="0" rtlCol="0" anchor="t"/>
          <a:lstStyle/>
          <a:p>
            <a:pPr algn="ctr" indent="0" marL="0">
              <a:buNone/>
            </a:pPr>
            <a:r>
              <a:rPr lang="en-US" sz="2000" b="1" dirty="0">
                <a:solidFill>
                  <a:schemeClr val="tx1"/>
                </a:solidFill>
              </a:rPr>
              <a:t>Decide</a:t>
            </a:r>
            <a:endParaRPr lang="en-US" sz="2000" dirty="0"/>
          </a:p>
        </p:txBody>
      </p:sp>
      <p:sp>
        <p:nvSpPr>
          <p:cNvPr id="26" name="Text 24"/>
          <p:cNvSpPr txBox="1"/>
          <p:nvPr/>
        </p:nvSpPr>
        <p:spPr>
          <a:xfrm>
            <a:off x="9692640" y="2971800"/>
            <a:ext cx="2011680" cy="1188720"/>
          </a:xfrm>
          <a:prstGeom prst="rect">
            <a:avLst/>
          </a:prstGeom>
          <a:noFill/>
          <a:ln/>
        </p:spPr>
        <p:txBody>
          <a:bodyPr wrap="square" lIns="0" tIns="0" rIns="0" bIns="0" rtlCol="0" anchor="t"/>
          <a:lstStyle/>
          <a:p>
            <a:pPr algn="ctr" indent="0" marL="0">
              <a:buNone/>
            </a:pPr>
            <a:r>
              <a:rPr lang="en-US" sz="1400" dirty="0">
                <a:solidFill>
                  <a:schemeClr val="tx2"/>
                </a:solidFill>
              </a:rPr>
              <a:t>Fixed rules set the verdict from question parts + conflicts</a:t>
            </a:r>
            <a:endParaRPr lang="en-US" sz="1400" dirty="0"/>
          </a:p>
        </p:txBody>
      </p:sp>
      <p:sp>
        <p:nvSpPr>
          <p:cNvPr id="27" name="Text 25"/>
          <p:cNvSpPr txBox="1"/>
          <p:nvPr/>
        </p:nvSpPr>
        <p:spPr>
          <a:xfrm>
            <a:off x="548640" y="4160520"/>
            <a:ext cx="6492240" cy="320040"/>
          </a:xfrm>
          <a:prstGeom prst="rect">
            <a:avLst/>
          </a:prstGeom>
          <a:noFill/>
          <a:ln/>
        </p:spPr>
        <p:txBody>
          <a:bodyPr wrap="square" lIns="0" tIns="0" rIns="0" bIns="0" rtlCol="0" anchor="t"/>
          <a:lstStyle/>
          <a:p>
            <a:pPr algn="ctr" indent="0" marL="0">
              <a:buNone/>
            </a:pPr>
            <a:r>
              <a:rPr lang="en-US" sz="1200" dirty="0">
                <a:solidFill>
                  <a:schemeClr val="accent6"/>
                </a:solidFill>
              </a:rPr>
              <a:t>AI-driven</a:t>
            </a:r>
            <a:endParaRPr lang="en-US" sz="1200" dirty="0"/>
          </a:p>
        </p:txBody>
      </p:sp>
      <p:sp>
        <p:nvSpPr>
          <p:cNvPr id="28" name="Text 26"/>
          <p:cNvSpPr txBox="1"/>
          <p:nvPr/>
        </p:nvSpPr>
        <p:spPr>
          <a:xfrm>
            <a:off x="7406640" y="4160520"/>
            <a:ext cx="4206240" cy="320040"/>
          </a:xfrm>
          <a:prstGeom prst="rect">
            <a:avLst/>
          </a:prstGeom>
          <a:noFill/>
          <a:ln/>
        </p:spPr>
        <p:txBody>
          <a:bodyPr wrap="square" lIns="0" tIns="0" rIns="0" bIns="0" rtlCol="0" anchor="t"/>
          <a:lstStyle/>
          <a:p>
            <a:pPr algn="ctr" indent="0" marL="0">
              <a:buNone/>
            </a:pPr>
            <a:r>
              <a:rPr lang="en-US" sz="1200" b="1" dirty="0">
                <a:solidFill>
                  <a:schemeClr val="tx1"/>
                </a:solidFill>
              </a:rPr>
              <a:t>Checked by code, not trusted</a:t>
            </a:r>
            <a:endParaRPr lang="en-US" sz="1200" dirty="0"/>
          </a:p>
        </p:txBody>
      </p:sp>
      <p:sp>
        <p:nvSpPr>
          <p:cNvPr id="29" name="stack"/>
          <p:cNvSpPr/>
          <p:nvPr/>
        </p:nvSpPr>
        <p:spPr>
          <a:xfrm>
            <a:off x="548640" y="4709160"/>
            <a:ext cx="110642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30" name="Text 28"/>
          <p:cNvSpPr txBox="1"/>
          <p:nvPr/>
        </p:nvSpPr>
        <p:spPr>
          <a:xfrm>
            <a:off x="868680" y="4937760"/>
            <a:ext cx="2560320" cy="365760"/>
          </a:xfrm>
          <a:prstGeom prst="rect">
            <a:avLst/>
          </a:prstGeom>
          <a:noFill/>
          <a:ln/>
        </p:spPr>
        <p:txBody>
          <a:bodyPr wrap="square" lIns="0" tIns="0" rIns="0" bIns="0" rtlCol="0" anchor="t"/>
          <a:lstStyle/>
          <a:p>
            <a:pPr indent="0" marL="0">
              <a:buNone/>
            </a:pPr>
            <a:r>
              <a:rPr lang="en-US" sz="1800" b="1" dirty="0">
                <a:solidFill>
                  <a:schemeClr val="tx1"/>
                </a:solidFill>
              </a:rPr>
              <a:t>MongoDB Atlas</a:t>
            </a:r>
            <a:endParaRPr lang="en-US" sz="1800" dirty="0"/>
          </a:p>
        </p:txBody>
      </p:sp>
      <p:sp>
        <p:nvSpPr>
          <p:cNvPr id="31" name="Text 29"/>
          <p:cNvSpPr txBox="1"/>
          <p:nvPr/>
        </p:nvSpPr>
        <p:spPr>
          <a:xfrm>
            <a:off x="868680" y="5349240"/>
            <a:ext cx="2560320" cy="457200"/>
          </a:xfrm>
          <a:prstGeom prst="rect">
            <a:avLst/>
          </a:prstGeom>
          <a:noFill/>
          <a:ln/>
        </p:spPr>
        <p:txBody>
          <a:bodyPr wrap="square" lIns="0" tIns="0" rIns="0" bIns="0" rtlCol="0" anchor="t"/>
          <a:lstStyle/>
          <a:p>
            <a:pPr indent="0" marL="0">
              <a:buNone/>
            </a:pPr>
            <a:r>
              <a:rPr lang="en-US" sz="1400" dirty="0">
                <a:solidFill>
                  <a:schemeClr val="tx2"/>
                </a:solidFill>
              </a:rPr>
              <a:t>Vector Search + Atlas Search</a:t>
            </a:r>
            <a:endParaRPr lang="en-US" sz="1400" dirty="0"/>
          </a:p>
        </p:txBody>
      </p:sp>
      <p:sp>
        <p:nvSpPr>
          <p:cNvPr id="32" name="Text 30"/>
          <p:cNvSpPr txBox="1"/>
          <p:nvPr/>
        </p:nvSpPr>
        <p:spPr>
          <a:xfrm>
            <a:off x="3566160" y="4937760"/>
            <a:ext cx="2560320" cy="365760"/>
          </a:xfrm>
          <a:prstGeom prst="rect">
            <a:avLst/>
          </a:prstGeom>
          <a:noFill/>
          <a:ln/>
        </p:spPr>
        <p:txBody>
          <a:bodyPr wrap="square" lIns="0" tIns="0" rIns="0" bIns="0" rtlCol="0" anchor="t"/>
          <a:lstStyle/>
          <a:p>
            <a:pPr indent="0" marL="0">
              <a:buNone/>
            </a:pPr>
            <a:r>
              <a:rPr lang="en-US" sz="1800" b="1" dirty="0">
                <a:solidFill>
                  <a:schemeClr val="tx1"/>
                </a:solidFill>
              </a:rPr>
              <a:t>Voyage AI</a:t>
            </a:r>
            <a:endParaRPr lang="en-US" sz="1800" dirty="0"/>
          </a:p>
        </p:txBody>
      </p:sp>
      <p:sp>
        <p:nvSpPr>
          <p:cNvPr id="33" name="Text 31"/>
          <p:cNvSpPr txBox="1"/>
          <p:nvPr/>
        </p:nvSpPr>
        <p:spPr>
          <a:xfrm>
            <a:off x="3566160" y="5349240"/>
            <a:ext cx="2560320" cy="457200"/>
          </a:xfrm>
          <a:prstGeom prst="rect">
            <a:avLst/>
          </a:prstGeom>
          <a:noFill/>
          <a:ln/>
        </p:spPr>
        <p:txBody>
          <a:bodyPr wrap="square" lIns="0" tIns="0" rIns="0" bIns="0" rtlCol="0" anchor="t"/>
          <a:lstStyle/>
          <a:p>
            <a:pPr indent="0" marL="0">
              <a:buNone/>
            </a:pPr>
            <a:r>
              <a:rPr lang="en-US" sz="1400" dirty="0">
                <a:solidFill>
                  <a:schemeClr val="tx2"/>
                </a:solidFill>
              </a:rPr>
              <a:t>voyage-4 embeddings</a:t>
            </a:r>
            <a:endParaRPr lang="en-US" sz="1400" dirty="0"/>
          </a:p>
        </p:txBody>
      </p:sp>
      <p:sp>
        <p:nvSpPr>
          <p:cNvPr id="34" name="Text 32"/>
          <p:cNvSpPr txBox="1"/>
          <p:nvPr/>
        </p:nvSpPr>
        <p:spPr>
          <a:xfrm>
            <a:off x="6263640" y="4937760"/>
            <a:ext cx="2560320" cy="365760"/>
          </a:xfrm>
          <a:prstGeom prst="rect">
            <a:avLst/>
          </a:prstGeom>
          <a:noFill/>
          <a:ln/>
        </p:spPr>
        <p:txBody>
          <a:bodyPr wrap="square" lIns="0" tIns="0" rIns="0" bIns="0" rtlCol="0" anchor="t"/>
          <a:lstStyle/>
          <a:p>
            <a:pPr indent="0" marL="0">
              <a:buNone/>
            </a:pPr>
            <a:r>
              <a:rPr lang="en-US" sz="1800" b="1" dirty="0">
                <a:solidFill>
                  <a:schemeClr val="tx1"/>
                </a:solidFill>
              </a:rPr>
              <a:t>Google Gemini</a:t>
            </a:r>
            <a:endParaRPr lang="en-US" sz="1800" dirty="0"/>
          </a:p>
        </p:txBody>
      </p:sp>
      <p:sp>
        <p:nvSpPr>
          <p:cNvPr id="35" name="Text 33"/>
          <p:cNvSpPr txBox="1"/>
          <p:nvPr/>
        </p:nvSpPr>
        <p:spPr>
          <a:xfrm>
            <a:off x="6263640" y="5349240"/>
            <a:ext cx="2560320" cy="457200"/>
          </a:xfrm>
          <a:prstGeom prst="rect">
            <a:avLst/>
          </a:prstGeom>
          <a:noFill/>
          <a:ln/>
        </p:spPr>
        <p:txBody>
          <a:bodyPr wrap="square" lIns="0" tIns="0" rIns="0" bIns="0" rtlCol="0" anchor="t"/>
          <a:lstStyle/>
          <a:p>
            <a:pPr indent="0" marL="0">
              <a:buNone/>
            </a:pPr>
            <a:r>
              <a:rPr lang="en-US" sz="1400" dirty="0">
                <a:solidFill>
                  <a:schemeClr val="tx2"/>
                </a:solidFill>
              </a:rPr>
              <a:t>answers, with fallback models</a:t>
            </a:r>
            <a:endParaRPr lang="en-US" sz="1400" dirty="0"/>
          </a:p>
        </p:txBody>
      </p:sp>
      <p:sp>
        <p:nvSpPr>
          <p:cNvPr id="36" name="Text 34"/>
          <p:cNvSpPr txBox="1"/>
          <p:nvPr/>
        </p:nvSpPr>
        <p:spPr>
          <a:xfrm>
            <a:off x="8961120" y="4937760"/>
            <a:ext cx="2560320" cy="365760"/>
          </a:xfrm>
          <a:prstGeom prst="rect">
            <a:avLst/>
          </a:prstGeom>
          <a:noFill/>
          <a:ln/>
        </p:spPr>
        <p:txBody>
          <a:bodyPr wrap="square" lIns="0" tIns="0" rIns="0" bIns="0" rtlCol="0" anchor="t"/>
          <a:lstStyle/>
          <a:p>
            <a:pPr indent="0" marL="0">
              <a:buNone/>
            </a:pPr>
            <a:r>
              <a:rPr lang="en-US" sz="1800" b="1" dirty="0">
                <a:solidFill>
                  <a:schemeClr val="tx1"/>
                </a:solidFill>
              </a:rPr>
              <a:t>Streamlit</a:t>
            </a:r>
            <a:endParaRPr lang="en-US" sz="1800" dirty="0"/>
          </a:p>
        </p:txBody>
      </p:sp>
      <p:sp>
        <p:nvSpPr>
          <p:cNvPr id="37" name="Text 35"/>
          <p:cNvSpPr txBox="1"/>
          <p:nvPr/>
        </p:nvSpPr>
        <p:spPr>
          <a:xfrm>
            <a:off x="8961120" y="5349240"/>
            <a:ext cx="2560320" cy="457200"/>
          </a:xfrm>
          <a:prstGeom prst="rect">
            <a:avLst/>
          </a:prstGeom>
          <a:noFill/>
          <a:ln/>
        </p:spPr>
        <p:txBody>
          <a:bodyPr wrap="square" lIns="0" tIns="0" rIns="0" bIns="0" rtlCol="0" anchor="t"/>
          <a:lstStyle/>
          <a:p>
            <a:pPr indent="0" marL="0">
              <a:buNone/>
            </a:pPr>
            <a:r>
              <a:rPr lang="en-US" sz="1400" dirty="0">
                <a:solidFill>
                  <a:schemeClr val="tx2"/>
                </a:solidFill>
              </a:rPr>
              <a:t>web app, deployed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MongoDB Atlas does the heavy lifting</a:t>
            </a:r>
            <a:endParaRPr lang="en-US" sz="3400" dirty="0"/>
          </a:p>
        </p:txBody>
      </p:sp>
      <p:sp>
        <p:nvSpPr>
          <p:cNvPr id="3" name="Everything together"/>
          <p:cNvSpPr/>
          <p:nvPr/>
        </p:nvSpPr>
        <p:spPr>
          <a:xfrm>
            <a:off x="548640" y="1417320"/>
            <a:ext cx="347472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Everything together circle"/>
          <p:cNvSpPr/>
          <p:nvPr/>
        </p:nvSpPr>
        <p:spPr>
          <a:xfrm>
            <a:off x="822960" y="1691640"/>
            <a:ext cx="640080" cy="640080"/>
          </a:xfrm>
          <a:prstGeom prst="ellipse">
            <a:avLst/>
          </a:prstGeom>
          <a:solidFill>
            <a:schemeClr val="accent4"/>
          </a:solidFill>
          <a:ln w="12700">
            <a:solidFill>
              <a:schemeClr val="accent4"/>
            </a:solidFill>
            <a:prstDash val="solid"/>
          </a:ln>
        </p:spPr>
      </p:sp>
      <p:pic>
        <p:nvPicPr>
          <p:cNvPr id="5" name="Everything together icon" descr="Everything together">    </p:cNvPr>
          <p:cNvPicPr>
            <a:picLocks noChangeAspect="1"/>
          </p:cNvPicPr>
          <p:nvPr/>
        </p:nvPicPr>
        <p:blipFill>
          <a:blip r:embed="rId1"/>
          <a:stretch>
            <a:fillRect/>
          </a:stretch>
        </p:blipFill>
        <p:spPr>
          <a:xfrm>
            <a:off x="976579" y="1845259"/>
            <a:ext cx="332842" cy="332842"/>
          </a:xfrm>
          <a:prstGeom prst="rect">
            <a:avLst/>
          </a:prstGeom>
        </p:spPr>
      </p:pic>
      <p:sp>
        <p:nvSpPr>
          <p:cNvPr id="6" name="Text 3"/>
          <p:cNvSpPr txBox="1"/>
          <p:nvPr/>
        </p:nvSpPr>
        <p:spPr>
          <a:xfrm>
            <a:off x="1600200" y="178308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Everything together</a:t>
            </a:r>
            <a:endParaRPr lang="en-US" sz="1800" dirty="0"/>
          </a:p>
        </p:txBody>
      </p:sp>
      <p:sp>
        <p:nvSpPr>
          <p:cNvPr id="7" name="Text 4"/>
          <p:cNvSpPr txBox="1"/>
          <p:nvPr/>
        </p:nvSpPr>
        <p:spPr>
          <a:xfrm>
            <a:off x="822960" y="2468880"/>
            <a:ext cx="2971800" cy="1005840"/>
          </a:xfrm>
          <a:prstGeom prst="rect">
            <a:avLst/>
          </a:prstGeom>
          <a:noFill/>
          <a:ln/>
        </p:spPr>
        <p:txBody>
          <a:bodyPr wrap="square" lIns="0" tIns="0" rIns="0" bIns="0" rtlCol="0" anchor="t"/>
          <a:lstStyle/>
          <a:p>
            <a:pPr indent="0" marL="0">
              <a:buNone/>
            </a:pPr>
            <a:r>
              <a:rPr lang="en-US" sz="1400" dirty="0">
                <a:solidFill>
                  <a:schemeClr val="tx2"/>
                </a:solidFill>
              </a:rPr>
              <a:t>Originals, chunks, embeddings, metadata and exact character offsets in one database</a:t>
            </a:r>
            <a:endParaRPr lang="en-US" sz="1400" dirty="0"/>
          </a:p>
        </p:txBody>
      </p:sp>
      <p:sp>
        <p:nvSpPr>
          <p:cNvPr id="8" name="Vector Search"/>
          <p:cNvSpPr/>
          <p:nvPr/>
        </p:nvSpPr>
        <p:spPr>
          <a:xfrm>
            <a:off x="4297680" y="1417320"/>
            <a:ext cx="347472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Vector Search circle"/>
          <p:cNvSpPr/>
          <p:nvPr/>
        </p:nvSpPr>
        <p:spPr>
          <a:xfrm>
            <a:off x="4572000" y="1691640"/>
            <a:ext cx="640080" cy="640080"/>
          </a:xfrm>
          <a:prstGeom prst="ellipse">
            <a:avLst/>
          </a:prstGeom>
          <a:solidFill>
            <a:schemeClr val="accent4"/>
          </a:solidFill>
          <a:ln w="12700">
            <a:solidFill>
              <a:schemeClr val="accent4"/>
            </a:solidFill>
            <a:prstDash val="solid"/>
          </a:ln>
        </p:spPr>
      </p:sp>
      <p:pic>
        <p:nvPicPr>
          <p:cNvPr id="10" name="Vector Search icon" descr="Vector Search">    </p:cNvPr>
          <p:cNvPicPr>
            <a:picLocks noChangeAspect="1"/>
          </p:cNvPicPr>
          <p:nvPr/>
        </p:nvPicPr>
        <p:blipFill>
          <a:blip r:embed="rId2"/>
          <a:stretch>
            <a:fillRect/>
          </a:stretch>
        </p:blipFill>
        <p:spPr>
          <a:xfrm>
            <a:off x="4725619" y="1845259"/>
            <a:ext cx="332842" cy="332842"/>
          </a:xfrm>
          <a:prstGeom prst="rect">
            <a:avLst/>
          </a:prstGeom>
        </p:spPr>
      </p:pic>
      <p:sp>
        <p:nvSpPr>
          <p:cNvPr id="11" name="Text 7"/>
          <p:cNvSpPr txBox="1"/>
          <p:nvPr/>
        </p:nvSpPr>
        <p:spPr>
          <a:xfrm>
            <a:off x="5349240" y="178308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Vector Search</a:t>
            </a:r>
            <a:endParaRPr lang="en-US" sz="1800" dirty="0"/>
          </a:p>
        </p:txBody>
      </p:sp>
      <p:sp>
        <p:nvSpPr>
          <p:cNvPr id="12" name="Text 8"/>
          <p:cNvSpPr txBox="1"/>
          <p:nvPr/>
        </p:nvSpPr>
        <p:spPr>
          <a:xfrm>
            <a:off x="4572000" y="2468880"/>
            <a:ext cx="2971800" cy="1005840"/>
          </a:xfrm>
          <a:prstGeom prst="rect">
            <a:avLst/>
          </a:prstGeom>
          <a:noFill/>
          <a:ln/>
        </p:spPr>
        <p:txBody>
          <a:bodyPr wrap="square" lIns="0" tIns="0" rIns="0" bIns="0" rtlCol="0" anchor="t"/>
          <a:lstStyle/>
          <a:p>
            <a:pPr indent="0" marL="0">
              <a:buNone/>
            </a:pPr>
            <a:r>
              <a:rPr lang="en-US" sz="1400" dirty="0">
                <a:solidFill>
                  <a:schemeClr val="tx2"/>
                </a:solidFill>
              </a:rPr>
              <a:t>$vectorSearch over 1024-number voyage-4 embeddings finds matches by meaning</a:t>
            </a:r>
            <a:endParaRPr lang="en-US" sz="1400" dirty="0"/>
          </a:p>
        </p:txBody>
      </p:sp>
      <p:sp>
        <p:nvSpPr>
          <p:cNvPr id="13" name="Metadata pre-filters"/>
          <p:cNvSpPr/>
          <p:nvPr/>
        </p:nvSpPr>
        <p:spPr>
          <a:xfrm>
            <a:off x="8046720" y="1417320"/>
            <a:ext cx="347472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Metadata pre-filters circle"/>
          <p:cNvSpPr/>
          <p:nvPr/>
        </p:nvSpPr>
        <p:spPr>
          <a:xfrm>
            <a:off x="8321040" y="1691640"/>
            <a:ext cx="640080" cy="640080"/>
          </a:xfrm>
          <a:prstGeom prst="ellipse">
            <a:avLst/>
          </a:prstGeom>
          <a:solidFill>
            <a:schemeClr val="accent4"/>
          </a:solidFill>
          <a:ln w="12700">
            <a:solidFill>
              <a:schemeClr val="accent4"/>
            </a:solidFill>
            <a:prstDash val="solid"/>
          </a:ln>
        </p:spPr>
      </p:sp>
      <p:pic>
        <p:nvPicPr>
          <p:cNvPr id="15" name="Metadata pre-filters icon" descr="Metadata pre-filters">    </p:cNvPr>
          <p:cNvPicPr>
            <a:picLocks noChangeAspect="1"/>
          </p:cNvPicPr>
          <p:nvPr/>
        </p:nvPicPr>
        <p:blipFill>
          <a:blip r:embed="rId3"/>
          <a:stretch>
            <a:fillRect/>
          </a:stretch>
        </p:blipFill>
        <p:spPr>
          <a:xfrm>
            <a:off x="8474659" y="1845259"/>
            <a:ext cx="332842" cy="332842"/>
          </a:xfrm>
          <a:prstGeom prst="rect">
            <a:avLst/>
          </a:prstGeom>
        </p:spPr>
      </p:pic>
      <p:sp>
        <p:nvSpPr>
          <p:cNvPr id="16" name="Text 11"/>
          <p:cNvSpPr txBox="1"/>
          <p:nvPr/>
        </p:nvSpPr>
        <p:spPr>
          <a:xfrm>
            <a:off x="9098280" y="178308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Metadata pre-filters</a:t>
            </a:r>
            <a:endParaRPr lang="en-US" sz="1800" dirty="0"/>
          </a:p>
        </p:txBody>
      </p:sp>
      <p:sp>
        <p:nvSpPr>
          <p:cNvPr id="17" name="Text 12"/>
          <p:cNvSpPr txBox="1"/>
          <p:nvPr/>
        </p:nvSpPr>
        <p:spPr>
          <a:xfrm>
            <a:off x="8321040" y="2468880"/>
            <a:ext cx="2971800" cy="1005840"/>
          </a:xfrm>
          <a:prstGeom prst="rect">
            <a:avLst/>
          </a:prstGeom>
          <a:noFill/>
          <a:ln/>
        </p:spPr>
        <p:txBody>
          <a:bodyPr wrap="square" lIns="0" tIns="0" rIns="0" bIns="0" rtlCol="0" anchor="t"/>
          <a:lstStyle/>
          <a:p>
            <a:pPr indent="0" marL="0">
              <a:buNone/>
            </a:pPr>
            <a:r>
              <a:rPr lang="en-US" sz="1400" dirty="0">
                <a:solidFill>
                  <a:schemeClr val="tx2"/>
                </a:solidFill>
              </a:rPr>
              <a:t>Document type, date range, person and author applied inside the vector query</a:t>
            </a:r>
            <a:endParaRPr lang="en-US" sz="1400" dirty="0"/>
          </a:p>
        </p:txBody>
      </p:sp>
      <p:sp>
        <p:nvSpPr>
          <p:cNvPr id="18" name="Atlas Search (BM25)"/>
          <p:cNvSpPr/>
          <p:nvPr/>
        </p:nvSpPr>
        <p:spPr>
          <a:xfrm>
            <a:off x="548640" y="3794760"/>
            <a:ext cx="347472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Atlas Search (BM25) circle"/>
          <p:cNvSpPr/>
          <p:nvPr/>
        </p:nvSpPr>
        <p:spPr>
          <a:xfrm>
            <a:off x="822960" y="4069080"/>
            <a:ext cx="640080" cy="640080"/>
          </a:xfrm>
          <a:prstGeom prst="ellipse">
            <a:avLst/>
          </a:prstGeom>
          <a:solidFill>
            <a:schemeClr val="accent4"/>
          </a:solidFill>
          <a:ln w="12700">
            <a:solidFill>
              <a:schemeClr val="accent4"/>
            </a:solidFill>
            <a:prstDash val="solid"/>
          </a:ln>
        </p:spPr>
      </p:sp>
      <p:pic>
        <p:nvPicPr>
          <p:cNvPr id="20" name="Atlas Search (BM25) icon" descr="Atlas Search (BM25)">    </p:cNvPr>
          <p:cNvPicPr>
            <a:picLocks noChangeAspect="1"/>
          </p:cNvPicPr>
          <p:nvPr/>
        </p:nvPicPr>
        <p:blipFill>
          <a:blip r:embed="rId4"/>
          <a:stretch>
            <a:fillRect/>
          </a:stretch>
        </p:blipFill>
        <p:spPr>
          <a:xfrm>
            <a:off x="976579" y="4222699"/>
            <a:ext cx="332842" cy="332842"/>
          </a:xfrm>
          <a:prstGeom prst="rect">
            <a:avLst/>
          </a:prstGeom>
        </p:spPr>
      </p:pic>
      <p:sp>
        <p:nvSpPr>
          <p:cNvPr id="21" name="Text 15"/>
          <p:cNvSpPr txBox="1"/>
          <p:nvPr/>
        </p:nvSpPr>
        <p:spPr>
          <a:xfrm>
            <a:off x="1600200" y="416052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Atlas Search (BM25)</a:t>
            </a:r>
            <a:endParaRPr lang="en-US" sz="1800" dirty="0"/>
          </a:p>
        </p:txBody>
      </p:sp>
      <p:sp>
        <p:nvSpPr>
          <p:cNvPr id="22" name="Text 16"/>
          <p:cNvSpPr txBox="1"/>
          <p:nvPr/>
        </p:nvSpPr>
        <p:spPr>
          <a:xfrm>
            <a:off x="822960" y="4846320"/>
            <a:ext cx="2971800" cy="1005840"/>
          </a:xfrm>
          <a:prstGeom prst="rect">
            <a:avLst/>
          </a:prstGeom>
          <a:noFill/>
          <a:ln/>
        </p:spPr>
        <p:txBody>
          <a:bodyPr wrap="square" lIns="0" tIns="0" rIns="0" bIns="0" rtlCol="0" anchor="t"/>
          <a:lstStyle/>
          <a:p>
            <a:pPr indent="0" marL="0">
              <a:buNone/>
            </a:pPr>
            <a:r>
              <a:rPr lang="en-US" sz="1400" dirty="0">
                <a:solidFill>
                  <a:schemeClr val="tx2"/>
                </a:solidFill>
              </a:rPr>
              <a:t>Exact keywords and codes, with a phrase boost for IDs like 231-D-55120</a:t>
            </a:r>
            <a:endParaRPr lang="en-US" sz="1400" dirty="0"/>
          </a:p>
        </p:txBody>
      </p:sp>
      <p:sp>
        <p:nvSpPr>
          <p:cNvPr id="23" name="Hybrid search"/>
          <p:cNvSpPr/>
          <p:nvPr/>
        </p:nvSpPr>
        <p:spPr>
          <a:xfrm>
            <a:off x="4297680" y="3794760"/>
            <a:ext cx="347472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Hybrid search circle"/>
          <p:cNvSpPr/>
          <p:nvPr/>
        </p:nvSpPr>
        <p:spPr>
          <a:xfrm>
            <a:off x="4572000" y="4069080"/>
            <a:ext cx="640080" cy="640080"/>
          </a:xfrm>
          <a:prstGeom prst="ellipse">
            <a:avLst/>
          </a:prstGeom>
          <a:solidFill>
            <a:schemeClr val="accent4"/>
          </a:solidFill>
          <a:ln w="12700">
            <a:solidFill>
              <a:schemeClr val="accent4"/>
            </a:solidFill>
            <a:prstDash val="solid"/>
          </a:ln>
        </p:spPr>
      </p:sp>
      <p:pic>
        <p:nvPicPr>
          <p:cNvPr id="25" name="Hybrid search icon" descr="Hybrid search">    </p:cNvPr>
          <p:cNvPicPr>
            <a:picLocks noChangeAspect="1"/>
          </p:cNvPicPr>
          <p:nvPr/>
        </p:nvPicPr>
        <p:blipFill>
          <a:blip r:embed="rId5"/>
          <a:stretch>
            <a:fillRect/>
          </a:stretch>
        </p:blipFill>
        <p:spPr>
          <a:xfrm>
            <a:off x="4725619" y="4222699"/>
            <a:ext cx="332842" cy="332842"/>
          </a:xfrm>
          <a:prstGeom prst="rect">
            <a:avLst/>
          </a:prstGeom>
        </p:spPr>
      </p:pic>
      <p:sp>
        <p:nvSpPr>
          <p:cNvPr id="26" name="Text 19"/>
          <p:cNvSpPr txBox="1"/>
          <p:nvPr/>
        </p:nvSpPr>
        <p:spPr>
          <a:xfrm>
            <a:off x="5349240" y="416052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Hybrid search</a:t>
            </a:r>
            <a:endParaRPr lang="en-US" sz="1800" dirty="0"/>
          </a:p>
        </p:txBody>
      </p:sp>
      <p:sp>
        <p:nvSpPr>
          <p:cNvPr id="27" name="Text 20"/>
          <p:cNvSpPr txBox="1"/>
          <p:nvPr/>
        </p:nvSpPr>
        <p:spPr>
          <a:xfrm>
            <a:off x="4572000" y="4846320"/>
            <a:ext cx="2971800" cy="1005840"/>
          </a:xfrm>
          <a:prstGeom prst="rect">
            <a:avLst/>
          </a:prstGeom>
          <a:noFill/>
          <a:ln/>
        </p:spPr>
        <p:txBody>
          <a:bodyPr wrap="square" lIns="0" tIns="0" rIns="0" bIns="0" rtlCol="0" anchor="t"/>
          <a:lstStyle/>
          <a:p>
            <a:pPr indent="0" marL="0">
              <a:buNone/>
            </a:pPr>
            <a:r>
              <a:rPr lang="en-US" sz="1400" dirty="0">
                <a:solidFill>
                  <a:schemeClr val="tx2"/>
                </a:solidFill>
              </a:rPr>
              <a:t>Both lists merged with Reciprocal Rank Fusion; code-like queries weight keywords x2</a:t>
            </a:r>
            <a:endParaRPr lang="en-US" sz="1400" dirty="0"/>
          </a:p>
        </p:txBody>
      </p:sp>
      <p:sp>
        <p:nvSpPr>
          <p:cNvPr id="28" name="Answer cache"/>
          <p:cNvSpPr/>
          <p:nvPr/>
        </p:nvSpPr>
        <p:spPr>
          <a:xfrm>
            <a:off x="8046720" y="3794760"/>
            <a:ext cx="347472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9" name="Answer cache circle"/>
          <p:cNvSpPr/>
          <p:nvPr/>
        </p:nvSpPr>
        <p:spPr>
          <a:xfrm>
            <a:off x="8321040" y="4069080"/>
            <a:ext cx="640080" cy="640080"/>
          </a:xfrm>
          <a:prstGeom prst="ellipse">
            <a:avLst/>
          </a:prstGeom>
          <a:solidFill>
            <a:schemeClr val="accent4"/>
          </a:solidFill>
          <a:ln w="12700">
            <a:solidFill>
              <a:schemeClr val="accent4"/>
            </a:solidFill>
            <a:prstDash val="solid"/>
          </a:ln>
        </p:spPr>
      </p:sp>
      <p:pic>
        <p:nvPicPr>
          <p:cNvPr id="30" name="Answer cache icon" descr="Answer cache">    </p:cNvPr>
          <p:cNvPicPr>
            <a:picLocks noChangeAspect="1"/>
          </p:cNvPicPr>
          <p:nvPr/>
        </p:nvPicPr>
        <p:blipFill>
          <a:blip r:embed="rId6"/>
          <a:stretch>
            <a:fillRect/>
          </a:stretch>
        </p:blipFill>
        <p:spPr>
          <a:xfrm>
            <a:off x="8474659" y="4222699"/>
            <a:ext cx="332842" cy="332842"/>
          </a:xfrm>
          <a:prstGeom prst="rect">
            <a:avLst/>
          </a:prstGeom>
        </p:spPr>
      </p:pic>
      <p:sp>
        <p:nvSpPr>
          <p:cNvPr id="31" name="Text 23"/>
          <p:cNvSpPr txBox="1"/>
          <p:nvPr/>
        </p:nvSpPr>
        <p:spPr>
          <a:xfrm>
            <a:off x="9098280" y="416052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Answer cache</a:t>
            </a:r>
            <a:endParaRPr lang="en-US" sz="1800" dirty="0"/>
          </a:p>
        </p:txBody>
      </p:sp>
      <p:sp>
        <p:nvSpPr>
          <p:cNvPr id="32" name="Text 24"/>
          <p:cNvSpPr txBox="1"/>
          <p:nvPr/>
        </p:nvSpPr>
        <p:spPr>
          <a:xfrm>
            <a:off x="8321040" y="4846320"/>
            <a:ext cx="2971800" cy="1005840"/>
          </a:xfrm>
          <a:prstGeom prst="rect">
            <a:avLst/>
          </a:prstGeom>
          <a:noFill/>
          <a:ln/>
        </p:spPr>
        <p:txBody>
          <a:bodyPr wrap="square" lIns="0" tIns="0" rIns="0" bIns="0" rtlCol="0" anchor="t"/>
          <a:lstStyle/>
          <a:p>
            <a:pPr indent="0" marL="0">
              <a:buNone/>
            </a:pPr>
            <a:r>
              <a:rPr lang="en-US" sz="1400" dirty="0">
                <a:solidFill>
                  <a:schemeClr val="tx2"/>
                </a:solidFill>
              </a:rPr>
              <a:t>Saved answers return instantly; reset automatically when documents change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We measured every retrieval choice</a:t>
            </a:r>
            <a:endParaRPr lang="en-US" sz="3400" dirty="0"/>
          </a:p>
        </p:txBody>
      </p:sp>
      <p:graphicFrame>
        <p:nvGraphicFramePr>
          <p:cNvPr id="3" name="recall chart" descr=""/>
          <p:cNvGraphicFramePr/>
          <p:nvPr/>
        </p:nvGraphicFramePr>
        <p:xfrm>
          <a:off x="548640" y="1325880"/>
          <a:ext cx="658368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589520" y="1417320"/>
            <a:ext cx="4023360" cy="73152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0.85</a:t>
            </a:r>
            <a:endParaRPr lang="en-US" sz="4000" dirty="0"/>
          </a:p>
        </p:txBody>
      </p:sp>
      <p:sp>
        <p:nvSpPr>
          <p:cNvPr id="5" name="Text 2"/>
          <p:cNvSpPr txBox="1"/>
          <p:nvPr/>
        </p:nvSpPr>
        <p:spPr>
          <a:xfrm>
            <a:off x="7589520" y="2148840"/>
            <a:ext cx="4023360" cy="640080"/>
          </a:xfrm>
          <a:prstGeom prst="rect">
            <a:avLst/>
          </a:prstGeom>
          <a:noFill/>
          <a:ln/>
        </p:spPr>
        <p:txBody>
          <a:bodyPr wrap="square" lIns="0" tIns="0" rIns="0" bIns="0" rtlCol="0" anchor="t"/>
          <a:lstStyle/>
          <a:p>
            <a:pPr indent="0" marL="0">
              <a:buNone/>
            </a:pPr>
            <a:r>
              <a:rPr lang="en-US" sz="1500" dirty="0">
                <a:solidFill>
                  <a:schemeClr val="tx2"/>
                </a:solidFill>
              </a:rPr>
              <a:t>MRR for hybrid: it ranks the right source highest</a:t>
            </a:r>
            <a:endParaRPr lang="en-US" sz="1500" dirty="0"/>
          </a:p>
        </p:txBody>
      </p:sp>
      <p:sp>
        <p:nvSpPr>
          <p:cNvPr id="6" name="Text 3"/>
          <p:cNvSpPr txBox="1"/>
          <p:nvPr/>
        </p:nvSpPr>
        <p:spPr>
          <a:xfrm>
            <a:off x="7589520" y="2971800"/>
            <a:ext cx="4023360" cy="73152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80% → 90%</a:t>
            </a:r>
            <a:endParaRPr lang="en-US" sz="4000" dirty="0"/>
          </a:p>
        </p:txBody>
      </p:sp>
      <p:sp>
        <p:nvSpPr>
          <p:cNvPr id="7" name="Text 4"/>
          <p:cNvSpPr txBox="1"/>
          <p:nvPr/>
        </p:nvSpPr>
        <p:spPr>
          <a:xfrm>
            <a:off x="7589520" y="3703320"/>
            <a:ext cx="4023360" cy="640080"/>
          </a:xfrm>
          <a:prstGeom prst="rect">
            <a:avLst/>
          </a:prstGeom>
          <a:noFill/>
          <a:ln/>
        </p:spPr>
        <p:txBody>
          <a:bodyPr wrap="square" lIns="0" tIns="0" rIns="0" bIns="0" rtlCol="0" anchor="t"/>
          <a:lstStyle/>
          <a:p>
            <a:pPr indent="0" marL="0">
              <a:buNone/>
            </a:pPr>
            <a:r>
              <a:rPr lang="en-US" sz="1500" dirty="0">
                <a:solidFill>
                  <a:schemeClr val="tx2"/>
                </a:solidFill>
              </a:rPr>
              <a:t>recall from 5 to 10 sources, so the AI gets 10</a:t>
            </a:r>
            <a:endParaRPr lang="en-US" sz="1500" dirty="0"/>
          </a:p>
        </p:txBody>
      </p:sp>
      <p:sp>
        <p:nvSpPr>
          <p:cNvPr id="8" name="Text 5"/>
          <p:cNvSpPr txBox="1"/>
          <p:nvPr/>
        </p:nvSpPr>
        <p:spPr>
          <a:xfrm>
            <a:off x="7589520" y="4526280"/>
            <a:ext cx="4023360" cy="73152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100%</a:t>
            </a:r>
            <a:endParaRPr lang="en-US" sz="4000" dirty="0"/>
          </a:p>
        </p:txBody>
      </p:sp>
      <p:sp>
        <p:nvSpPr>
          <p:cNvPr id="9" name="Text 6"/>
          <p:cNvSpPr txBox="1"/>
          <p:nvPr/>
        </p:nvSpPr>
        <p:spPr>
          <a:xfrm>
            <a:off x="7589520" y="5257800"/>
            <a:ext cx="4023360" cy="640080"/>
          </a:xfrm>
          <a:prstGeom prst="rect">
            <a:avLst/>
          </a:prstGeom>
          <a:noFill/>
          <a:ln/>
        </p:spPr>
        <p:txBody>
          <a:bodyPr wrap="square" lIns="0" tIns="0" rIns="0" bIns="0" rtlCol="0" anchor="t"/>
          <a:lstStyle/>
          <a:p>
            <a:pPr indent="0" marL="0">
              <a:buNone/>
            </a:pPr>
            <a:r>
              <a:rPr lang="en-US" sz="1500" dirty="0">
                <a:solidFill>
                  <a:schemeClr val="tx2"/>
                </a:solidFill>
              </a:rPr>
              <a:t>of questions find a right source in the top 5</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The code decides the verdict, not the AI</a:t>
            </a:r>
            <a:endParaRPr lang="en-US" sz="3400" dirty="0"/>
          </a:p>
        </p:txBody>
      </p:sp>
      <p:sp>
        <p:nvSpPr>
          <p:cNvPr id="3" name="insight"/>
          <p:cNvSpPr/>
          <p:nvPr/>
        </p:nvSpPr>
        <p:spPr>
          <a:xfrm>
            <a:off x="548640" y="1417320"/>
            <a:ext cx="4480560" cy="4572000"/>
          </a:xfrm>
          <a:prstGeom prst="roundRect">
            <a:avLst>
              <a:gd name="adj" fmla="val 1633"/>
            </a:avLst>
          </a:prstGeom>
          <a:solidFill>
            <a:schemeClr val="tx1"/>
          </a:solidFill>
          <a:ln w="12700">
            <a:solidFill>
              <a:schemeClr val="tx1"/>
            </a:solidFill>
            <a:prstDash val="solid"/>
          </a:ln>
          <a:effectLst>
            <a:outerShdw sx="100000" sy="100000" kx="0" ky="0" algn="bl" rotWithShape="0" blurRad="76200" dist="25400" dir="5400000">
              <a:srgbClr val="000000">
                <a:alpha val="12000"/>
              </a:srgbClr>
            </a:outerShdw>
          </a:effectLst>
        </p:spPr>
      </p:sp>
      <p:sp>
        <p:nvSpPr>
          <p:cNvPr id="4" name="insight circle"/>
          <p:cNvSpPr/>
          <p:nvPr/>
        </p:nvSpPr>
        <p:spPr>
          <a:xfrm>
            <a:off x="868680" y="1737360"/>
            <a:ext cx="731520" cy="731520"/>
          </a:xfrm>
          <a:prstGeom prst="ellipse">
            <a:avLst/>
          </a:prstGeom>
          <a:solidFill>
            <a:schemeClr val="accent1"/>
          </a:solidFill>
          <a:ln w="12700">
            <a:solidFill>
              <a:schemeClr val="accent1"/>
            </a:solidFill>
            <a:prstDash val="solid"/>
          </a:ln>
        </p:spPr>
      </p:sp>
      <p:pic>
        <p:nvPicPr>
          <p:cNvPr id="5" name="insight icon" descr="insight">    </p:cNvPr>
          <p:cNvPicPr>
            <a:picLocks noChangeAspect="1"/>
          </p:cNvPicPr>
          <p:nvPr/>
        </p:nvPicPr>
        <p:blipFill>
          <a:blip r:embed="rId1"/>
          <a:stretch>
            <a:fillRect/>
          </a:stretch>
        </p:blipFill>
        <p:spPr>
          <a:xfrm>
            <a:off x="1044245" y="1912925"/>
            <a:ext cx="380390" cy="380390"/>
          </a:xfrm>
          <a:prstGeom prst="rect">
            <a:avLst/>
          </a:prstGeom>
        </p:spPr>
      </p:pic>
      <p:sp>
        <p:nvSpPr>
          <p:cNvPr id="6" name="Text 3"/>
          <p:cNvSpPr txBox="1"/>
          <p:nvPr/>
        </p:nvSpPr>
        <p:spPr>
          <a:xfrm>
            <a:off x="868680" y="2651760"/>
            <a:ext cx="3840480" cy="91440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A similarity score can't say "I don't know"</a:t>
            </a:r>
            <a:endParaRPr lang="en-US" sz="2200" dirty="0"/>
          </a:p>
        </p:txBody>
      </p:sp>
      <p:sp>
        <p:nvSpPr>
          <p:cNvPr id="7" name="Text 4"/>
          <p:cNvSpPr txBox="1"/>
          <p:nvPr/>
        </p:nvSpPr>
        <p:spPr>
          <a:xfrm>
            <a:off x="868680" y="3657600"/>
            <a:ext cx="3840480" cy="2103120"/>
          </a:xfrm>
          <a:prstGeom prst="rect">
            <a:avLst/>
          </a:prstGeom>
          <a:noFill/>
          <a:ln/>
        </p:spPr>
        <p:txBody>
          <a:bodyPr wrap="square" lIns="0" tIns="0" rIns="0" bIns="0" rtlCol="0" anchor="t"/>
          <a:lstStyle/>
          <a:p>
            <a:pPr indent="0" marL="0">
              <a:buNone/>
            </a:pPr>
            <a:r>
              <a:rPr lang="en-US" sz="1500" dirty="0">
                <a:solidFill>
                  <a:schemeClr val="bg2"/>
                </a:solidFill>
              </a:rPr>
              <a:t>Our unanswerable questions scored 0.74-0.82, higher than many answerable ones. So the AI reports which parts of the question it could answer and every conflict it saw, and fixed rules in code pick the verdict.</a:t>
            </a:r>
            <a:endParaRPr lang="en-US" sz="1500" dirty="0"/>
          </a:p>
        </p:txBody>
      </p:sp>
      <p:sp>
        <p:nvSpPr>
          <p:cNvPr id="8" name="Text 5"/>
          <p:cNvSpPr txBox="1"/>
          <p:nvPr/>
        </p:nvSpPr>
        <p:spPr>
          <a:xfrm>
            <a:off x="5486400" y="1417320"/>
            <a:ext cx="6126480" cy="365760"/>
          </a:xfrm>
          <a:prstGeom prst="rect">
            <a:avLst/>
          </a:prstGeom>
          <a:noFill/>
          <a:ln/>
        </p:spPr>
        <p:txBody>
          <a:bodyPr wrap="square" lIns="0" tIns="0" rIns="0" bIns="0" rtlCol="0" anchor="t"/>
          <a:lstStyle/>
          <a:p>
            <a:pPr indent="0" marL="0">
              <a:buNone/>
            </a:pPr>
            <a:r>
              <a:rPr lang="en-US" sz="1600" b="1" dirty="0">
                <a:solidFill>
                  <a:schemeClr val="tx1"/>
                </a:solidFill>
              </a:rPr>
              <a:t>Honesty test: 4 conflict + 3 unanswerable questions</a:t>
            </a:r>
            <a:endParaRPr lang="en-US" sz="1600" dirty="0"/>
          </a:p>
        </p:txBody>
      </p:sp>
      <p:graphicFrame>
        <p:nvGraphicFramePr>
          <p:cNvPr id="9" name="honesty table"/>
          <p:cNvGraphicFramePr>
            <a:graphicFrameLocks noGrp="1"/>
          </p:cNvGraphicFramePr>
          <p:nvPr>
            <p:extLst>
              <p:ext uri="{D42A27DB-BD31-4B8C-83A1-F6EECF244321}">
                <p14:modId xmlns:p14="http://schemas.microsoft.com/office/powerpoint/2010/main" val="1579011935"/>
              </p:ext>
            </p:extLst>
          </p:nvPr>
        </p:nvGraphicFramePr>
        <p:xfrm>
          <a:off x="5486400" y="1874520"/>
          <a:ext cx="6126480" cy="914400"/>
        </p:xfrm>
        <a:graphic>
          <a:graphicData uri="http://schemas.openxmlformats.org/drawingml/2006/table">
            <a:tbl>
              <a:tblPr/>
              <a:tblGrid>
                <a:gridCol w="2651760"/>
                <a:gridCol w="1737360"/>
                <a:gridCol w="1737360"/>
              </a:tblGrid>
              <a:tr h="566928">
                <a:tc>
                  <a:txBody>
                    <a:bodyPr/>
                    <a:lstStyle/>
                    <a:p>
                      <a:pPr algn="l" indent="0" marL="0">
                        <a:buNone/>
                      </a:pPr>
                      <a:endParaRPr lang="en-US" sz="1400" dirty="0"/>
                    </a:p>
                  </a:txBody>
                  <a:tcPr marL="91440" marR="91440" marT="45720" marB="4572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tx2"/>
                          </a:solidFill>
                        </a:rPr>
                        <a:t>AI picks verdict</a:t>
                      </a:r>
                      <a:endParaRPr lang="en-US" sz="1400" dirty="0"/>
                    </a:p>
                  </a:txBody>
                  <a:tcPr marL="91440" marR="91440" marT="45720" marB="4572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tx2"/>
                          </a:solidFill>
                        </a:rPr>
                        <a:t>Code picks verdict</a:t>
                      </a:r>
                      <a:endParaRPr lang="en-US" sz="1400" dirty="0"/>
                    </a:p>
                  </a:txBody>
                  <a:tcPr marL="91440" marR="91440" marT="45720" marB="4572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chemeClr val="bg2"/>
                    </a:solidFill>
                  </a:tcPr>
                </a:tc>
              </a:tr>
              <a:tr h="566928">
                <a:tc>
                  <a:txBody>
                    <a:bodyPr/>
                    <a:lstStyle/>
                    <a:p>
                      <a:pPr algn="l" indent="0" marL="0">
                        <a:buNone/>
                      </a:pPr>
                      <a:r>
                        <a:rPr lang="en-US" sz="1800" dirty="0">
                          <a:solidFill>
                            <a:schemeClr val="tx1"/>
                          </a:solidFill>
                        </a:rPr>
                        <a:t>Conflicts flagged</a:t>
                      </a:r>
                      <a:endParaRPr lang="en-US" sz="1800" dirty="0"/>
                    </a:p>
                  </a:txBody>
                  <a:tcPr marL="91440" marR="91440" marT="45720" marB="4572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1 / 4</a:t>
                      </a:r>
                      <a:endParaRPr lang="en-US" sz="1800" dirty="0"/>
                    </a:p>
                  </a:txBody>
                  <a:tcPr marL="91440" marR="91440" marT="45720" marB="4572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4"/>
                          </a:solidFill>
                        </a:rPr>
                        <a:t>4 / 4</a:t>
                      </a:r>
                      <a:endParaRPr lang="en-US" sz="1800" dirty="0"/>
                    </a:p>
                  </a:txBody>
                  <a:tcPr marL="91440" marR="91440" marT="45720" marB="4572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chemeClr val="bg1"/>
                    </a:solidFill>
                  </a:tcPr>
                </a:tc>
              </a:tr>
              <a:tr h="566928">
                <a:tc>
                  <a:txBody>
                    <a:bodyPr/>
                    <a:lstStyle/>
                    <a:p>
                      <a:pPr algn="l" indent="0" marL="0">
                        <a:buNone/>
                      </a:pPr>
                      <a:r>
                        <a:rPr lang="en-US" sz="1800" dirty="0">
                          <a:solidFill>
                            <a:schemeClr val="tx1"/>
                          </a:solidFill>
                        </a:rPr>
                        <a:t>Unanswerable refused</a:t>
                      </a:r>
                      <a:endParaRPr lang="en-US" sz="1800" dirty="0"/>
                    </a:p>
                  </a:txBody>
                  <a:tcPr marL="91440" marR="91440" marT="45720" marB="4572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0 / 3</a:t>
                      </a:r>
                      <a:endParaRPr lang="en-US" sz="1800" dirty="0"/>
                    </a:p>
                  </a:txBody>
                  <a:tcPr marL="91440" marR="91440" marT="45720" marB="4572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4"/>
                          </a:solidFill>
                        </a:rPr>
                        <a:t>2 / 3</a:t>
                      </a:r>
                      <a:endParaRPr lang="en-US" sz="1800" dirty="0"/>
                    </a:p>
                  </a:txBody>
                  <a:tcPr marL="91440" marR="91440" marT="45720" marB="4572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chemeClr val="bg1"/>
                    </a:solidFill>
                  </a:tcPr>
                </a:tc>
              </a:tr>
              <a:tr h="566928">
                <a:tc>
                  <a:txBody>
                    <a:bodyPr/>
                    <a:lstStyle/>
                    <a:p>
                      <a:pPr algn="l" indent="0" marL="0">
                        <a:buNone/>
                      </a:pPr>
                      <a:r>
                        <a:rPr lang="en-US" sz="1800" dirty="0">
                          <a:solidFill>
                            <a:schemeClr val="tx1"/>
                          </a:solidFill>
                        </a:rPr>
                        <a:t>Quotes verified</a:t>
                      </a:r>
                      <a:endParaRPr lang="en-US" sz="1800" dirty="0"/>
                    </a:p>
                  </a:txBody>
                  <a:tcPr marL="91440" marR="91440" marT="45720" marB="4572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chemeClr val="bg1"/>
                    </a:solidFill>
                  </a:tcPr>
                </a:tc>
                <a:tc>
                  <a:txBody>
                    <a:bodyPr/>
                    <a:lstStyle/>
                    <a:p>
                      <a:pPr algn="ctr" indent="0" marL="0">
                        <a:buNone/>
                      </a:pPr>
                      <a:r>
                        <a:rPr lang="en-US" sz="1800" dirty="0">
                          <a:solidFill>
                            <a:schemeClr val="tx1"/>
                          </a:solidFill>
                        </a:rPr>
                        <a:t>98%</a:t>
                      </a:r>
                      <a:endParaRPr lang="en-US" sz="1800" dirty="0"/>
                    </a:p>
                  </a:txBody>
                  <a:tcPr marL="91440" marR="91440" marT="45720" marB="4572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4"/>
                          </a:solidFill>
                        </a:rPr>
                        <a:t>100%</a:t>
                      </a:r>
                      <a:endParaRPr lang="en-US" sz="1800" dirty="0"/>
                    </a:p>
                  </a:txBody>
                  <a:tcPr marL="91440" marR="91440" marT="45720" marB="45720" anchor="ctr">
                    <a:lnL w="9525" cap="flat" cmpd="sng" algn="ctr">
                      <a:solidFill>
                        <a:srgbClr val="E3E6EA"/>
                      </a:solidFill>
                      <a:prstDash val="solid"/>
                      <a:round/>
                      <a:headEnd type="none" w="med" len="med"/>
                      <a:tailEnd type="none" w="med" len="med"/>
                    </a:lnL>
                    <a:lnR w="9525" cap="flat" cmpd="sng" algn="ctr">
                      <a:solidFill>
                        <a:srgbClr val="E3E6EA"/>
                      </a:solidFill>
                      <a:prstDash val="solid"/>
                      <a:round/>
                      <a:headEnd type="none" w="med" len="med"/>
                      <a:tailEnd type="none" w="med" len="med"/>
                    </a:lnR>
                    <a:lnT w="9525" cap="flat" cmpd="sng" algn="ctr">
                      <a:solidFill>
                        <a:srgbClr val="E3E6EA"/>
                      </a:solidFill>
                      <a:prstDash val="solid"/>
                      <a:round/>
                      <a:headEnd type="none" w="med" len="med"/>
                      <a:tailEnd type="none" w="med" len="med"/>
                    </a:lnT>
                    <a:lnB w="9525" cap="flat" cmpd="sng" algn="ctr">
                      <a:solidFill>
                        <a:srgbClr val="E3E6EA"/>
                      </a:solidFill>
                      <a:prstDash val="solid"/>
                      <a:round/>
                      <a:headEnd type="none" w="med" len="med"/>
                      <a:tailEnd type="none" w="med" len="med"/>
                    </a:lnB>
                    <a:solidFill>
                      <a:schemeClr val="bg1"/>
                    </a:solidFill>
                  </a:tcPr>
                </a:tc>
              </a:tr>
            </a:tbl>
          </a:graphicData>
        </a:graphic>
      </p:graphicFrame>
      <p:sp>
        <p:nvSpPr>
          <p:cNvPr id="10" name="Text 6"/>
          <p:cNvSpPr txBox="1"/>
          <p:nvPr/>
        </p:nvSpPr>
        <p:spPr>
          <a:xfrm>
            <a:off x="5486400" y="4434840"/>
            <a:ext cx="2103120" cy="914400"/>
          </a:xfrm>
          <a:prstGeom prst="rect">
            <a:avLst/>
          </a:prstGeom>
          <a:noFill/>
          <a:ln/>
        </p:spPr>
        <p:txBody>
          <a:bodyPr wrap="square" lIns="0" tIns="0" rIns="0" bIns="0" rtlCol="0" anchor="t"/>
          <a:lstStyle/>
          <a:p>
            <a:pPr algn="ctr" indent="0" marL="0">
              <a:buNone/>
            </a:pPr>
            <a:r>
              <a:rPr lang="en-US" sz="5400" b="1" dirty="0">
                <a:solidFill>
                  <a:schemeClr val="accent6"/>
                </a:solidFill>
                <a:latin typeface="Cambria" pitchFamily="34" charset="0"/>
                <a:ea typeface="Cambria" pitchFamily="34" charset="-122"/>
                <a:cs typeface="Cambria" pitchFamily="34" charset="-120"/>
              </a:rPr>
              <a:t>1 / 7</a:t>
            </a:r>
            <a:endParaRPr lang="en-US" sz="5400" dirty="0"/>
          </a:p>
        </p:txBody>
      </p:sp>
      <p:sp>
        <p:nvSpPr>
          <p:cNvPr id="11" name="before after arrow"/>
          <p:cNvSpPr/>
          <p:nvPr/>
        </p:nvSpPr>
        <p:spPr>
          <a:xfrm>
            <a:off x="7726680" y="4892040"/>
            <a:ext cx="1280160" cy="0"/>
          </a:xfrm>
          <a:prstGeom prst="line">
            <a:avLst/>
          </a:prstGeom>
          <a:noFill/>
          <a:ln w="38100">
            <a:solidFill>
              <a:schemeClr val="tx1"/>
            </a:solidFill>
            <a:prstDash val="solid"/>
            <a:tailEnd type="triangle"/>
          </a:ln>
        </p:spPr>
      </p:sp>
      <p:sp>
        <p:nvSpPr>
          <p:cNvPr id="12" name="Text 8"/>
          <p:cNvSpPr txBox="1"/>
          <p:nvPr/>
        </p:nvSpPr>
        <p:spPr>
          <a:xfrm>
            <a:off x="9144000" y="4434840"/>
            <a:ext cx="2468880" cy="914400"/>
          </a:xfrm>
          <a:prstGeom prst="rect">
            <a:avLst/>
          </a:prstGeom>
          <a:noFill/>
          <a:ln/>
        </p:spPr>
        <p:txBody>
          <a:bodyPr wrap="square" lIns="0" tIns="0" rIns="0" bIns="0" rtlCol="0" anchor="t"/>
          <a:lstStyle/>
          <a:p>
            <a:pPr algn="ctr" indent="0" marL="0">
              <a:buNone/>
            </a:pPr>
            <a:r>
              <a:rPr lang="en-US" sz="5400" b="1" dirty="0">
                <a:solidFill>
                  <a:schemeClr val="accent4"/>
                </a:solidFill>
                <a:latin typeface="Cambria" pitchFamily="34" charset="0"/>
                <a:ea typeface="Cambria" pitchFamily="34" charset="-122"/>
                <a:cs typeface="Cambria" pitchFamily="34" charset="-120"/>
              </a:rPr>
              <a:t>6 / 7</a:t>
            </a:r>
            <a:endParaRPr lang="en-US" sz="5400" dirty="0"/>
          </a:p>
        </p:txBody>
      </p:sp>
      <p:sp>
        <p:nvSpPr>
          <p:cNvPr id="13" name="Text 9"/>
          <p:cNvSpPr txBox="1"/>
          <p:nvPr/>
        </p:nvSpPr>
        <p:spPr>
          <a:xfrm>
            <a:off x="5486400" y="5394960"/>
            <a:ext cx="6126480" cy="457200"/>
          </a:xfrm>
          <a:prstGeom prst="rect">
            <a:avLst/>
          </a:prstGeom>
          <a:noFill/>
          <a:ln/>
        </p:spPr>
        <p:txBody>
          <a:bodyPr wrap="square" lIns="0" tIns="0" rIns="0" bIns="0" rtlCol="0" anchor="t"/>
          <a:lstStyle/>
          <a:p>
            <a:pPr algn="ctr" indent="0" marL="0">
              <a:buNone/>
            </a:pPr>
            <a:r>
              <a:rPr lang="en-US" sz="1400" dirty="0">
                <a:solidFill>
                  <a:schemeClr val="tx2"/>
                </a:solidFill>
              </a:rPr>
              <a:t>correct verdicts, measured on the smallest backup model</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One app, five tabs, live on Streamlit</a:t>
            </a:r>
            <a:endParaRPr lang="en-US" sz="3400" dirty="0"/>
          </a:p>
        </p:txBody>
      </p:sp>
      <p:sp>
        <p:nvSpPr>
          <p:cNvPr id="3" name="Ask"/>
          <p:cNvSpPr/>
          <p:nvPr/>
        </p:nvSpPr>
        <p:spPr>
          <a:xfrm>
            <a:off x="548640" y="1463040"/>
            <a:ext cx="2066544" cy="2743200"/>
          </a:xfrm>
          <a:prstGeom prst="roundRect">
            <a:avLst>
              <a:gd name="adj" fmla="val 354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Ask circle"/>
          <p:cNvSpPr/>
          <p:nvPr/>
        </p:nvSpPr>
        <p:spPr>
          <a:xfrm>
            <a:off x="1216152" y="1737360"/>
            <a:ext cx="731520" cy="731520"/>
          </a:xfrm>
          <a:prstGeom prst="ellipse">
            <a:avLst/>
          </a:prstGeom>
          <a:solidFill>
            <a:schemeClr val="tx1"/>
          </a:solidFill>
          <a:ln w="12700">
            <a:solidFill>
              <a:schemeClr val="tx1"/>
            </a:solidFill>
            <a:prstDash val="solid"/>
          </a:ln>
        </p:spPr>
      </p:sp>
      <p:pic>
        <p:nvPicPr>
          <p:cNvPr id="5" name="Ask icon" descr="Ask">    </p:cNvPr>
          <p:cNvPicPr>
            <a:picLocks noChangeAspect="1"/>
          </p:cNvPicPr>
          <p:nvPr/>
        </p:nvPicPr>
        <p:blipFill>
          <a:blip r:embed="rId1"/>
          <a:stretch>
            <a:fillRect/>
          </a:stretch>
        </p:blipFill>
        <p:spPr>
          <a:xfrm>
            <a:off x="1391717" y="1912925"/>
            <a:ext cx="380390" cy="380390"/>
          </a:xfrm>
          <a:prstGeom prst="rect">
            <a:avLst/>
          </a:prstGeom>
        </p:spPr>
      </p:pic>
      <p:sp>
        <p:nvSpPr>
          <p:cNvPr id="6" name="Text 3"/>
          <p:cNvSpPr txBox="1"/>
          <p:nvPr/>
        </p:nvSpPr>
        <p:spPr>
          <a:xfrm>
            <a:off x="685800" y="2651760"/>
            <a:ext cx="1792224" cy="411480"/>
          </a:xfrm>
          <a:prstGeom prst="rect">
            <a:avLst/>
          </a:prstGeom>
          <a:noFill/>
          <a:ln/>
        </p:spPr>
        <p:txBody>
          <a:bodyPr wrap="square" lIns="0" tIns="0" rIns="0" bIns="0" rtlCol="0" anchor="t"/>
          <a:lstStyle/>
          <a:p>
            <a:pPr algn="ctr" indent="0" marL="0">
              <a:buNone/>
            </a:pPr>
            <a:r>
              <a:rPr lang="en-US" sz="1800" b="1" dirty="0">
                <a:solidFill>
                  <a:schemeClr val="tx1"/>
                </a:solidFill>
              </a:rPr>
              <a:t>Ask</a:t>
            </a:r>
            <a:endParaRPr lang="en-US" sz="1800" dirty="0"/>
          </a:p>
        </p:txBody>
      </p:sp>
      <p:sp>
        <p:nvSpPr>
          <p:cNvPr id="7" name="Text 4"/>
          <p:cNvSpPr txBox="1"/>
          <p:nvPr/>
        </p:nvSpPr>
        <p:spPr>
          <a:xfrm>
            <a:off x="685800" y="3108960"/>
            <a:ext cx="1792224" cy="1005840"/>
          </a:xfrm>
          <a:prstGeom prst="rect">
            <a:avLst/>
          </a:prstGeom>
          <a:noFill/>
          <a:ln/>
        </p:spPr>
        <p:txBody>
          <a:bodyPr wrap="square" lIns="0" tIns="0" rIns="0" bIns="0" rtlCol="0" anchor="t"/>
          <a:lstStyle/>
          <a:p>
            <a:pPr algn="ctr" indent="0" marL="0">
              <a:buNone/>
            </a:pPr>
            <a:r>
              <a:rPr lang="en-US" sz="1400" dirty="0">
                <a:solidFill>
                  <a:schemeClr val="tx2"/>
                </a:solidFill>
              </a:rPr>
              <a:t>Question in, verdict + cited answer + contradictions out</a:t>
            </a:r>
            <a:endParaRPr lang="en-US" sz="1400" dirty="0"/>
          </a:p>
        </p:txBody>
      </p:sp>
      <p:sp>
        <p:nvSpPr>
          <p:cNvPr id="8" name="Case report"/>
          <p:cNvSpPr/>
          <p:nvPr/>
        </p:nvSpPr>
        <p:spPr>
          <a:xfrm>
            <a:off x="2798064" y="1463040"/>
            <a:ext cx="2066544" cy="2743200"/>
          </a:xfrm>
          <a:prstGeom prst="roundRect">
            <a:avLst>
              <a:gd name="adj" fmla="val 354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Case report circle"/>
          <p:cNvSpPr/>
          <p:nvPr/>
        </p:nvSpPr>
        <p:spPr>
          <a:xfrm>
            <a:off x="3465576" y="1737360"/>
            <a:ext cx="731520" cy="731520"/>
          </a:xfrm>
          <a:prstGeom prst="ellipse">
            <a:avLst/>
          </a:prstGeom>
          <a:solidFill>
            <a:schemeClr val="tx1"/>
          </a:solidFill>
          <a:ln w="12700">
            <a:solidFill>
              <a:schemeClr val="tx1"/>
            </a:solidFill>
            <a:prstDash val="solid"/>
          </a:ln>
        </p:spPr>
      </p:sp>
      <p:pic>
        <p:nvPicPr>
          <p:cNvPr id="10" name="Case report icon" descr="Case report">    </p:cNvPr>
          <p:cNvPicPr>
            <a:picLocks noChangeAspect="1"/>
          </p:cNvPicPr>
          <p:nvPr/>
        </p:nvPicPr>
        <p:blipFill>
          <a:blip r:embed="rId2"/>
          <a:stretch>
            <a:fillRect/>
          </a:stretch>
        </p:blipFill>
        <p:spPr>
          <a:xfrm>
            <a:off x="3641141" y="1912925"/>
            <a:ext cx="380390" cy="380390"/>
          </a:xfrm>
          <a:prstGeom prst="rect">
            <a:avLst/>
          </a:prstGeom>
        </p:spPr>
      </p:pic>
      <p:sp>
        <p:nvSpPr>
          <p:cNvPr id="11" name="Text 7"/>
          <p:cNvSpPr txBox="1"/>
          <p:nvPr/>
        </p:nvSpPr>
        <p:spPr>
          <a:xfrm>
            <a:off x="2935224" y="2651760"/>
            <a:ext cx="1792224" cy="411480"/>
          </a:xfrm>
          <a:prstGeom prst="rect">
            <a:avLst/>
          </a:prstGeom>
          <a:noFill/>
          <a:ln/>
        </p:spPr>
        <p:txBody>
          <a:bodyPr wrap="square" lIns="0" tIns="0" rIns="0" bIns="0" rtlCol="0" anchor="t"/>
          <a:lstStyle/>
          <a:p>
            <a:pPr algn="ctr" indent="0" marL="0">
              <a:buNone/>
            </a:pPr>
            <a:r>
              <a:rPr lang="en-US" sz="1800" b="1" dirty="0">
                <a:solidFill>
                  <a:schemeClr val="tx1"/>
                </a:solidFill>
              </a:rPr>
              <a:t>Case report</a:t>
            </a:r>
            <a:endParaRPr lang="en-US" sz="1800" dirty="0"/>
          </a:p>
        </p:txBody>
      </p:sp>
      <p:sp>
        <p:nvSpPr>
          <p:cNvPr id="12" name="Text 8"/>
          <p:cNvSpPr txBox="1"/>
          <p:nvPr/>
        </p:nvSpPr>
        <p:spPr>
          <a:xfrm>
            <a:off x="2935224" y="3108960"/>
            <a:ext cx="1792224" cy="1005840"/>
          </a:xfrm>
          <a:prstGeom prst="rect">
            <a:avLst/>
          </a:prstGeom>
          <a:noFill/>
          <a:ln/>
        </p:spPr>
        <p:txBody>
          <a:bodyPr wrap="square" lIns="0" tIns="0" rIns="0" bIns="0" rtlCol="0" anchor="t"/>
          <a:lstStyle/>
          <a:p>
            <a:pPr algn="ctr" indent="0" marL="0">
              <a:buNone/>
            </a:pPr>
            <a:r>
              <a:rPr lang="en-US" sz="1400" dirty="0">
                <a:solidFill>
                  <a:schemeClr val="tx2"/>
                </a:solidFill>
              </a:rPr>
              <a:t>One click: timeline, persons of interest, findings, open questions</a:t>
            </a:r>
            <a:endParaRPr lang="en-US" sz="1400" dirty="0"/>
          </a:p>
        </p:txBody>
      </p:sp>
      <p:sp>
        <p:nvSpPr>
          <p:cNvPr id="13" name="Library"/>
          <p:cNvSpPr/>
          <p:nvPr/>
        </p:nvSpPr>
        <p:spPr>
          <a:xfrm>
            <a:off x="5047488" y="1463040"/>
            <a:ext cx="2066544" cy="2743200"/>
          </a:xfrm>
          <a:prstGeom prst="roundRect">
            <a:avLst>
              <a:gd name="adj" fmla="val 354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Library circle"/>
          <p:cNvSpPr/>
          <p:nvPr/>
        </p:nvSpPr>
        <p:spPr>
          <a:xfrm>
            <a:off x="5715000" y="1737360"/>
            <a:ext cx="731520" cy="731520"/>
          </a:xfrm>
          <a:prstGeom prst="ellipse">
            <a:avLst/>
          </a:prstGeom>
          <a:solidFill>
            <a:schemeClr val="tx1"/>
          </a:solidFill>
          <a:ln w="12700">
            <a:solidFill>
              <a:schemeClr val="tx1"/>
            </a:solidFill>
            <a:prstDash val="solid"/>
          </a:ln>
        </p:spPr>
      </p:sp>
      <p:pic>
        <p:nvPicPr>
          <p:cNvPr id="15" name="Library icon" descr="Library">    </p:cNvPr>
          <p:cNvPicPr>
            <a:picLocks noChangeAspect="1"/>
          </p:cNvPicPr>
          <p:nvPr/>
        </p:nvPicPr>
        <p:blipFill>
          <a:blip r:embed="rId3"/>
          <a:stretch>
            <a:fillRect/>
          </a:stretch>
        </p:blipFill>
        <p:spPr>
          <a:xfrm>
            <a:off x="5890565" y="1912925"/>
            <a:ext cx="380390" cy="380390"/>
          </a:xfrm>
          <a:prstGeom prst="rect">
            <a:avLst/>
          </a:prstGeom>
        </p:spPr>
      </p:pic>
      <p:sp>
        <p:nvSpPr>
          <p:cNvPr id="16" name="Text 11"/>
          <p:cNvSpPr txBox="1"/>
          <p:nvPr/>
        </p:nvSpPr>
        <p:spPr>
          <a:xfrm>
            <a:off x="5184648" y="2651760"/>
            <a:ext cx="1792224" cy="411480"/>
          </a:xfrm>
          <a:prstGeom prst="rect">
            <a:avLst/>
          </a:prstGeom>
          <a:noFill/>
          <a:ln/>
        </p:spPr>
        <p:txBody>
          <a:bodyPr wrap="square" lIns="0" tIns="0" rIns="0" bIns="0" rtlCol="0" anchor="t"/>
          <a:lstStyle/>
          <a:p>
            <a:pPr algn="ctr" indent="0" marL="0">
              <a:buNone/>
            </a:pPr>
            <a:r>
              <a:rPr lang="en-US" sz="1800" b="1" dirty="0">
                <a:solidFill>
                  <a:schemeClr val="tx1"/>
                </a:solidFill>
              </a:rPr>
              <a:t>Library</a:t>
            </a:r>
            <a:endParaRPr lang="en-US" sz="1800" dirty="0"/>
          </a:p>
        </p:txBody>
      </p:sp>
      <p:sp>
        <p:nvSpPr>
          <p:cNvPr id="17" name="Text 12"/>
          <p:cNvSpPr txBox="1"/>
          <p:nvPr/>
        </p:nvSpPr>
        <p:spPr>
          <a:xfrm>
            <a:off x="5184648" y="3108960"/>
            <a:ext cx="1792224" cy="1005840"/>
          </a:xfrm>
          <a:prstGeom prst="rect">
            <a:avLst/>
          </a:prstGeom>
          <a:noFill/>
          <a:ln/>
        </p:spPr>
        <p:txBody>
          <a:bodyPr wrap="square" lIns="0" tIns="0" rIns="0" bIns="0" rtlCol="0" anchor="t"/>
          <a:lstStyle/>
          <a:p>
            <a:pPr algn="ctr" indent="0" marL="0">
              <a:buNone/>
            </a:pPr>
            <a:r>
              <a:rPr lang="en-US" sz="1400" dirty="0">
                <a:solidFill>
                  <a:schemeClr val="tx2"/>
                </a:solidFill>
              </a:rPr>
              <a:t>Browse and read every original document</a:t>
            </a:r>
            <a:endParaRPr lang="en-US" sz="1400" dirty="0"/>
          </a:p>
        </p:txBody>
      </p:sp>
      <p:sp>
        <p:nvSpPr>
          <p:cNvPr id="18" name="Add documents"/>
          <p:cNvSpPr/>
          <p:nvPr/>
        </p:nvSpPr>
        <p:spPr>
          <a:xfrm>
            <a:off x="7296912" y="1463040"/>
            <a:ext cx="2066544" cy="2743200"/>
          </a:xfrm>
          <a:prstGeom prst="roundRect">
            <a:avLst>
              <a:gd name="adj" fmla="val 354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Add documents circle"/>
          <p:cNvSpPr/>
          <p:nvPr/>
        </p:nvSpPr>
        <p:spPr>
          <a:xfrm>
            <a:off x="7964424" y="1737360"/>
            <a:ext cx="731520" cy="731520"/>
          </a:xfrm>
          <a:prstGeom prst="ellipse">
            <a:avLst/>
          </a:prstGeom>
          <a:solidFill>
            <a:schemeClr val="tx1"/>
          </a:solidFill>
          <a:ln w="12700">
            <a:solidFill>
              <a:schemeClr val="tx1"/>
            </a:solidFill>
            <a:prstDash val="solid"/>
          </a:ln>
        </p:spPr>
      </p:sp>
      <p:pic>
        <p:nvPicPr>
          <p:cNvPr id="20" name="Add documents icon" descr="Add documents">    </p:cNvPr>
          <p:cNvPicPr>
            <a:picLocks noChangeAspect="1"/>
          </p:cNvPicPr>
          <p:nvPr/>
        </p:nvPicPr>
        <p:blipFill>
          <a:blip r:embed="rId4"/>
          <a:stretch>
            <a:fillRect/>
          </a:stretch>
        </p:blipFill>
        <p:spPr>
          <a:xfrm>
            <a:off x="8139989" y="1912925"/>
            <a:ext cx="380390" cy="380390"/>
          </a:xfrm>
          <a:prstGeom prst="rect">
            <a:avLst/>
          </a:prstGeom>
        </p:spPr>
      </p:pic>
      <p:sp>
        <p:nvSpPr>
          <p:cNvPr id="21" name="Text 15"/>
          <p:cNvSpPr txBox="1"/>
          <p:nvPr/>
        </p:nvSpPr>
        <p:spPr>
          <a:xfrm>
            <a:off x="7434072" y="2651760"/>
            <a:ext cx="1792224" cy="411480"/>
          </a:xfrm>
          <a:prstGeom prst="rect">
            <a:avLst/>
          </a:prstGeom>
          <a:noFill/>
          <a:ln/>
        </p:spPr>
        <p:txBody>
          <a:bodyPr wrap="square" lIns="0" tIns="0" rIns="0" bIns="0" rtlCol="0" anchor="t"/>
          <a:lstStyle/>
          <a:p>
            <a:pPr algn="ctr" indent="0" marL="0">
              <a:buNone/>
            </a:pPr>
            <a:r>
              <a:rPr lang="en-US" sz="1800" b="1" dirty="0">
                <a:solidFill>
                  <a:schemeClr val="tx1"/>
                </a:solidFill>
              </a:rPr>
              <a:t>Add documents</a:t>
            </a:r>
            <a:endParaRPr lang="en-US" sz="1800" dirty="0"/>
          </a:p>
        </p:txBody>
      </p:sp>
      <p:sp>
        <p:nvSpPr>
          <p:cNvPr id="22" name="Text 16"/>
          <p:cNvSpPr txBox="1"/>
          <p:nvPr/>
        </p:nvSpPr>
        <p:spPr>
          <a:xfrm>
            <a:off x="7434072" y="3108960"/>
            <a:ext cx="1792224" cy="1005840"/>
          </a:xfrm>
          <a:prstGeom prst="rect">
            <a:avLst/>
          </a:prstGeom>
          <a:noFill/>
          <a:ln/>
        </p:spPr>
        <p:txBody>
          <a:bodyPr wrap="square" lIns="0" tIns="0" rIns="0" bIns="0" rtlCol="0" anchor="t"/>
          <a:lstStyle/>
          <a:p>
            <a:pPr algn="ctr" indent="0" marL="0">
              <a:buNone/>
            </a:pPr>
            <a:r>
              <a:rPr lang="en-US" sz="1400" dirty="0">
                <a:solidFill>
                  <a:schemeClr val="tx2"/>
                </a:solidFill>
              </a:rPr>
              <a:t>Upload or paste: stored, chunked, embedded, searchable in seconds</a:t>
            </a:r>
            <a:endParaRPr lang="en-US" sz="1400" dirty="0"/>
          </a:p>
        </p:txBody>
      </p:sp>
      <p:sp>
        <p:nvSpPr>
          <p:cNvPr id="23" name="Search lab"/>
          <p:cNvSpPr/>
          <p:nvPr/>
        </p:nvSpPr>
        <p:spPr>
          <a:xfrm>
            <a:off x="9546336" y="1463040"/>
            <a:ext cx="2066544" cy="2743200"/>
          </a:xfrm>
          <a:prstGeom prst="roundRect">
            <a:avLst>
              <a:gd name="adj" fmla="val 354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Search lab circle"/>
          <p:cNvSpPr/>
          <p:nvPr/>
        </p:nvSpPr>
        <p:spPr>
          <a:xfrm>
            <a:off x="10213848" y="1737360"/>
            <a:ext cx="731520" cy="731520"/>
          </a:xfrm>
          <a:prstGeom prst="ellipse">
            <a:avLst/>
          </a:prstGeom>
          <a:solidFill>
            <a:schemeClr val="tx1"/>
          </a:solidFill>
          <a:ln w="12700">
            <a:solidFill>
              <a:schemeClr val="tx1"/>
            </a:solidFill>
            <a:prstDash val="solid"/>
          </a:ln>
        </p:spPr>
      </p:sp>
      <p:pic>
        <p:nvPicPr>
          <p:cNvPr id="25" name="Search lab icon" descr="Search lab">    </p:cNvPr>
          <p:cNvPicPr>
            <a:picLocks noChangeAspect="1"/>
          </p:cNvPicPr>
          <p:nvPr/>
        </p:nvPicPr>
        <p:blipFill>
          <a:blip r:embed="rId5"/>
          <a:stretch>
            <a:fillRect/>
          </a:stretch>
        </p:blipFill>
        <p:spPr>
          <a:xfrm>
            <a:off x="10389413" y="1912925"/>
            <a:ext cx="380390" cy="380390"/>
          </a:xfrm>
          <a:prstGeom prst="rect">
            <a:avLst/>
          </a:prstGeom>
        </p:spPr>
      </p:pic>
      <p:sp>
        <p:nvSpPr>
          <p:cNvPr id="26" name="Text 19"/>
          <p:cNvSpPr txBox="1"/>
          <p:nvPr/>
        </p:nvSpPr>
        <p:spPr>
          <a:xfrm>
            <a:off x="9683496" y="2651760"/>
            <a:ext cx="1792224" cy="411480"/>
          </a:xfrm>
          <a:prstGeom prst="rect">
            <a:avLst/>
          </a:prstGeom>
          <a:noFill/>
          <a:ln/>
        </p:spPr>
        <p:txBody>
          <a:bodyPr wrap="square" lIns="0" tIns="0" rIns="0" bIns="0" rtlCol="0" anchor="t"/>
          <a:lstStyle/>
          <a:p>
            <a:pPr algn="ctr" indent="0" marL="0">
              <a:buNone/>
            </a:pPr>
            <a:r>
              <a:rPr lang="en-US" sz="1800" b="1" dirty="0">
                <a:solidFill>
                  <a:schemeClr val="tx1"/>
                </a:solidFill>
              </a:rPr>
              <a:t>Search lab</a:t>
            </a:r>
            <a:endParaRPr lang="en-US" sz="1800" dirty="0"/>
          </a:p>
        </p:txBody>
      </p:sp>
      <p:sp>
        <p:nvSpPr>
          <p:cNvPr id="27" name="Text 20"/>
          <p:cNvSpPr txBox="1"/>
          <p:nvPr/>
        </p:nvSpPr>
        <p:spPr>
          <a:xfrm>
            <a:off x="9683496" y="3108960"/>
            <a:ext cx="1792224" cy="1005840"/>
          </a:xfrm>
          <a:prstGeom prst="rect">
            <a:avLst/>
          </a:prstGeom>
          <a:noFill/>
          <a:ln/>
        </p:spPr>
        <p:txBody>
          <a:bodyPr wrap="square" lIns="0" tIns="0" rIns="0" bIns="0" rtlCol="0" anchor="t"/>
          <a:lstStyle/>
          <a:p>
            <a:pPr algn="ctr" indent="0" marL="0">
              <a:buNone/>
            </a:pPr>
            <a:r>
              <a:rPr lang="en-US" sz="1400" dirty="0">
                <a:solidFill>
                  <a:schemeClr val="tx2"/>
                </a:solidFill>
              </a:rPr>
              <a:t>Vector vs keyword vs hybrid, side by side</a:t>
            </a:r>
            <a:endParaRPr lang="en-US" sz="1400" dirty="0"/>
          </a:p>
        </p:txBody>
      </p:sp>
      <p:sp>
        <p:nvSpPr>
          <p:cNvPr id="28" name="links"/>
          <p:cNvSpPr/>
          <p:nvPr/>
        </p:nvSpPr>
        <p:spPr>
          <a:xfrm>
            <a:off x="548640" y="4480560"/>
            <a:ext cx="11064240" cy="868680"/>
          </a:xfrm>
          <a:prstGeom prst="roundRect">
            <a:avLst>
              <a:gd name="adj" fmla="val 8421"/>
            </a:avLst>
          </a:prstGeom>
          <a:solidFill>
            <a:schemeClr val="tx1"/>
          </a:solidFill>
          <a:ln w="12700">
            <a:solidFill>
              <a:schemeClr val="tx1"/>
            </a:solidFill>
            <a:prstDash val="solid"/>
          </a:ln>
          <a:effectLst>
            <a:outerShdw sx="100000" sy="100000" kx="0" ky="0" algn="bl" rotWithShape="0" blurRad="76200" dist="25400" dir="5400000">
              <a:srgbClr val="000000">
                <a:alpha val="12000"/>
              </a:srgbClr>
            </a:outerShdw>
          </a:effectLst>
        </p:spPr>
      </p:sp>
      <p:sp>
        <p:nvSpPr>
          <p:cNvPr id="29" name="Text 22"/>
          <p:cNvSpPr txBox="1"/>
          <p:nvPr/>
        </p:nvSpPr>
        <p:spPr>
          <a:xfrm>
            <a:off x="868680" y="4480560"/>
            <a:ext cx="10424160" cy="868680"/>
          </a:xfrm>
          <a:prstGeom prst="rect">
            <a:avLst/>
          </a:prstGeom>
          <a:noFill/>
          <a:ln/>
        </p:spPr>
        <p:txBody>
          <a:bodyPr wrap="square" lIns="0" tIns="0" rIns="0" bIns="0" rtlCol="0" anchor="ctr"/>
          <a:lstStyle/>
          <a:p>
            <a:pPr indent="0" marL="0">
              <a:buNone/>
            </a:pPr>
            <a:r>
              <a:rPr lang="en-US" sz="1800" b="1" dirty="0">
                <a:solidFill>
                  <a:schemeClr val="accent1"/>
                </a:solidFill>
              </a:rPr>
              <a:t>Code: </a:t>
            </a:r>
            <a:pPr indent="0" marL="0">
              <a:buNone/>
            </a:pPr>
            <a:r>
              <a:rPr lang="en-US" sz="1800" dirty="0">
                <a:solidFill>
                  <a:schemeClr val="bg1"/>
                </a:solidFill>
              </a:rPr>
              <a:t>github.com/WarriorMage/RAGE-Engine</a:t>
            </a:r>
            <a:pPr indent="0" marL="0">
              <a:buNone/>
            </a:pPr>
            <a:r>
              <a:rPr lang="en-US" sz="1800" b="1" dirty="0">
                <a:solidFill>
                  <a:schemeClr val="accent1"/>
                </a:solidFill>
              </a:rPr>
              <a:t>      Demo: </a:t>
            </a:r>
            <a:pPr indent="0" marL="0">
              <a:buNone/>
            </a:pPr>
            <a:r>
              <a:rPr lang="en-US" sz="1800" dirty="0">
                <a:solidFill>
                  <a:schemeClr val="bg1"/>
                </a:solidFill>
              </a:rPr>
              <a:t>live link in our submission</a:t>
            </a:r>
            <a:endParaRPr lang="en-US" sz="1800" dirty="0"/>
          </a:p>
        </p:txBody>
      </p:sp>
      <p:sp>
        <p:nvSpPr>
          <p:cNvPr id="30" name="Text 23"/>
          <p:cNvSpPr txBox="1"/>
          <p:nvPr/>
        </p:nvSpPr>
        <p:spPr>
          <a:xfrm>
            <a:off x="548640" y="5577840"/>
            <a:ext cx="11064240" cy="640080"/>
          </a:xfrm>
          <a:prstGeom prst="rect">
            <a:avLst/>
          </a:prstGeom>
          <a:noFill/>
          <a:ln/>
        </p:spPr>
        <p:txBody>
          <a:bodyPr wrap="square" lIns="0" tIns="0" rIns="0" bIns="0" rtlCol="0" anchor="t"/>
          <a:lstStyle/>
          <a:p>
            <a:pPr indent="0" marL="0">
              <a:buNone/>
            </a:pPr>
            <a:r>
              <a:rPr lang="en-US" sz="1500" i="1" dirty="0">
                <a:solidFill>
                  <a:schemeClr val="tx2"/>
                </a:solidFill>
              </a:rPr>
              <a:t>Live demo: add a new witness statement → ask a multi-source question → open the highlighted sources → try a conflicting and an unanswerable question → generate the case report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1783080"/>
            <a:ext cx="7863840" cy="1508760"/>
          </a:xfrm>
          <a:prstGeom prst="rect">
            <a:avLst/>
          </a:prstGeom>
          <a:noFill/>
          <a:ln/>
        </p:spPr>
        <p:txBody>
          <a:bodyPr wrap="square" lIns="0" tIns="0" rIns="0" bIns="0" rtlCol="0" anchor="b"/>
          <a:lstStyle/>
          <a:p>
            <a:pPr algn="l" indent="0" marL="0">
              <a:buNone/>
            </a:pPr>
            <a:r>
              <a:rPr lang="en-US" sz="5400" b="1" dirty="0">
                <a:solidFill>
                  <a:schemeClr val="bg1"/>
                </a:solidFill>
              </a:rPr>
              <a:t>Every claim, one click from its source</a:t>
            </a:r>
            <a:endParaRPr lang="en-US" sz="5400" dirty="0"/>
          </a:p>
        </p:txBody>
      </p:sp>
      <p:sp>
        <p:nvSpPr>
          <p:cNvPr id="3" name="Text 0"/>
          <p:cNvSpPr/>
          <p:nvPr>
            <p:ph idx="101" type="body" hasCustomPrompt="1"/>
          </p:nvPr>
        </p:nvSpPr>
        <p:spPr>
          <a:xfrm>
            <a:off x="731520" y="3474720"/>
            <a:ext cx="7863840" cy="914400"/>
          </a:xfrm>
          <a:prstGeom prst="rect">
            <a:avLst/>
          </a:prstGeom>
          <a:noFill/>
          <a:ln/>
        </p:spPr>
        <p:txBody>
          <a:bodyPr wrap="square" lIns="0" tIns="0" rIns="0" bIns="0" rtlCol="0" anchor="t"/>
          <a:lstStyle/>
          <a:p>
            <a:pPr algn="l" indent="0" marL="0">
              <a:buNone/>
            </a:pPr>
            <a:r>
              <a:rPr lang="en-US" sz="2200" dirty="0">
                <a:solidFill>
                  <a:schemeClr val="bg2"/>
                </a:solidFill>
              </a:rPr>
              <a:t>Cited answers · contradictions surfaced · honest "not in the case files"</a:t>
            </a:r>
            <a:endParaRPr lang="en-US" sz="2200" dirty="0"/>
          </a:p>
        </p:txBody>
      </p:sp>
      <p:sp>
        <p:nvSpPr>
          <p:cNvPr id="4" name="Text 2"/>
          <p:cNvSpPr txBox="1"/>
          <p:nvPr/>
        </p:nvSpPr>
        <p:spPr>
          <a:xfrm>
            <a:off x="731520" y="4480560"/>
            <a:ext cx="2743200" cy="320040"/>
          </a:xfrm>
          <a:prstGeom prst="rect">
            <a:avLst/>
          </a:prstGeom>
          <a:noFill/>
          <a:ln/>
        </p:spPr>
        <p:txBody>
          <a:bodyPr wrap="square" lIns="0" tIns="0" rIns="0" bIns="0" rtlCol="0" anchor="t"/>
          <a:lstStyle/>
          <a:p>
            <a:pPr indent="0" marL="0">
              <a:buNone/>
            </a:pPr>
            <a:r>
              <a:rPr lang="en-US" sz="1400" b="1" spc="200" kern="0" dirty="0">
                <a:solidFill>
                  <a:schemeClr val="accent1"/>
                </a:solidFill>
              </a:rPr>
              <a:t>NEXT</a:t>
            </a:r>
            <a:endParaRPr lang="en-US" sz="1400" dirty="0"/>
          </a:p>
        </p:txBody>
      </p:sp>
      <p:sp>
        <p:nvSpPr>
          <p:cNvPr id="5" name="Text 3"/>
          <p:cNvSpPr txBox="1"/>
          <p:nvPr/>
        </p:nvSpPr>
        <p:spPr>
          <a:xfrm>
            <a:off x="731520" y="4846320"/>
            <a:ext cx="7680960" cy="12801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bg2"/>
                </a:solidFill>
              </a:rPr>
              <a:t>Images and audio evidence (CCTV stills, interview recordings)</a:t>
            </a:r>
            <a:endParaRPr lang="en-US" sz="1600" dirty="0"/>
          </a:p>
          <a:p>
            <a:pPr marL="342900" indent="-342900">
              <a:spcAft>
                <a:spcPts val="400"/>
              </a:spcAft>
              <a:buSzPct val="100000"/>
              <a:buChar char="•"/>
            </a:pPr>
            <a:r>
              <a:rPr lang="en-US" sz="1600" dirty="0">
                <a:solidFill>
                  <a:schemeClr val="bg2"/>
                </a:solidFill>
              </a:rPr>
              <a:t>Interactive timeline view  ·  $rankFusion inside Atlas</a:t>
            </a:r>
            <a:endParaRPr lang="en-US" sz="1600" dirty="0"/>
          </a:p>
          <a:p>
            <a:pPr marL="342900" indent="-342900">
              <a:spcAft>
                <a:spcPts val="400"/>
              </a:spcAft>
              <a:buSzPct val="100000"/>
              <a:buChar char="•"/>
            </a:pPr>
            <a:r>
              <a:rPr lang="en-US" sz="1600" dirty="0">
                <a:solidFill>
                  <a:schemeClr val="bg2"/>
                </a:solidFill>
              </a:rPr>
              <a:t>Profiles for other domains (policy, legal, due diligence)</a:t>
            </a:r>
            <a:endParaRPr lang="en-US" sz="1600" dirty="0"/>
          </a:p>
        </p:txBody>
      </p:sp>
      <p:sp>
        <p:nvSpPr>
          <p:cNvPr id="6" name="Text 4"/>
          <p:cNvSpPr txBox="1"/>
          <p:nvPr/>
        </p:nvSpPr>
        <p:spPr>
          <a:xfrm>
            <a:off x="9052560" y="4480560"/>
            <a:ext cx="2560320" cy="54864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Thank you</a:t>
            </a:r>
            <a:endParaRPr lang="en-US" sz="3000" dirty="0"/>
          </a:p>
        </p:txBody>
      </p:sp>
      <p:sp>
        <p:nvSpPr>
          <p:cNvPr id="7" name="Text 5"/>
          <p:cNvSpPr txBox="1"/>
          <p:nvPr/>
        </p:nvSpPr>
        <p:spPr>
          <a:xfrm>
            <a:off x="9052560" y="5074920"/>
            <a:ext cx="2651760" cy="1188720"/>
          </a:xfrm>
          <a:prstGeom prst="rect">
            <a:avLst/>
          </a:prstGeom>
          <a:noFill/>
          <a:ln/>
        </p:spPr>
        <p:txBody>
          <a:bodyPr wrap="square" lIns="0" tIns="0" rIns="0" bIns="0" rtlCol="0" anchor="t"/>
          <a:lstStyle/>
          <a:p>
            <a:pPr indent="0" marL="0">
              <a:buNone/>
            </a:pPr>
            <a:r>
              <a:rPr lang="en-US" sz="1400" dirty="0">
                <a:solidFill>
                  <a:schemeClr val="accent6"/>
                </a:solidFill>
              </a:rPr>
              <a:t>theFirewall</a:t>
            </a:r>
            <a:endParaRPr lang="en-US" sz="1400" dirty="0"/>
          </a:p>
          <a:p>
            <a:pPr indent="0" marL="0">
              <a:buNone/>
            </a:pPr>
            <a:r>
              <a:rPr lang="en-US" sz="1400" dirty="0">
                <a:solidFill>
                  <a:schemeClr val="accent6"/>
                </a:solidFill>
              </a:rPr>
              <a:t>Shriram APT</a:t>
            </a:r>
            <a:endParaRPr lang="en-US" sz="1400" dirty="0"/>
          </a:p>
          <a:p>
            <a:pPr indent="0" marL="0">
              <a:buNone/>
            </a:pPr>
            <a:r>
              <a:rPr lang="en-US" sz="1400" dirty="0">
                <a:solidFill>
                  <a:schemeClr val="accent6"/>
                </a:solidFill>
              </a:rPr>
              <a:t>Janav Rana</a:t>
            </a:r>
            <a:endParaRPr lang="en-US" sz="1400" dirty="0"/>
          </a:p>
          <a:p>
            <a:pPr indent="0" marL="0">
              <a:buNone/>
            </a:pPr>
            <a:r>
              <a:rPr lang="en-US" sz="1400" dirty="0">
                <a:solidFill>
                  <a:schemeClr val="accent6"/>
                </a:solidFill>
              </a:rPr>
              <a:t>Rudra Patni</a:t>
            </a:r>
            <a:endParaRPr lang="en-US" sz="1400" dirty="0"/>
          </a:p>
        </p:txBody>
      </p:sp>
      <p:sp>
        <p:nvSpPr>
          <p:cNvPr id="8" name="verified circle"/>
          <p:cNvSpPr/>
          <p:nvPr/>
        </p:nvSpPr>
        <p:spPr>
          <a:xfrm>
            <a:off x="9692640" y="1737360"/>
            <a:ext cx="1737360" cy="1737360"/>
          </a:xfrm>
          <a:prstGeom prst="ellipse">
            <a:avLst/>
          </a:prstGeom>
          <a:solidFill>
            <a:schemeClr val="accent1"/>
          </a:solidFill>
          <a:ln w="12700">
            <a:solidFill>
              <a:schemeClr val="accent1"/>
            </a:solidFill>
            <a:prstDash val="solid"/>
          </a:ln>
        </p:spPr>
      </p:sp>
      <p:pic>
        <p:nvPicPr>
          <p:cNvPr id="9" name="verified icon" descr="verified">    </p:cNvPr>
          <p:cNvPicPr>
            <a:picLocks noChangeAspect="1"/>
          </p:cNvPicPr>
          <p:nvPr/>
        </p:nvPicPr>
        <p:blipFill>
          <a:blip r:embed="rId1"/>
          <a:stretch>
            <a:fillRect/>
          </a:stretch>
        </p:blipFill>
        <p:spPr>
          <a:xfrm>
            <a:off x="10109606" y="2154326"/>
            <a:ext cx="903427" cy="903427"/>
          </a:xfrm>
          <a:prstGeom prst="rect">
            <a:avLst/>
          </a:prstGeom>
        </p:spPr>
      </p:pic>
    </p:spTree>
  </p:cSld>
  <p:clrMapOvr>
    <a:masterClrMapping/>
  </p:clrMapOvr>
</p:sld>
</file>

<file path=ppt/theme/theme1.xml><?xml version="1.0" encoding="utf-8"?>
<a:theme xmlns:a="http://schemas.openxmlformats.org/drawingml/2006/main" name="Case File Noir">
  <a:themeElements>
    <a:clrScheme name="Case File Noir">
      <a:dk1>
        <a:srgbClr val="161A21"/>
      </a:dk1>
      <a:lt1>
        <a:srgbClr val="FFFFFF"/>
      </a:lt1>
      <a:dk2>
        <a:srgbClr val="3B4552"/>
      </a:dk2>
      <a:lt2>
        <a:srgbClr val="F2F4F7"/>
      </a:lt2>
      <a:accent1>
        <a:srgbClr val="F2B705"/>
      </a:accent1>
      <a:accent2>
        <a:srgbClr val="C0392B"/>
      </a:accent2>
      <a:accent3>
        <a:srgbClr val="2E86AB"/>
      </a:accent3>
      <a:accent4>
        <a:srgbClr val="2E9E5B"/>
      </a:accent4>
      <a:accent5>
        <a:srgbClr val="8A6FB0"/>
      </a:accent5>
      <a:accent6>
        <a:srgbClr val="8A94A3"/>
      </a:accent6>
      <a:hlink>
        <a:srgbClr val="2E86AB"/>
      </a:hlink>
      <a:folHlink>
        <a:srgbClr val="8A6FB0"/>
      </a:folHlink>
    </a:clrScheme>
    <a:fontScheme name="Case File Noi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RAGE Engine: Case File</dc:title>
  <dc:subject>PptxGenJS Presentation</dc:subject>
  <dc:creator>theFirewall</dc:creator>
  <cp:lastModifiedBy>theFirewall</cp:lastModifiedBy>
  <cp:revision>1</cp:revision>
  <dcterms:created xsi:type="dcterms:W3CDTF">2026-10-31T14:53:23Z</dcterms:created>
  <dcterms:modified xsi:type="dcterms:W3CDTF">2026-10-31T14:53:23Z</dcterms:modified>
</cp:coreProperties>
</file>